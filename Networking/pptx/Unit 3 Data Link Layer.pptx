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2"/>
  </p:notesMasterIdLst>
  <p:sldIdLst>
    <p:sldId id="256" r:id="rId2"/>
    <p:sldId id="257" r:id="rId3"/>
    <p:sldId id="263" r:id="rId4"/>
    <p:sldId id="261" r:id="rId5"/>
    <p:sldId id="266" r:id="rId6"/>
    <p:sldId id="267" r:id="rId7"/>
    <p:sldId id="268" r:id="rId8"/>
    <p:sldId id="272" r:id="rId9"/>
    <p:sldId id="270" r:id="rId10"/>
    <p:sldId id="277" r:id="rId11"/>
    <p:sldId id="275" r:id="rId12"/>
    <p:sldId id="276" r:id="rId13"/>
    <p:sldId id="269" r:id="rId14"/>
    <p:sldId id="271" r:id="rId15"/>
    <p:sldId id="265" r:id="rId16"/>
    <p:sldId id="262" r:id="rId17"/>
    <p:sldId id="264" r:id="rId18"/>
    <p:sldId id="274" r:id="rId19"/>
    <p:sldId id="273" r:id="rId20"/>
    <p:sldId id="278" r:id="rId21"/>
    <p:sldId id="279" r:id="rId22"/>
    <p:sldId id="280" r:id="rId23"/>
    <p:sldId id="281" r:id="rId24"/>
    <p:sldId id="282" r:id="rId25"/>
    <p:sldId id="284" r:id="rId26"/>
    <p:sldId id="283" r:id="rId27"/>
    <p:sldId id="286" r:id="rId28"/>
    <p:sldId id="291" r:id="rId29"/>
    <p:sldId id="294" r:id="rId30"/>
    <p:sldId id="293" r:id="rId31"/>
    <p:sldId id="292" r:id="rId32"/>
    <p:sldId id="285" r:id="rId33"/>
    <p:sldId id="287" r:id="rId34"/>
    <p:sldId id="288" r:id="rId35"/>
    <p:sldId id="289" r:id="rId36"/>
    <p:sldId id="290"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258" r:id="rId50"/>
    <p:sldId id="259" r:id="rId51"/>
    <p:sldId id="260" r:id="rId52"/>
    <p:sldId id="307" r:id="rId53"/>
    <p:sldId id="318" r:id="rId54"/>
    <p:sldId id="320" r:id="rId55"/>
    <p:sldId id="319" r:id="rId56"/>
    <p:sldId id="312" r:id="rId57"/>
    <p:sldId id="321" r:id="rId58"/>
    <p:sldId id="310" r:id="rId59"/>
    <p:sldId id="311" r:id="rId60"/>
    <p:sldId id="323" r:id="rId61"/>
    <p:sldId id="313" r:id="rId62"/>
    <p:sldId id="315" r:id="rId63"/>
    <p:sldId id="317" r:id="rId64"/>
    <p:sldId id="327" r:id="rId65"/>
    <p:sldId id="328" r:id="rId66"/>
    <p:sldId id="331" r:id="rId67"/>
    <p:sldId id="332" r:id="rId68"/>
    <p:sldId id="329" r:id="rId69"/>
    <p:sldId id="330" r:id="rId70"/>
    <p:sldId id="333" r:id="rId71"/>
    <p:sldId id="335" r:id="rId72"/>
    <p:sldId id="334" r:id="rId73"/>
    <p:sldId id="326" r:id="rId74"/>
    <p:sldId id="336" r:id="rId75"/>
    <p:sldId id="339" r:id="rId76"/>
    <p:sldId id="338" r:id="rId77"/>
    <p:sldId id="337" r:id="rId78"/>
    <p:sldId id="340" r:id="rId79"/>
    <p:sldId id="341" r:id="rId80"/>
    <p:sldId id="342" r:id="rId81"/>
    <p:sldId id="346" r:id="rId82"/>
    <p:sldId id="343" r:id="rId83"/>
    <p:sldId id="345" r:id="rId84"/>
    <p:sldId id="344" r:id="rId85"/>
    <p:sldId id="347" r:id="rId86"/>
    <p:sldId id="348" r:id="rId87"/>
    <p:sldId id="349" r:id="rId88"/>
    <p:sldId id="324" r:id="rId89"/>
    <p:sldId id="351" r:id="rId90"/>
    <p:sldId id="350" r:id="rId9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2909" autoAdjust="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538611-16A9-4BAB-B711-A1A4FFFEDDE1}" type="datetimeFigureOut">
              <a:rPr lang="en-US" smtClean="0"/>
              <a:t>7/22/2022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B1CFAA-AEC2-48AC-8A01-B7D4E2F47C72}" type="slidenum">
              <a:rPr lang="en-US" smtClean="0"/>
              <a:t>‹#›</a:t>
            </a:fld>
            <a:endParaRPr lang="en-US"/>
          </a:p>
        </p:txBody>
      </p:sp>
    </p:spTree>
    <p:extLst>
      <p:ext uri="{BB962C8B-B14F-4D97-AF65-F5344CB8AC3E}">
        <p14:creationId xmlns:p14="http://schemas.microsoft.com/office/powerpoint/2010/main" val="578499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It provides the mechanism of error control in which it detects &amp; retransmits damaged or lost frames.</a:t>
            </a:r>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3</a:t>
            </a:fld>
            <a:endParaRPr lang="en-US"/>
          </a:p>
        </p:txBody>
      </p:sp>
    </p:spTree>
    <p:extLst>
      <p:ext uri="{BB962C8B-B14F-4D97-AF65-F5344CB8AC3E}">
        <p14:creationId xmlns:p14="http://schemas.microsoft.com/office/powerpoint/2010/main" val="4031621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When data is lost</a:t>
            </a:r>
          </a:p>
          <a:p>
            <a:r>
              <a:rPr lang="en-US" dirty="0" smtClean="0"/>
              <a:t>	</a:t>
            </a:r>
            <a:r>
              <a:rPr lang="en-US" sz="1200" b="0" i="0" kern="1200" dirty="0" smtClean="0">
                <a:solidFill>
                  <a:schemeClr val="tx1"/>
                </a:solidFill>
                <a:effectLst/>
                <a:latin typeface="+mn-lt"/>
                <a:ea typeface="+mn-ea"/>
                <a:cs typeface="+mn-cs"/>
              </a:rPr>
              <a:t>Sender waits for an infinite amount of time for an acknowledgment.</a:t>
            </a:r>
          </a:p>
          <a:p>
            <a:r>
              <a:rPr lang="en-US" sz="1200" b="0" i="0" kern="1200" dirty="0" smtClean="0">
                <a:solidFill>
                  <a:schemeClr val="tx1"/>
                </a:solidFill>
                <a:effectLst/>
                <a:latin typeface="+mn-lt"/>
                <a:ea typeface="+mn-ea"/>
                <a:cs typeface="+mn-cs"/>
              </a:rPr>
              <a:t>	Receiver waits for an infinite amount of time for a data.</a:t>
            </a:r>
          </a:p>
          <a:p>
            <a:r>
              <a:rPr lang="en-US" dirty="0" smtClean="0"/>
              <a:t>When ACK is lost</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	</a:t>
            </a:r>
            <a:r>
              <a:rPr lang="en-US" sz="1200" b="0" i="0" kern="1200" dirty="0" smtClean="0">
                <a:solidFill>
                  <a:schemeClr val="tx1"/>
                </a:solidFill>
                <a:effectLst/>
                <a:latin typeface="+mn-lt"/>
                <a:ea typeface="+mn-ea"/>
                <a:cs typeface="+mn-cs"/>
              </a:rPr>
              <a:t>Sender waits for an infinite amount of time for an acknowledgment.</a:t>
            </a:r>
          </a:p>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10</a:t>
            </a:fld>
            <a:endParaRPr lang="en-US"/>
          </a:p>
        </p:txBody>
      </p:sp>
    </p:spTree>
    <p:extLst>
      <p:ext uri="{BB962C8B-B14F-4D97-AF65-F5344CB8AC3E}">
        <p14:creationId xmlns:p14="http://schemas.microsoft.com/office/powerpoint/2010/main" val="1271828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Networks can be divided into two categories: those using point-to-point connections and those using broadcast channels. </a:t>
            </a:r>
          </a:p>
          <a:p>
            <a:r>
              <a:rPr lang="en-US" sz="1200" b="0" i="0" kern="1200" dirty="0" smtClean="0">
                <a:solidFill>
                  <a:schemeClr val="tx1"/>
                </a:solidFill>
                <a:effectLst/>
                <a:latin typeface="+mn-lt"/>
                <a:ea typeface="+mn-ea"/>
                <a:cs typeface="+mn-cs"/>
              </a:rPr>
              <a:t>In any broadcast network, the key issue is how to determine who gets to use the channel when there is competition for it. </a:t>
            </a:r>
          </a:p>
          <a:p>
            <a:r>
              <a:rPr lang="en-US" sz="1200" b="0" i="0" kern="1200" dirty="0" smtClean="0">
                <a:solidFill>
                  <a:schemeClr val="tx1"/>
                </a:solidFill>
                <a:effectLst/>
                <a:latin typeface="+mn-lt"/>
                <a:ea typeface="+mn-ea"/>
                <a:cs typeface="+mn-cs"/>
              </a:rPr>
              <a:t>To make this point clearer, consider a conference call in which six people, on six different telephones, are all connected so that each one can hear and talk to all the others. </a:t>
            </a:r>
          </a:p>
          <a:p>
            <a:r>
              <a:rPr lang="en-US" sz="1200" b="0" i="0" kern="1200" dirty="0" smtClean="0">
                <a:solidFill>
                  <a:schemeClr val="tx1"/>
                </a:solidFill>
                <a:effectLst/>
                <a:latin typeface="+mn-lt"/>
                <a:ea typeface="+mn-ea"/>
                <a:cs typeface="+mn-cs"/>
              </a:rPr>
              <a:t>It is very likely that when one of them stops speaking, two or more will start talking at once, leading to chaos. When only a single channel is available, determining who should go next is much harder.</a:t>
            </a:r>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51</a:t>
            </a:fld>
            <a:endParaRPr lang="en-US"/>
          </a:p>
        </p:txBody>
      </p:sp>
    </p:spTree>
    <p:extLst>
      <p:ext uri="{BB962C8B-B14F-4D97-AF65-F5344CB8AC3E}">
        <p14:creationId xmlns:p14="http://schemas.microsoft.com/office/powerpoint/2010/main" val="943497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Networks can be divided into two categories: those using point-to-point connections and those using broadcast channels. </a:t>
            </a:r>
          </a:p>
          <a:p>
            <a:r>
              <a:rPr lang="en-US" sz="1200" b="0" i="0" kern="1200" dirty="0" smtClean="0">
                <a:solidFill>
                  <a:schemeClr val="tx1"/>
                </a:solidFill>
                <a:effectLst/>
                <a:latin typeface="+mn-lt"/>
                <a:ea typeface="+mn-ea"/>
                <a:cs typeface="+mn-cs"/>
              </a:rPr>
              <a:t>In any broadcast network, the key issue is how to determine who gets to use the channel when there is competition for it. </a:t>
            </a:r>
          </a:p>
          <a:p>
            <a:r>
              <a:rPr lang="en-US" sz="1200" b="0" i="0" kern="1200" dirty="0" smtClean="0">
                <a:solidFill>
                  <a:schemeClr val="tx1"/>
                </a:solidFill>
                <a:effectLst/>
                <a:latin typeface="+mn-lt"/>
                <a:ea typeface="+mn-ea"/>
                <a:cs typeface="+mn-cs"/>
              </a:rPr>
              <a:t>To make this point clearer, consider a conference call in which six people, on six different telephones, are all connected so that each one can hear and talk to all the others. </a:t>
            </a:r>
          </a:p>
          <a:p>
            <a:r>
              <a:rPr lang="en-US" sz="1200" b="0" i="0" kern="1200" dirty="0" smtClean="0">
                <a:solidFill>
                  <a:schemeClr val="tx1"/>
                </a:solidFill>
                <a:effectLst/>
                <a:latin typeface="+mn-lt"/>
                <a:ea typeface="+mn-ea"/>
                <a:cs typeface="+mn-cs"/>
              </a:rPr>
              <a:t>It is very likely that when one of them stops speaking, two or more will start talking at once, leading to chaos. When only a single channel is available, determining who should go next is much harder.</a:t>
            </a:r>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53</a:t>
            </a:fld>
            <a:endParaRPr lang="en-US"/>
          </a:p>
        </p:txBody>
      </p:sp>
    </p:spTree>
    <p:extLst>
      <p:ext uri="{BB962C8B-B14F-4D97-AF65-F5344CB8AC3E}">
        <p14:creationId xmlns:p14="http://schemas.microsoft.com/office/powerpoint/2010/main" val="38704450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Networks can be divided into two categories: those using point-to-point connections and those using broadcast channels. </a:t>
            </a:r>
          </a:p>
          <a:p>
            <a:r>
              <a:rPr lang="en-US" sz="1200" b="0" i="0" kern="1200" dirty="0" smtClean="0">
                <a:solidFill>
                  <a:schemeClr val="tx1"/>
                </a:solidFill>
                <a:effectLst/>
                <a:latin typeface="+mn-lt"/>
                <a:ea typeface="+mn-ea"/>
                <a:cs typeface="+mn-cs"/>
              </a:rPr>
              <a:t>In any broadcast network, the key issue is how to determine who gets to use the channel when there is competition for it. </a:t>
            </a:r>
          </a:p>
          <a:p>
            <a:r>
              <a:rPr lang="en-US" sz="1200" b="0" i="0" kern="1200" dirty="0" smtClean="0">
                <a:solidFill>
                  <a:schemeClr val="tx1"/>
                </a:solidFill>
                <a:effectLst/>
                <a:latin typeface="+mn-lt"/>
                <a:ea typeface="+mn-ea"/>
                <a:cs typeface="+mn-cs"/>
              </a:rPr>
              <a:t>To make this point clearer, consider a conference call in which six people, on six different telephones, are all connected so that each one can hear and talk to all the others. </a:t>
            </a:r>
          </a:p>
          <a:p>
            <a:r>
              <a:rPr lang="en-US" sz="1200" b="0" i="0" kern="1200" dirty="0" smtClean="0">
                <a:solidFill>
                  <a:schemeClr val="tx1"/>
                </a:solidFill>
                <a:effectLst/>
                <a:latin typeface="+mn-lt"/>
                <a:ea typeface="+mn-ea"/>
                <a:cs typeface="+mn-cs"/>
              </a:rPr>
              <a:t>It is very likely that when one of them stops speaking, two or more will start talking at once, leading to chaos. When only a single channel is available, determining who should go next is much harder.</a:t>
            </a:r>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54</a:t>
            </a:fld>
            <a:endParaRPr lang="en-US"/>
          </a:p>
        </p:txBody>
      </p:sp>
    </p:spTree>
    <p:extLst>
      <p:ext uri="{BB962C8B-B14F-4D97-AF65-F5344CB8AC3E}">
        <p14:creationId xmlns:p14="http://schemas.microsoft.com/office/powerpoint/2010/main" val="3952671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Networks can be divided into two categories: those using point-to-point connections and those using broadcast channels. </a:t>
            </a:r>
          </a:p>
          <a:p>
            <a:r>
              <a:rPr lang="en-US" sz="1200" b="0" i="0" kern="1200" dirty="0" smtClean="0">
                <a:solidFill>
                  <a:schemeClr val="tx1"/>
                </a:solidFill>
                <a:effectLst/>
                <a:latin typeface="+mn-lt"/>
                <a:ea typeface="+mn-ea"/>
                <a:cs typeface="+mn-cs"/>
              </a:rPr>
              <a:t>In any broadcast network, the key issue is how to determine who gets to use the channel when there is competition for it. </a:t>
            </a:r>
          </a:p>
          <a:p>
            <a:r>
              <a:rPr lang="en-US" sz="1200" b="0" i="0" kern="1200" dirty="0" smtClean="0">
                <a:solidFill>
                  <a:schemeClr val="tx1"/>
                </a:solidFill>
                <a:effectLst/>
                <a:latin typeface="+mn-lt"/>
                <a:ea typeface="+mn-ea"/>
                <a:cs typeface="+mn-cs"/>
              </a:rPr>
              <a:t>To make this point clearer, consider a conference call in which six people, on six different telephones, are all connected so that each one can hear and talk to all the others. </a:t>
            </a:r>
          </a:p>
          <a:p>
            <a:r>
              <a:rPr lang="en-US" sz="1200" b="0" i="0" kern="1200" dirty="0" smtClean="0">
                <a:solidFill>
                  <a:schemeClr val="tx1"/>
                </a:solidFill>
                <a:effectLst/>
                <a:latin typeface="+mn-lt"/>
                <a:ea typeface="+mn-ea"/>
                <a:cs typeface="+mn-cs"/>
              </a:rPr>
              <a:t>It is very likely that when one of them stops speaking, two or more will start talking at once, leading to chaos. When only a single channel is available, determining who should go next is much harder.</a:t>
            </a:r>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55</a:t>
            </a:fld>
            <a:endParaRPr lang="en-US"/>
          </a:p>
        </p:txBody>
      </p:sp>
    </p:spTree>
    <p:extLst>
      <p:ext uri="{BB962C8B-B14F-4D97-AF65-F5344CB8AC3E}">
        <p14:creationId xmlns:p14="http://schemas.microsoft.com/office/powerpoint/2010/main" val="23612878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Networks can be divided into two categories: those using point-to-point connections and those using broadcast channels. </a:t>
            </a:r>
          </a:p>
          <a:p>
            <a:r>
              <a:rPr lang="en-US" sz="1200" b="0" i="0" kern="1200" dirty="0" smtClean="0">
                <a:solidFill>
                  <a:schemeClr val="tx1"/>
                </a:solidFill>
                <a:effectLst/>
                <a:latin typeface="+mn-lt"/>
                <a:ea typeface="+mn-ea"/>
                <a:cs typeface="+mn-cs"/>
              </a:rPr>
              <a:t>In any broadcast network, the key issue is how to determine who gets to use the channel when there is competition for it. </a:t>
            </a:r>
          </a:p>
          <a:p>
            <a:r>
              <a:rPr lang="en-US" sz="1200" b="0" i="0" kern="1200" dirty="0" smtClean="0">
                <a:solidFill>
                  <a:schemeClr val="tx1"/>
                </a:solidFill>
                <a:effectLst/>
                <a:latin typeface="+mn-lt"/>
                <a:ea typeface="+mn-ea"/>
                <a:cs typeface="+mn-cs"/>
              </a:rPr>
              <a:t>To make this point clearer, consider a conference call in which six people, on six different telephones, are all connected so that each one can hear and talk to all the others. </a:t>
            </a:r>
          </a:p>
          <a:p>
            <a:r>
              <a:rPr lang="en-US" sz="1200" b="0" i="0" kern="1200" dirty="0" smtClean="0">
                <a:solidFill>
                  <a:schemeClr val="tx1"/>
                </a:solidFill>
                <a:effectLst/>
                <a:latin typeface="+mn-lt"/>
                <a:ea typeface="+mn-ea"/>
                <a:cs typeface="+mn-cs"/>
              </a:rPr>
              <a:t>It is very likely that when one of them stops speaking, two or more will start talking at once, leading to chaos. When only a single channel is available, determining who should go next is much harder.</a:t>
            </a:r>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56</a:t>
            </a:fld>
            <a:endParaRPr lang="en-US"/>
          </a:p>
        </p:txBody>
      </p:sp>
    </p:spTree>
    <p:extLst>
      <p:ext uri="{BB962C8B-B14F-4D97-AF65-F5344CB8AC3E}">
        <p14:creationId xmlns:p14="http://schemas.microsoft.com/office/powerpoint/2010/main" val="1012995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Networks can be divided into two categories: those using point-to-point connections and those using broadcast channels. </a:t>
            </a:r>
          </a:p>
          <a:p>
            <a:r>
              <a:rPr lang="en-US" sz="1200" b="0" i="0" kern="1200" dirty="0" smtClean="0">
                <a:solidFill>
                  <a:schemeClr val="tx1"/>
                </a:solidFill>
                <a:effectLst/>
                <a:latin typeface="+mn-lt"/>
                <a:ea typeface="+mn-ea"/>
                <a:cs typeface="+mn-cs"/>
              </a:rPr>
              <a:t>In any broadcast network, the key issue is how to determine who gets to use the channel when there is competition for it. </a:t>
            </a:r>
          </a:p>
          <a:p>
            <a:r>
              <a:rPr lang="en-US" sz="1200" b="0" i="0" kern="1200" dirty="0" smtClean="0">
                <a:solidFill>
                  <a:schemeClr val="tx1"/>
                </a:solidFill>
                <a:effectLst/>
                <a:latin typeface="+mn-lt"/>
                <a:ea typeface="+mn-ea"/>
                <a:cs typeface="+mn-cs"/>
              </a:rPr>
              <a:t>To make this point clearer, consider a conference call in which six people, on six different telephones, are all connected so that each one can hear and talk to all the others. </a:t>
            </a:r>
          </a:p>
          <a:p>
            <a:r>
              <a:rPr lang="en-US" sz="1200" b="0" i="0" kern="1200" dirty="0" smtClean="0">
                <a:solidFill>
                  <a:schemeClr val="tx1"/>
                </a:solidFill>
                <a:effectLst/>
                <a:latin typeface="+mn-lt"/>
                <a:ea typeface="+mn-ea"/>
                <a:cs typeface="+mn-cs"/>
              </a:rPr>
              <a:t>It is very likely that when one of them stops speaking, two or more will start talking at once, leading to chaos. When only a single channel is available, determining who should go next is much harder.</a:t>
            </a:r>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57</a:t>
            </a:fld>
            <a:endParaRPr lang="en-US"/>
          </a:p>
        </p:txBody>
      </p:sp>
    </p:spTree>
    <p:extLst>
      <p:ext uri="{BB962C8B-B14F-4D97-AF65-F5344CB8AC3E}">
        <p14:creationId xmlns:p14="http://schemas.microsoft.com/office/powerpoint/2010/main" val="17299685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Networks can be divided into two categories: those using point-to-point connections and those using broadcast channels. </a:t>
            </a:r>
          </a:p>
          <a:p>
            <a:r>
              <a:rPr lang="en-US" sz="1200" b="0" i="0" kern="1200" dirty="0" smtClean="0">
                <a:solidFill>
                  <a:schemeClr val="tx1"/>
                </a:solidFill>
                <a:effectLst/>
                <a:latin typeface="+mn-lt"/>
                <a:ea typeface="+mn-ea"/>
                <a:cs typeface="+mn-cs"/>
              </a:rPr>
              <a:t>In any broadcast network, the key issue is how to determine who gets to use the channel when there is competition for it. </a:t>
            </a:r>
          </a:p>
          <a:p>
            <a:r>
              <a:rPr lang="en-US" sz="1200" b="0" i="0" kern="1200" dirty="0" smtClean="0">
                <a:solidFill>
                  <a:schemeClr val="tx1"/>
                </a:solidFill>
                <a:effectLst/>
                <a:latin typeface="+mn-lt"/>
                <a:ea typeface="+mn-ea"/>
                <a:cs typeface="+mn-cs"/>
              </a:rPr>
              <a:t>To make this point clearer, consider a conference call in which six people, on six different telephones, are all connected so that each one can hear and talk to all the others. </a:t>
            </a:r>
          </a:p>
          <a:p>
            <a:r>
              <a:rPr lang="en-US" sz="1200" b="0" i="0" kern="1200" dirty="0" smtClean="0">
                <a:solidFill>
                  <a:schemeClr val="tx1"/>
                </a:solidFill>
                <a:effectLst/>
                <a:latin typeface="+mn-lt"/>
                <a:ea typeface="+mn-ea"/>
                <a:cs typeface="+mn-cs"/>
              </a:rPr>
              <a:t>It is very likely that when one of them stops speaking, two or more will start talking at once, leading to chaos. When only a single channel is available, determining who should go next is much harder.</a:t>
            </a:r>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58</a:t>
            </a:fld>
            <a:endParaRPr lang="en-US"/>
          </a:p>
        </p:txBody>
      </p:sp>
    </p:spTree>
    <p:extLst>
      <p:ext uri="{BB962C8B-B14F-4D97-AF65-F5344CB8AC3E}">
        <p14:creationId xmlns:p14="http://schemas.microsoft.com/office/powerpoint/2010/main" val="8696672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Networks can be divided into two categories: those using point-to-point connections and those using broadcast channels. </a:t>
            </a:r>
          </a:p>
          <a:p>
            <a:r>
              <a:rPr lang="en-US" sz="1200" b="0" i="0" kern="1200" dirty="0" smtClean="0">
                <a:solidFill>
                  <a:schemeClr val="tx1"/>
                </a:solidFill>
                <a:effectLst/>
                <a:latin typeface="+mn-lt"/>
                <a:ea typeface="+mn-ea"/>
                <a:cs typeface="+mn-cs"/>
              </a:rPr>
              <a:t>In any broadcast network, the key issue is how to determine who gets to use the channel when there is competition for it. </a:t>
            </a:r>
          </a:p>
          <a:p>
            <a:r>
              <a:rPr lang="en-US" sz="1200" b="0" i="0" kern="1200" dirty="0" smtClean="0">
                <a:solidFill>
                  <a:schemeClr val="tx1"/>
                </a:solidFill>
                <a:effectLst/>
                <a:latin typeface="+mn-lt"/>
                <a:ea typeface="+mn-ea"/>
                <a:cs typeface="+mn-cs"/>
              </a:rPr>
              <a:t>To make this point clearer, consider a conference call in which six people, on six different telephones, are all connected so that each one can hear and talk to all the others. </a:t>
            </a:r>
          </a:p>
          <a:p>
            <a:r>
              <a:rPr lang="en-US" sz="1200" b="0" i="0" kern="1200" dirty="0" smtClean="0">
                <a:solidFill>
                  <a:schemeClr val="tx1"/>
                </a:solidFill>
                <a:effectLst/>
                <a:latin typeface="+mn-lt"/>
                <a:ea typeface="+mn-ea"/>
                <a:cs typeface="+mn-cs"/>
              </a:rPr>
              <a:t>It is very likely that when one of them stops speaking, two or more will start talking at once, leading to chaos. When only a single channel is available, determining who should go next is much harder.</a:t>
            </a:r>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59</a:t>
            </a:fld>
            <a:endParaRPr lang="en-US"/>
          </a:p>
        </p:txBody>
      </p:sp>
    </p:spTree>
    <p:extLst>
      <p:ext uri="{BB962C8B-B14F-4D97-AF65-F5344CB8AC3E}">
        <p14:creationId xmlns:p14="http://schemas.microsoft.com/office/powerpoint/2010/main" val="19452790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Networks can be divided into two categories: those using point-to-point connections and those using broadcast channels. </a:t>
            </a:r>
          </a:p>
          <a:p>
            <a:r>
              <a:rPr lang="en-US" sz="1200" b="0" i="0" kern="1200" dirty="0" smtClean="0">
                <a:solidFill>
                  <a:schemeClr val="tx1"/>
                </a:solidFill>
                <a:effectLst/>
                <a:latin typeface="+mn-lt"/>
                <a:ea typeface="+mn-ea"/>
                <a:cs typeface="+mn-cs"/>
              </a:rPr>
              <a:t>In any broadcast network, the key issue is how to determine who gets to use the channel when there is competition for it. </a:t>
            </a:r>
          </a:p>
          <a:p>
            <a:r>
              <a:rPr lang="en-US" sz="1200" b="0" i="0" kern="1200" dirty="0" smtClean="0">
                <a:solidFill>
                  <a:schemeClr val="tx1"/>
                </a:solidFill>
                <a:effectLst/>
                <a:latin typeface="+mn-lt"/>
                <a:ea typeface="+mn-ea"/>
                <a:cs typeface="+mn-cs"/>
              </a:rPr>
              <a:t>To make this point clearer, consider a conference call in which six people, on six different telephones, are all connected so that each one can hear and talk to all the others. </a:t>
            </a:r>
          </a:p>
          <a:p>
            <a:r>
              <a:rPr lang="en-US" sz="1200" b="0" i="0" kern="1200" dirty="0" smtClean="0">
                <a:solidFill>
                  <a:schemeClr val="tx1"/>
                </a:solidFill>
                <a:effectLst/>
                <a:latin typeface="+mn-lt"/>
                <a:ea typeface="+mn-ea"/>
                <a:cs typeface="+mn-cs"/>
              </a:rPr>
              <a:t>It is very likely that when one of them stops speaking, two or more will start talking at once, leading to chaos. When only a single channel is available, determining who should go next is much harder.</a:t>
            </a:r>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60</a:t>
            </a:fld>
            <a:endParaRPr lang="en-US"/>
          </a:p>
        </p:txBody>
      </p:sp>
    </p:spTree>
    <p:extLst>
      <p:ext uri="{BB962C8B-B14F-4D97-AF65-F5344CB8AC3E}">
        <p14:creationId xmlns:p14="http://schemas.microsoft.com/office/powerpoint/2010/main" val="17869938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Networks can be divided into two categories: those using point-to-point connections and those using broadcast channels. </a:t>
            </a:r>
          </a:p>
          <a:p>
            <a:r>
              <a:rPr lang="en-US" sz="1200" b="0" i="0" kern="1200" dirty="0" smtClean="0">
                <a:solidFill>
                  <a:schemeClr val="tx1"/>
                </a:solidFill>
                <a:effectLst/>
                <a:latin typeface="+mn-lt"/>
                <a:ea typeface="+mn-ea"/>
                <a:cs typeface="+mn-cs"/>
              </a:rPr>
              <a:t>In any broadcast network, the key issue is how to determine who gets to use the channel when there is competition for it. </a:t>
            </a:r>
          </a:p>
          <a:p>
            <a:r>
              <a:rPr lang="en-US" sz="1200" b="0" i="0" kern="1200" dirty="0" smtClean="0">
                <a:solidFill>
                  <a:schemeClr val="tx1"/>
                </a:solidFill>
                <a:effectLst/>
                <a:latin typeface="+mn-lt"/>
                <a:ea typeface="+mn-ea"/>
                <a:cs typeface="+mn-cs"/>
              </a:rPr>
              <a:t>To make this point clearer, consider a conference call in which six people, on six different telephones, are all connected so that each one can hear and talk to all the others. </a:t>
            </a:r>
          </a:p>
          <a:p>
            <a:r>
              <a:rPr lang="en-US" sz="1200" b="0" i="0" kern="1200" dirty="0" smtClean="0">
                <a:solidFill>
                  <a:schemeClr val="tx1"/>
                </a:solidFill>
                <a:effectLst/>
                <a:latin typeface="+mn-lt"/>
                <a:ea typeface="+mn-ea"/>
                <a:cs typeface="+mn-cs"/>
              </a:rPr>
              <a:t>It is very likely that when one of them stops speaking, two or more will start talking at once, leading to chaos. When only a single channel is available, determining who should go next is much harder.</a:t>
            </a:r>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61</a:t>
            </a:fld>
            <a:endParaRPr lang="en-US"/>
          </a:p>
        </p:txBody>
      </p:sp>
    </p:spTree>
    <p:extLst>
      <p:ext uri="{BB962C8B-B14F-4D97-AF65-F5344CB8AC3E}">
        <p14:creationId xmlns:p14="http://schemas.microsoft.com/office/powerpoint/2010/main" val="22399774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Networks can be divided into two categories: those using point-to-point connections and those using broadcast channels. </a:t>
            </a:r>
          </a:p>
          <a:p>
            <a:r>
              <a:rPr lang="en-US" sz="1200" b="0" i="0" kern="1200" dirty="0" smtClean="0">
                <a:solidFill>
                  <a:schemeClr val="tx1"/>
                </a:solidFill>
                <a:effectLst/>
                <a:latin typeface="+mn-lt"/>
                <a:ea typeface="+mn-ea"/>
                <a:cs typeface="+mn-cs"/>
              </a:rPr>
              <a:t>In any broadcast network, the key issue is how to determine who gets to use the channel when there is competition for it. </a:t>
            </a:r>
          </a:p>
          <a:p>
            <a:r>
              <a:rPr lang="en-US" sz="1200" b="0" i="0" kern="1200" dirty="0" smtClean="0">
                <a:solidFill>
                  <a:schemeClr val="tx1"/>
                </a:solidFill>
                <a:effectLst/>
                <a:latin typeface="+mn-lt"/>
                <a:ea typeface="+mn-ea"/>
                <a:cs typeface="+mn-cs"/>
              </a:rPr>
              <a:t>To make this point clearer, consider a conference call in which six people, on six different telephones, are all connected so that each one can hear and talk to all the others. </a:t>
            </a:r>
          </a:p>
          <a:p>
            <a:r>
              <a:rPr lang="en-US" sz="1200" b="0" i="0" kern="1200" dirty="0" smtClean="0">
                <a:solidFill>
                  <a:schemeClr val="tx1"/>
                </a:solidFill>
                <a:effectLst/>
                <a:latin typeface="+mn-lt"/>
                <a:ea typeface="+mn-ea"/>
                <a:cs typeface="+mn-cs"/>
              </a:rPr>
              <a:t>It is very likely that when one of them stops speaking, two or more will start talking at once, leading to chaos. When only a single channel is available, determining who should go next is much harder.</a:t>
            </a:r>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62</a:t>
            </a:fld>
            <a:endParaRPr lang="en-US"/>
          </a:p>
        </p:txBody>
      </p:sp>
    </p:spTree>
    <p:extLst>
      <p:ext uri="{BB962C8B-B14F-4D97-AF65-F5344CB8AC3E}">
        <p14:creationId xmlns:p14="http://schemas.microsoft.com/office/powerpoint/2010/main" val="3809700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Networks can be divided into two categories: those using point-to-point connections and those using broadcast channels. </a:t>
            </a:r>
          </a:p>
          <a:p>
            <a:r>
              <a:rPr lang="en-US" sz="1200" b="0" i="0" kern="1200" dirty="0" smtClean="0">
                <a:solidFill>
                  <a:schemeClr val="tx1"/>
                </a:solidFill>
                <a:effectLst/>
                <a:latin typeface="+mn-lt"/>
                <a:ea typeface="+mn-ea"/>
                <a:cs typeface="+mn-cs"/>
              </a:rPr>
              <a:t>In any broadcast network, the key issue is how to determine who gets to use the channel when there is competition for it. </a:t>
            </a:r>
          </a:p>
          <a:p>
            <a:r>
              <a:rPr lang="en-US" sz="1200" b="0" i="0" kern="1200" dirty="0" smtClean="0">
                <a:solidFill>
                  <a:schemeClr val="tx1"/>
                </a:solidFill>
                <a:effectLst/>
                <a:latin typeface="+mn-lt"/>
                <a:ea typeface="+mn-ea"/>
                <a:cs typeface="+mn-cs"/>
              </a:rPr>
              <a:t>To make this point clearer, consider a conference call in which six people, on six different telephones, are all connected so that each one can hear and talk to all the others. </a:t>
            </a:r>
          </a:p>
          <a:p>
            <a:r>
              <a:rPr lang="en-US" sz="1200" b="0" i="0" kern="1200" dirty="0" smtClean="0">
                <a:solidFill>
                  <a:schemeClr val="tx1"/>
                </a:solidFill>
                <a:effectLst/>
                <a:latin typeface="+mn-lt"/>
                <a:ea typeface="+mn-ea"/>
                <a:cs typeface="+mn-cs"/>
              </a:rPr>
              <a:t>It is very likely that when one of them stops speaking, two or more will start talking at once, leading to chaos. When only a single channel is available, determining who should go next is much harder.</a:t>
            </a:r>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63</a:t>
            </a:fld>
            <a:endParaRPr lang="en-US"/>
          </a:p>
        </p:txBody>
      </p:sp>
    </p:spTree>
    <p:extLst>
      <p:ext uri="{BB962C8B-B14F-4D97-AF65-F5344CB8AC3E}">
        <p14:creationId xmlns:p14="http://schemas.microsoft.com/office/powerpoint/2010/main" val="21291907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Networks can be divided into two categories: those using point-to-point connections and those using broadcast channels. </a:t>
            </a:r>
          </a:p>
          <a:p>
            <a:r>
              <a:rPr lang="en-US" sz="1200" b="0" i="0" kern="1200" dirty="0" smtClean="0">
                <a:solidFill>
                  <a:schemeClr val="tx1"/>
                </a:solidFill>
                <a:effectLst/>
                <a:latin typeface="+mn-lt"/>
                <a:ea typeface="+mn-ea"/>
                <a:cs typeface="+mn-cs"/>
              </a:rPr>
              <a:t>In any broadcast network, the key issue is how to determine who gets to use the channel when there is competition for it. </a:t>
            </a:r>
          </a:p>
          <a:p>
            <a:r>
              <a:rPr lang="en-US" sz="1200" b="0" i="0" kern="1200" dirty="0" smtClean="0">
                <a:solidFill>
                  <a:schemeClr val="tx1"/>
                </a:solidFill>
                <a:effectLst/>
                <a:latin typeface="+mn-lt"/>
                <a:ea typeface="+mn-ea"/>
                <a:cs typeface="+mn-cs"/>
              </a:rPr>
              <a:t>To make this point clearer, consider a conference call in which six people, on six different telephones, are all connected so that each one can hear and talk to all the others. </a:t>
            </a:r>
          </a:p>
          <a:p>
            <a:r>
              <a:rPr lang="en-US" sz="1200" b="0" i="0" kern="1200" dirty="0" smtClean="0">
                <a:solidFill>
                  <a:schemeClr val="tx1"/>
                </a:solidFill>
                <a:effectLst/>
                <a:latin typeface="+mn-lt"/>
                <a:ea typeface="+mn-ea"/>
                <a:cs typeface="+mn-cs"/>
              </a:rPr>
              <a:t>It is very likely that when one of them stops speaking, two or more will start talking at once, leading to chaos. When only a single channel is available, determining who should go next is much harder.</a:t>
            </a:r>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64</a:t>
            </a:fld>
            <a:endParaRPr lang="en-US"/>
          </a:p>
        </p:txBody>
      </p:sp>
    </p:spTree>
    <p:extLst>
      <p:ext uri="{BB962C8B-B14F-4D97-AF65-F5344CB8AC3E}">
        <p14:creationId xmlns:p14="http://schemas.microsoft.com/office/powerpoint/2010/main" val="1791592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 A token is a special frame of 3 bytes that circulates along the ring of stations. </a:t>
            </a:r>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65</a:t>
            </a:fld>
            <a:endParaRPr lang="en-US"/>
          </a:p>
        </p:txBody>
      </p:sp>
    </p:spTree>
    <p:extLst>
      <p:ext uri="{BB962C8B-B14F-4D97-AF65-F5344CB8AC3E}">
        <p14:creationId xmlns:p14="http://schemas.microsoft.com/office/powerpoint/2010/main" val="8549111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66</a:t>
            </a:fld>
            <a:endParaRPr lang="en-US"/>
          </a:p>
        </p:txBody>
      </p:sp>
    </p:spTree>
    <p:extLst>
      <p:ext uri="{BB962C8B-B14F-4D97-AF65-F5344CB8AC3E}">
        <p14:creationId xmlns:p14="http://schemas.microsoft.com/office/powerpoint/2010/main" val="19840663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67</a:t>
            </a:fld>
            <a:endParaRPr lang="en-US"/>
          </a:p>
        </p:txBody>
      </p:sp>
    </p:spTree>
    <p:extLst>
      <p:ext uri="{BB962C8B-B14F-4D97-AF65-F5344CB8AC3E}">
        <p14:creationId xmlns:p14="http://schemas.microsoft.com/office/powerpoint/2010/main" val="14676990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 A token is a special frame of 3 bytes that circulates along the ring of stations. </a:t>
            </a:r>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68</a:t>
            </a:fld>
            <a:endParaRPr lang="en-US"/>
          </a:p>
        </p:txBody>
      </p:sp>
    </p:spTree>
    <p:extLst>
      <p:ext uri="{BB962C8B-B14F-4D97-AF65-F5344CB8AC3E}">
        <p14:creationId xmlns:p14="http://schemas.microsoft.com/office/powerpoint/2010/main" val="14463221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 A token is a special frame of 3 bytes that circulates along the ring of stations. </a:t>
            </a:r>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69</a:t>
            </a:fld>
            <a:endParaRPr lang="en-US"/>
          </a:p>
        </p:txBody>
      </p:sp>
    </p:spTree>
    <p:extLst>
      <p:ext uri="{BB962C8B-B14F-4D97-AF65-F5344CB8AC3E}">
        <p14:creationId xmlns:p14="http://schemas.microsoft.com/office/powerpoint/2010/main" val="40510345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70</a:t>
            </a:fld>
            <a:endParaRPr lang="en-US"/>
          </a:p>
        </p:txBody>
      </p:sp>
    </p:spTree>
    <p:extLst>
      <p:ext uri="{BB962C8B-B14F-4D97-AF65-F5344CB8AC3E}">
        <p14:creationId xmlns:p14="http://schemas.microsoft.com/office/powerpoint/2010/main" val="18491339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71</a:t>
            </a:fld>
            <a:endParaRPr lang="en-US"/>
          </a:p>
        </p:txBody>
      </p:sp>
    </p:spTree>
    <p:extLst>
      <p:ext uri="{BB962C8B-B14F-4D97-AF65-F5344CB8AC3E}">
        <p14:creationId xmlns:p14="http://schemas.microsoft.com/office/powerpoint/2010/main" val="32255817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72</a:t>
            </a:fld>
            <a:endParaRPr lang="en-US"/>
          </a:p>
        </p:txBody>
      </p:sp>
    </p:spTree>
    <p:extLst>
      <p:ext uri="{BB962C8B-B14F-4D97-AF65-F5344CB8AC3E}">
        <p14:creationId xmlns:p14="http://schemas.microsoft.com/office/powerpoint/2010/main" val="42133040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74</a:t>
            </a:fld>
            <a:endParaRPr lang="en-US"/>
          </a:p>
        </p:txBody>
      </p:sp>
    </p:spTree>
    <p:extLst>
      <p:ext uri="{BB962C8B-B14F-4D97-AF65-F5344CB8AC3E}">
        <p14:creationId xmlns:p14="http://schemas.microsoft.com/office/powerpoint/2010/main" val="30766938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75</a:t>
            </a:fld>
            <a:endParaRPr lang="en-US"/>
          </a:p>
        </p:txBody>
      </p:sp>
    </p:spTree>
    <p:extLst>
      <p:ext uri="{BB962C8B-B14F-4D97-AF65-F5344CB8AC3E}">
        <p14:creationId xmlns:p14="http://schemas.microsoft.com/office/powerpoint/2010/main" val="34461829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76</a:t>
            </a:fld>
            <a:endParaRPr lang="en-US"/>
          </a:p>
        </p:txBody>
      </p:sp>
    </p:spTree>
    <p:extLst>
      <p:ext uri="{BB962C8B-B14F-4D97-AF65-F5344CB8AC3E}">
        <p14:creationId xmlns:p14="http://schemas.microsoft.com/office/powerpoint/2010/main" val="9559723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77</a:t>
            </a:fld>
            <a:endParaRPr lang="en-US"/>
          </a:p>
        </p:txBody>
      </p:sp>
    </p:spTree>
    <p:extLst>
      <p:ext uri="{BB962C8B-B14F-4D97-AF65-F5344CB8AC3E}">
        <p14:creationId xmlns:p14="http://schemas.microsoft.com/office/powerpoint/2010/main" val="36977854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78</a:t>
            </a:fld>
            <a:endParaRPr lang="en-US"/>
          </a:p>
        </p:txBody>
      </p:sp>
    </p:spTree>
    <p:extLst>
      <p:ext uri="{BB962C8B-B14F-4D97-AF65-F5344CB8AC3E}">
        <p14:creationId xmlns:p14="http://schemas.microsoft.com/office/powerpoint/2010/main" val="22547320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79</a:t>
            </a:fld>
            <a:endParaRPr lang="en-US"/>
          </a:p>
        </p:txBody>
      </p:sp>
    </p:spTree>
    <p:extLst>
      <p:ext uri="{BB962C8B-B14F-4D97-AF65-F5344CB8AC3E}">
        <p14:creationId xmlns:p14="http://schemas.microsoft.com/office/powerpoint/2010/main" val="24655395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80</a:t>
            </a:fld>
            <a:endParaRPr lang="en-US"/>
          </a:p>
        </p:txBody>
      </p:sp>
    </p:spTree>
    <p:extLst>
      <p:ext uri="{BB962C8B-B14F-4D97-AF65-F5344CB8AC3E}">
        <p14:creationId xmlns:p14="http://schemas.microsoft.com/office/powerpoint/2010/main" val="26512468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81</a:t>
            </a:fld>
            <a:endParaRPr lang="en-US"/>
          </a:p>
        </p:txBody>
      </p:sp>
    </p:spTree>
    <p:extLst>
      <p:ext uri="{BB962C8B-B14F-4D97-AF65-F5344CB8AC3E}">
        <p14:creationId xmlns:p14="http://schemas.microsoft.com/office/powerpoint/2010/main" val="27297925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82</a:t>
            </a:fld>
            <a:endParaRPr lang="en-US"/>
          </a:p>
        </p:txBody>
      </p:sp>
    </p:spTree>
    <p:extLst>
      <p:ext uri="{BB962C8B-B14F-4D97-AF65-F5344CB8AC3E}">
        <p14:creationId xmlns:p14="http://schemas.microsoft.com/office/powerpoint/2010/main" val="13599051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83</a:t>
            </a:fld>
            <a:endParaRPr lang="en-US"/>
          </a:p>
        </p:txBody>
      </p:sp>
    </p:spTree>
    <p:extLst>
      <p:ext uri="{BB962C8B-B14F-4D97-AF65-F5344CB8AC3E}">
        <p14:creationId xmlns:p14="http://schemas.microsoft.com/office/powerpoint/2010/main" val="2853173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84</a:t>
            </a:fld>
            <a:endParaRPr lang="en-US"/>
          </a:p>
        </p:txBody>
      </p:sp>
    </p:spTree>
    <p:extLst>
      <p:ext uri="{BB962C8B-B14F-4D97-AF65-F5344CB8AC3E}">
        <p14:creationId xmlns:p14="http://schemas.microsoft.com/office/powerpoint/2010/main" val="28924247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85</a:t>
            </a:fld>
            <a:endParaRPr lang="en-US"/>
          </a:p>
        </p:txBody>
      </p:sp>
    </p:spTree>
    <p:extLst>
      <p:ext uri="{BB962C8B-B14F-4D97-AF65-F5344CB8AC3E}">
        <p14:creationId xmlns:p14="http://schemas.microsoft.com/office/powerpoint/2010/main" val="30812921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86</a:t>
            </a:fld>
            <a:endParaRPr lang="en-US"/>
          </a:p>
        </p:txBody>
      </p:sp>
    </p:spTree>
    <p:extLst>
      <p:ext uri="{BB962C8B-B14F-4D97-AF65-F5344CB8AC3E}">
        <p14:creationId xmlns:p14="http://schemas.microsoft.com/office/powerpoint/2010/main" val="16584191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87</a:t>
            </a:fld>
            <a:endParaRPr lang="en-US"/>
          </a:p>
        </p:txBody>
      </p:sp>
    </p:spTree>
    <p:extLst>
      <p:ext uri="{BB962C8B-B14F-4D97-AF65-F5344CB8AC3E}">
        <p14:creationId xmlns:p14="http://schemas.microsoft.com/office/powerpoint/2010/main" val="9790907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Networks can be divided into two categories: those using point-to-point connections and those using broadcast channels. </a:t>
            </a:r>
          </a:p>
          <a:p>
            <a:r>
              <a:rPr lang="en-US" sz="1200" b="0" i="0" kern="1200" dirty="0" smtClean="0">
                <a:solidFill>
                  <a:schemeClr val="tx1"/>
                </a:solidFill>
                <a:effectLst/>
                <a:latin typeface="+mn-lt"/>
                <a:ea typeface="+mn-ea"/>
                <a:cs typeface="+mn-cs"/>
              </a:rPr>
              <a:t>In any broadcast network, the key issue is how to determine who gets to use the channel when there is competition for it. </a:t>
            </a:r>
          </a:p>
          <a:p>
            <a:r>
              <a:rPr lang="en-US" sz="1200" b="0" i="0" kern="1200" dirty="0" smtClean="0">
                <a:solidFill>
                  <a:schemeClr val="tx1"/>
                </a:solidFill>
                <a:effectLst/>
                <a:latin typeface="+mn-lt"/>
                <a:ea typeface="+mn-ea"/>
                <a:cs typeface="+mn-cs"/>
              </a:rPr>
              <a:t>To make this point clearer, consider a conference call in which six people, on six different telephones, are all connected so that each one can hear and talk to all the others. </a:t>
            </a:r>
          </a:p>
          <a:p>
            <a:r>
              <a:rPr lang="en-US" sz="1200" b="0" i="0" kern="1200" dirty="0" smtClean="0">
                <a:solidFill>
                  <a:schemeClr val="tx1"/>
                </a:solidFill>
                <a:effectLst/>
                <a:latin typeface="+mn-lt"/>
                <a:ea typeface="+mn-ea"/>
                <a:cs typeface="+mn-cs"/>
              </a:rPr>
              <a:t>It is very likely that when one of them stops speaking, two or more will start talking at once, leading to chaos. When only a single channel is available, determining who should go next is much harder.</a:t>
            </a:r>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88</a:t>
            </a:fld>
            <a:endParaRPr lang="en-US"/>
          </a:p>
        </p:txBody>
      </p:sp>
    </p:spTree>
    <p:extLst>
      <p:ext uri="{BB962C8B-B14F-4D97-AF65-F5344CB8AC3E}">
        <p14:creationId xmlns:p14="http://schemas.microsoft.com/office/powerpoint/2010/main" val="262984669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89</a:t>
            </a:fld>
            <a:endParaRPr lang="en-US"/>
          </a:p>
        </p:txBody>
      </p:sp>
    </p:spTree>
    <p:extLst>
      <p:ext uri="{BB962C8B-B14F-4D97-AF65-F5344CB8AC3E}">
        <p14:creationId xmlns:p14="http://schemas.microsoft.com/office/powerpoint/2010/main" val="42477893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Networks can be divided into two categories: those using point-to-point connections and those using broadcast channels. </a:t>
            </a:r>
          </a:p>
          <a:p>
            <a:r>
              <a:rPr lang="en-US" sz="1200" b="0" i="0" kern="1200" dirty="0" smtClean="0">
                <a:solidFill>
                  <a:schemeClr val="tx1"/>
                </a:solidFill>
                <a:effectLst/>
                <a:latin typeface="+mn-lt"/>
                <a:ea typeface="+mn-ea"/>
                <a:cs typeface="+mn-cs"/>
              </a:rPr>
              <a:t>In any broadcast network, the key issue is how to determine who gets to use the channel when there is competition for it. </a:t>
            </a:r>
          </a:p>
          <a:p>
            <a:r>
              <a:rPr lang="en-US" sz="1200" b="0" i="0" kern="1200" dirty="0" smtClean="0">
                <a:solidFill>
                  <a:schemeClr val="tx1"/>
                </a:solidFill>
                <a:effectLst/>
                <a:latin typeface="+mn-lt"/>
                <a:ea typeface="+mn-ea"/>
                <a:cs typeface="+mn-cs"/>
              </a:rPr>
              <a:t>To make this point clearer, consider a conference call in which six people, on six different telephones, are all connected so that each one can hear and talk to all the others. </a:t>
            </a:r>
          </a:p>
          <a:p>
            <a:r>
              <a:rPr lang="en-US" sz="1200" b="0" i="0" kern="1200" dirty="0" smtClean="0">
                <a:solidFill>
                  <a:schemeClr val="tx1"/>
                </a:solidFill>
                <a:effectLst/>
                <a:latin typeface="+mn-lt"/>
                <a:ea typeface="+mn-ea"/>
                <a:cs typeface="+mn-cs"/>
              </a:rPr>
              <a:t>It is very likely that when one of them stops speaking, two or more will start talking at once, leading to chaos. When only a single channel is available, determining who should go next is much harder.</a:t>
            </a:r>
            <a:endParaRPr lang="en-US" dirty="0"/>
          </a:p>
        </p:txBody>
      </p:sp>
      <p:sp>
        <p:nvSpPr>
          <p:cNvPr id="4" name="Slide Number Placeholder 3"/>
          <p:cNvSpPr>
            <a:spLocks noGrp="1"/>
          </p:cNvSpPr>
          <p:nvPr>
            <p:ph type="sldNum" sz="quarter" idx="10"/>
          </p:nvPr>
        </p:nvSpPr>
        <p:spPr/>
        <p:txBody>
          <a:bodyPr/>
          <a:lstStyle/>
          <a:p>
            <a:fld id="{CBB1CFAA-AEC2-48AC-8A01-B7D4E2F47C72}" type="slidenum">
              <a:rPr lang="en-US" smtClean="0"/>
              <a:t>90</a:t>
            </a:fld>
            <a:endParaRPr lang="en-US"/>
          </a:p>
        </p:txBody>
      </p:sp>
    </p:spTree>
    <p:extLst>
      <p:ext uri="{BB962C8B-B14F-4D97-AF65-F5344CB8AC3E}">
        <p14:creationId xmlns:p14="http://schemas.microsoft.com/office/powerpoint/2010/main" val="4244981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225B782-65A7-46F1-B9F2-E2C2D24F41BA}" type="datetimeFigureOut">
              <a:rPr lang="en-US" smtClean="0"/>
              <a:t>7/22/2022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FAE618-4F7D-461E-B96B-1C7F261A9AE8}" type="slidenum">
              <a:rPr lang="en-US" smtClean="0"/>
              <a:t>‹#›</a:t>
            </a:fld>
            <a:endParaRPr lang="en-US"/>
          </a:p>
        </p:txBody>
      </p:sp>
    </p:spTree>
    <p:extLst>
      <p:ext uri="{BB962C8B-B14F-4D97-AF65-F5344CB8AC3E}">
        <p14:creationId xmlns:p14="http://schemas.microsoft.com/office/powerpoint/2010/main" val="3760825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20426"/>
            <a:ext cx="10515600" cy="1077309"/>
          </a:xfrm>
        </p:spPr>
        <p:txBody>
          <a:bodyPr/>
          <a:lstStyle>
            <a:lvl1pPr algn="ctr">
              <a:defRPr/>
            </a:lvl1pPr>
          </a:lstStyle>
          <a:p>
            <a:r>
              <a:rPr lang="en-US" dirty="0" smtClean="0"/>
              <a:t>Click to edit Master title style</a:t>
            </a:r>
            <a:endParaRPr lang="en-US" dirty="0"/>
          </a:p>
        </p:txBody>
      </p:sp>
      <p:sp>
        <p:nvSpPr>
          <p:cNvPr id="3" name="Content Placeholder 2"/>
          <p:cNvSpPr>
            <a:spLocks noGrp="1"/>
          </p:cNvSpPr>
          <p:nvPr>
            <p:ph idx="1"/>
          </p:nvPr>
        </p:nvSpPr>
        <p:spPr>
          <a:xfrm>
            <a:off x="838200" y="1300766"/>
            <a:ext cx="10515600" cy="4901955"/>
          </a:xfrm>
        </p:spPr>
        <p:txBody>
          <a:bodyPr/>
          <a:lstStyle>
            <a:lvl1pPr algn="just">
              <a:defRPr/>
            </a:lvl1pPr>
            <a:lvl2pPr algn="just">
              <a:defRPr/>
            </a:lvl2pPr>
            <a:lvl3pPr algn="just">
              <a:defRPr/>
            </a:lvl3pPr>
            <a:lvl4pPr algn="just">
              <a:defRPr/>
            </a:lvl4pPr>
            <a:lvl5pPr algn="jus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F225B782-65A7-46F1-B9F2-E2C2D24F41BA}" type="datetimeFigureOut">
              <a:rPr lang="en-US" smtClean="0"/>
              <a:t>7/22/2022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FAE618-4F7D-461E-B96B-1C7F261A9AE8}" type="slidenum">
              <a:rPr lang="en-US" smtClean="0"/>
              <a:t>‹#›</a:t>
            </a:fld>
            <a:endParaRPr lang="en-US"/>
          </a:p>
        </p:txBody>
      </p:sp>
    </p:spTree>
    <p:extLst>
      <p:ext uri="{BB962C8B-B14F-4D97-AF65-F5344CB8AC3E}">
        <p14:creationId xmlns:p14="http://schemas.microsoft.com/office/powerpoint/2010/main" val="236579252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225B782-65A7-46F1-B9F2-E2C2D24F41BA}" type="datetimeFigureOut">
              <a:rPr lang="en-US" smtClean="0"/>
              <a:t>7/22/2022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FAE618-4F7D-461E-B96B-1C7F261A9AE8}" type="slidenum">
              <a:rPr lang="en-US" smtClean="0"/>
              <a:t>‹#›</a:t>
            </a:fld>
            <a:endParaRPr lang="en-US"/>
          </a:p>
        </p:txBody>
      </p:sp>
    </p:spTree>
    <p:extLst>
      <p:ext uri="{BB962C8B-B14F-4D97-AF65-F5344CB8AC3E}">
        <p14:creationId xmlns:p14="http://schemas.microsoft.com/office/powerpoint/2010/main" val="477748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225B782-65A7-46F1-B9F2-E2C2D24F41BA}" type="datetimeFigureOut">
              <a:rPr lang="en-US" smtClean="0"/>
              <a:t>7/22/2022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FAE618-4F7D-461E-B96B-1C7F261A9AE8}" type="slidenum">
              <a:rPr lang="en-US" smtClean="0"/>
              <a:t>‹#›</a:t>
            </a:fld>
            <a:endParaRPr lang="en-US"/>
          </a:p>
        </p:txBody>
      </p:sp>
    </p:spTree>
    <p:extLst>
      <p:ext uri="{BB962C8B-B14F-4D97-AF65-F5344CB8AC3E}">
        <p14:creationId xmlns:p14="http://schemas.microsoft.com/office/powerpoint/2010/main" val="2375391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225B782-65A7-46F1-B9F2-E2C2D24F41BA}" type="datetimeFigureOut">
              <a:rPr lang="en-US" smtClean="0"/>
              <a:t>7/22/2022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DFAE618-4F7D-461E-B96B-1C7F261A9AE8}" type="slidenum">
              <a:rPr lang="en-US" smtClean="0"/>
              <a:t>‹#›</a:t>
            </a:fld>
            <a:endParaRPr lang="en-US"/>
          </a:p>
        </p:txBody>
      </p:sp>
    </p:spTree>
    <p:extLst>
      <p:ext uri="{BB962C8B-B14F-4D97-AF65-F5344CB8AC3E}">
        <p14:creationId xmlns:p14="http://schemas.microsoft.com/office/powerpoint/2010/main" val="2696398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225B782-65A7-46F1-B9F2-E2C2D24F41BA}" type="datetimeFigureOut">
              <a:rPr lang="en-US" smtClean="0"/>
              <a:t>7/22/2022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DFAE618-4F7D-461E-B96B-1C7F261A9AE8}" type="slidenum">
              <a:rPr lang="en-US" smtClean="0"/>
              <a:t>‹#›</a:t>
            </a:fld>
            <a:endParaRPr lang="en-US"/>
          </a:p>
        </p:txBody>
      </p:sp>
    </p:spTree>
    <p:extLst>
      <p:ext uri="{BB962C8B-B14F-4D97-AF65-F5344CB8AC3E}">
        <p14:creationId xmlns:p14="http://schemas.microsoft.com/office/powerpoint/2010/main" val="3537007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25B782-65A7-46F1-B9F2-E2C2D24F41BA}" type="datetimeFigureOut">
              <a:rPr lang="en-US" smtClean="0"/>
              <a:t>7/22/2022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DFAE618-4F7D-461E-B96B-1C7F261A9AE8}" type="slidenum">
              <a:rPr lang="en-US" smtClean="0"/>
              <a:t>‹#›</a:t>
            </a:fld>
            <a:endParaRPr lang="en-US"/>
          </a:p>
        </p:txBody>
      </p:sp>
    </p:spTree>
    <p:extLst>
      <p:ext uri="{BB962C8B-B14F-4D97-AF65-F5344CB8AC3E}">
        <p14:creationId xmlns:p14="http://schemas.microsoft.com/office/powerpoint/2010/main" val="2411822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225B782-65A7-46F1-B9F2-E2C2D24F41BA}" type="datetimeFigureOut">
              <a:rPr lang="en-US" smtClean="0"/>
              <a:t>7/22/2022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FAE618-4F7D-461E-B96B-1C7F261A9AE8}" type="slidenum">
              <a:rPr lang="en-US" smtClean="0"/>
              <a:t>‹#›</a:t>
            </a:fld>
            <a:endParaRPr lang="en-US"/>
          </a:p>
        </p:txBody>
      </p:sp>
    </p:spTree>
    <p:extLst>
      <p:ext uri="{BB962C8B-B14F-4D97-AF65-F5344CB8AC3E}">
        <p14:creationId xmlns:p14="http://schemas.microsoft.com/office/powerpoint/2010/main" val="1785668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225B782-65A7-46F1-B9F2-E2C2D24F41BA}" type="datetimeFigureOut">
              <a:rPr lang="en-US" smtClean="0"/>
              <a:t>7/22/2022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FAE618-4F7D-461E-B96B-1C7F261A9AE8}" type="slidenum">
              <a:rPr lang="en-US" smtClean="0"/>
              <a:t>‹#›</a:t>
            </a:fld>
            <a:endParaRPr lang="en-US"/>
          </a:p>
        </p:txBody>
      </p:sp>
    </p:spTree>
    <p:extLst>
      <p:ext uri="{BB962C8B-B14F-4D97-AF65-F5344CB8AC3E}">
        <p14:creationId xmlns:p14="http://schemas.microsoft.com/office/powerpoint/2010/main" val="1972427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225B782-65A7-46F1-B9F2-E2C2D24F41BA}" type="datetimeFigureOut">
              <a:rPr lang="en-US" smtClean="0"/>
              <a:t>7/22/2022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FAE618-4F7D-461E-B96B-1C7F261A9AE8}" type="slidenum">
              <a:rPr lang="en-US" smtClean="0"/>
              <a:t>‹#›</a:t>
            </a:fld>
            <a:endParaRPr lang="en-US"/>
          </a:p>
        </p:txBody>
      </p:sp>
    </p:spTree>
    <p:extLst>
      <p:ext uri="{BB962C8B-B14F-4D97-AF65-F5344CB8AC3E}">
        <p14:creationId xmlns:p14="http://schemas.microsoft.com/office/powerpoint/2010/main" val="673798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225B782-65A7-46F1-B9F2-E2C2D24F41BA}" type="datetimeFigureOut">
              <a:rPr lang="en-US" smtClean="0"/>
              <a:t>7/22/2022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FAE618-4F7D-461E-B96B-1C7F261A9AE8}" type="slidenum">
              <a:rPr lang="en-US" smtClean="0"/>
              <a:t>‹#›</a:t>
            </a:fld>
            <a:endParaRPr lang="en-US"/>
          </a:p>
        </p:txBody>
      </p:sp>
    </p:spTree>
    <p:extLst>
      <p:ext uri="{BB962C8B-B14F-4D97-AF65-F5344CB8AC3E}">
        <p14:creationId xmlns:p14="http://schemas.microsoft.com/office/powerpoint/2010/main" val="2416025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25B782-65A7-46F1-B9F2-E2C2D24F41BA}" type="datetimeFigureOut">
              <a:rPr lang="en-US" smtClean="0"/>
              <a:t>7/22/2022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FAE618-4F7D-461E-B96B-1C7F261A9AE8}" type="slidenum">
              <a:rPr lang="en-US" smtClean="0"/>
              <a:t>‹#›</a:t>
            </a:fld>
            <a:endParaRPr lang="en-US"/>
          </a:p>
        </p:txBody>
      </p:sp>
    </p:spTree>
    <p:extLst>
      <p:ext uri="{BB962C8B-B14F-4D97-AF65-F5344CB8AC3E}">
        <p14:creationId xmlns:p14="http://schemas.microsoft.com/office/powerpoint/2010/main" val="24581253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techtarget.com/whatis/definition/bit-error-rate-BER"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4629" y="1553437"/>
            <a:ext cx="9144000" cy="2387600"/>
          </a:xfrm>
        </p:spPr>
        <p:txBody>
          <a:bodyPr/>
          <a:lstStyle/>
          <a:p>
            <a:r>
              <a:rPr lang="en-US" dirty="0" smtClean="0"/>
              <a:t>Unit 3</a:t>
            </a:r>
            <a:br>
              <a:rPr lang="en-US" dirty="0" smtClean="0"/>
            </a:br>
            <a:r>
              <a:rPr lang="en-US" dirty="0" smtClean="0"/>
              <a:t>Data Link Layer [8 </a:t>
            </a:r>
            <a:r>
              <a:rPr lang="en-US" dirty="0" err="1" smtClean="0"/>
              <a:t>hrs</a:t>
            </a:r>
            <a:r>
              <a:rPr lang="en-US" dirty="0" smtClean="0"/>
              <a:t>] </a:t>
            </a:r>
            <a:endParaRPr lang="en-US" dirty="0"/>
          </a:p>
        </p:txBody>
      </p:sp>
    </p:spTree>
    <p:extLst>
      <p:ext uri="{BB962C8B-B14F-4D97-AF65-F5344CB8AC3E}">
        <p14:creationId xmlns:p14="http://schemas.microsoft.com/office/powerpoint/2010/main" val="24460278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Function of Data Link Layer (DLL) </a:t>
            </a:r>
          </a:p>
          <a:p>
            <a:r>
              <a:rPr lang="en-US" dirty="0" smtClean="0"/>
              <a:t>Overview of Logical Link Control (LLC) and Media Access Control (MAC) </a:t>
            </a:r>
          </a:p>
          <a:p>
            <a:r>
              <a:rPr lang="en-US" dirty="0" smtClean="0"/>
              <a:t>Framing and Flow Control Mechanisms Stop-and-wait ARQ, Piggybacking, Go-Back-N ARQ, Selective Repeat ARQ</a:t>
            </a:r>
          </a:p>
          <a:p>
            <a:r>
              <a:rPr lang="en-US" dirty="0" smtClean="0"/>
              <a:t>Error Detection and Correction techniques Parity checks, </a:t>
            </a:r>
            <a:r>
              <a:rPr lang="en-US" dirty="0" err="1" smtClean="0"/>
              <a:t>Cheksumming</a:t>
            </a:r>
            <a:r>
              <a:rPr lang="en-US" dirty="0" smtClean="0"/>
              <a:t> Methods, CRC, Hamming code </a:t>
            </a:r>
          </a:p>
          <a:p>
            <a:r>
              <a:rPr lang="en-US" dirty="0" smtClean="0"/>
              <a:t>Channel Allocation Techniques ALOHA, Slotted ALOHA, CSMA, CSMACD,CSMA/CA </a:t>
            </a:r>
          </a:p>
          <a:p>
            <a:r>
              <a:rPr lang="en-US" dirty="0" smtClean="0"/>
              <a:t>Ethernet Standards 802.3 CSMA/CD, 802.4 Token Bus, 802.5 Token Ring</a:t>
            </a:r>
          </a:p>
          <a:p>
            <a:r>
              <a:rPr lang="en-US" dirty="0" smtClean="0"/>
              <a:t>Wireless LAN Spread Spectrum, Bluetooth, Wi-Fi </a:t>
            </a:r>
          </a:p>
          <a:p>
            <a:r>
              <a:rPr lang="en-US" dirty="0" smtClean="0"/>
              <a:t>Overview Virtual Circuit Switching, Frame Relay &amp; ATM </a:t>
            </a:r>
          </a:p>
          <a:p>
            <a:r>
              <a:rPr lang="en-US" dirty="0" smtClean="0"/>
              <a:t>DLL Protocol HDLC, PPP</a:t>
            </a:r>
            <a:endParaRPr lang="en-US" dirty="0"/>
          </a:p>
        </p:txBody>
      </p:sp>
    </p:spTree>
    <p:extLst>
      <p:ext uri="{BB962C8B-B14F-4D97-AF65-F5344CB8AC3E}">
        <p14:creationId xmlns:p14="http://schemas.microsoft.com/office/powerpoint/2010/main" val="4264049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Link Layer Services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Framing</a:t>
            </a:r>
          </a:p>
          <a:p>
            <a:pPr lvl="1"/>
            <a:r>
              <a:rPr lang="en-US" dirty="0"/>
              <a:t>DLL divides the bits received from </a:t>
            </a:r>
            <a:r>
              <a:rPr lang="en-US" dirty="0" smtClean="0"/>
              <a:t>network layer </a:t>
            </a:r>
            <a:r>
              <a:rPr lang="en-US" dirty="0"/>
              <a:t>into frames. (Frame contains all the </a:t>
            </a:r>
            <a:r>
              <a:rPr lang="en-US" dirty="0" smtClean="0"/>
              <a:t>addressing information </a:t>
            </a:r>
            <a:r>
              <a:rPr lang="en-US" dirty="0"/>
              <a:t>necessary to travel from S to D</a:t>
            </a:r>
            <a:r>
              <a:rPr lang="en-US" dirty="0" smtClean="0"/>
              <a:t>).</a:t>
            </a:r>
          </a:p>
          <a:p>
            <a:pPr lvl="1"/>
            <a:r>
              <a:rPr lang="en-US" dirty="0"/>
              <a:t>After creating frames, </a:t>
            </a:r>
            <a:r>
              <a:rPr lang="en-US" dirty="0" smtClean="0"/>
              <a:t>DLL adds </a:t>
            </a:r>
            <a:r>
              <a:rPr lang="en-US" dirty="0"/>
              <a:t>physical address of sender/receiver (</a:t>
            </a:r>
            <a:r>
              <a:rPr lang="en-US" dirty="0" smtClean="0"/>
              <a:t>MAC address</a:t>
            </a:r>
            <a:r>
              <a:rPr lang="en-US" dirty="0"/>
              <a:t>) in the header of each frame.</a:t>
            </a:r>
            <a:endParaRPr lang="en-US" dirty="0" smtClean="0"/>
          </a:p>
          <a:p>
            <a:r>
              <a:rPr lang="en-US" dirty="0" smtClean="0"/>
              <a:t>Link Access</a:t>
            </a:r>
          </a:p>
          <a:p>
            <a:pPr lvl="1"/>
            <a:r>
              <a:rPr lang="en-US" dirty="0"/>
              <a:t>When single common Channel is shared by multiple devices, MAC layer of DLL provides help to determine which device has control over the channel.</a:t>
            </a:r>
            <a:endParaRPr lang="en-US" dirty="0" smtClean="0"/>
          </a:p>
          <a:p>
            <a:r>
              <a:rPr lang="en-US" dirty="0" smtClean="0"/>
              <a:t>Reliable delivery between the adjacent nodes</a:t>
            </a:r>
          </a:p>
          <a:p>
            <a:pPr lvl="1"/>
            <a:r>
              <a:rPr lang="en-US" dirty="0" smtClean="0"/>
              <a:t>it </a:t>
            </a:r>
            <a:r>
              <a:rPr lang="en-US" dirty="0"/>
              <a:t>guarantees to move each network-layer datagram across the link without error.</a:t>
            </a:r>
            <a:endParaRPr lang="en-US" dirty="0" smtClean="0"/>
          </a:p>
          <a:p>
            <a:r>
              <a:rPr lang="en-US" dirty="0" smtClean="0"/>
              <a:t>Flow Control</a:t>
            </a:r>
          </a:p>
          <a:p>
            <a:pPr lvl="1"/>
            <a:r>
              <a:rPr lang="en-US" dirty="0"/>
              <a:t>DLL prevents the fast sender </a:t>
            </a:r>
            <a:r>
              <a:rPr lang="en-US" dirty="0" smtClean="0"/>
              <a:t>from drowning </a:t>
            </a:r>
            <a:r>
              <a:rPr lang="en-US" dirty="0"/>
              <a:t>the slow receiver.</a:t>
            </a:r>
            <a:endParaRPr lang="en-US" dirty="0" smtClean="0"/>
          </a:p>
          <a:p>
            <a:r>
              <a:rPr lang="en-US" dirty="0" smtClean="0"/>
              <a:t>Error Detection and Error Correction</a:t>
            </a:r>
          </a:p>
          <a:p>
            <a:pPr lvl="1"/>
            <a:r>
              <a:rPr lang="en-US" dirty="0"/>
              <a:t>It provides the mechanism of </a:t>
            </a:r>
            <a:r>
              <a:rPr lang="en-US" dirty="0" smtClean="0"/>
              <a:t>error control </a:t>
            </a:r>
            <a:r>
              <a:rPr lang="en-US" dirty="0"/>
              <a:t>in which it detects &amp; retransmits damaged </a:t>
            </a:r>
            <a:r>
              <a:rPr lang="en-US" dirty="0" smtClean="0"/>
              <a:t>or lost </a:t>
            </a:r>
            <a:r>
              <a:rPr lang="en-US" dirty="0"/>
              <a:t>frames.</a:t>
            </a:r>
            <a:endParaRPr lang="en-US" dirty="0" smtClean="0"/>
          </a:p>
          <a:p>
            <a:r>
              <a:rPr lang="en-US" dirty="0" smtClean="0"/>
              <a:t>Modes of Transmission (full-duplex or half-duplex)</a:t>
            </a:r>
            <a:endParaRPr lang="en-US" dirty="0"/>
          </a:p>
        </p:txBody>
      </p:sp>
    </p:spTree>
    <p:extLst>
      <p:ext uri="{BB962C8B-B14F-4D97-AF65-F5344CB8AC3E}">
        <p14:creationId xmlns:p14="http://schemas.microsoft.com/office/powerpoint/2010/main" val="4161147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3514" y="2312125"/>
            <a:ext cx="10515600" cy="1615747"/>
          </a:xfrm>
        </p:spPr>
        <p:txBody>
          <a:bodyPr>
            <a:normAutofit/>
          </a:bodyPr>
          <a:lstStyle/>
          <a:p>
            <a:r>
              <a:rPr lang="en-US" sz="6600" dirty="0" smtClean="0"/>
              <a:t>Flow Control</a:t>
            </a:r>
            <a:endParaRPr lang="en-US" sz="6600" dirty="0"/>
          </a:p>
        </p:txBody>
      </p:sp>
    </p:spTree>
    <p:extLst>
      <p:ext uri="{BB962C8B-B14F-4D97-AF65-F5344CB8AC3E}">
        <p14:creationId xmlns:p14="http://schemas.microsoft.com/office/powerpoint/2010/main" val="32958344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Flow Control</a:t>
            </a:r>
            <a:endParaRPr lang="en-US" dirty="0"/>
          </a:p>
        </p:txBody>
      </p:sp>
      <p:sp>
        <p:nvSpPr>
          <p:cNvPr id="3" name="Content Placeholder 2"/>
          <p:cNvSpPr>
            <a:spLocks noGrp="1"/>
          </p:cNvSpPr>
          <p:nvPr>
            <p:ph idx="1"/>
          </p:nvPr>
        </p:nvSpPr>
        <p:spPr/>
        <p:txBody>
          <a:bodyPr>
            <a:normAutofit fontScale="92500" lnSpcReduction="10000"/>
          </a:bodyPr>
          <a:lstStyle/>
          <a:p>
            <a:r>
              <a:rPr lang="en-US" dirty="0"/>
              <a:t>Flow control is the mechanism that ensures the rate at which a sender is transmitting is in proportion with the receiver’s receiving </a:t>
            </a:r>
            <a:r>
              <a:rPr lang="en-US" dirty="0" smtClean="0"/>
              <a:t>capabilities.</a:t>
            </a:r>
            <a:endParaRPr lang="en-US" dirty="0"/>
          </a:p>
          <a:p>
            <a:pPr lvl="1"/>
            <a:r>
              <a:rPr lang="en-US" dirty="0" smtClean="0"/>
              <a:t>Flow </a:t>
            </a:r>
            <a:r>
              <a:rPr lang="en-US" dirty="0"/>
              <a:t>control coordinates the amount of data that can be sent before receiving an </a:t>
            </a:r>
            <a:r>
              <a:rPr lang="en-US" dirty="0" smtClean="0"/>
              <a:t>acknowledgment.</a:t>
            </a:r>
          </a:p>
          <a:p>
            <a:pPr lvl="1"/>
            <a:r>
              <a:rPr lang="en-US" dirty="0" smtClean="0"/>
              <a:t>Flow </a:t>
            </a:r>
            <a:r>
              <a:rPr lang="en-US" dirty="0"/>
              <a:t>control tells the sender how much data should be sent to the receiver so that it is not </a:t>
            </a:r>
            <a:r>
              <a:rPr lang="en-US" dirty="0" smtClean="0"/>
              <a:t>lost.</a:t>
            </a:r>
            <a:endParaRPr lang="en-US" dirty="0"/>
          </a:p>
          <a:p>
            <a:r>
              <a:rPr lang="en-US" dirty="0" smtClean="0"/>
              <a:t>Nodes </a:t>
            </a:r>
            <a:r>
              <a:rPr lang="en-US" dirty="0"/>
              <a:t>on each side of a link have a limited amount of packet buffering capacity. </a:t>
            </a:r>
          </a:p>
          <a:p>
            <a:pPr lvl="1"/>
            <a:r>
              <a:rPr lang="en-US" dirty="0" smtClean="0"/>
              <a:t>This </a:t>
            </a:r>
            <a:r>
              <a:rPr lang="en-US" dirty="0"/>
              <a:t>is a potential problem, as a receiving node may receive frames at a rate faster than it can process the frames (over some time interval</a:t>
            </a:r>
            <a:r>
              <a:rPr lang="en-US" dirty="0" smtClean="0"/>
              <a:t>).</a:t>
            </a:r>
          </a:p>
          <a:p>
            <a:r>
              <a:rPr lang="en-US" dirty="0" smtClean="0"/>
              <a:t>Without </a:t>
            </a:r>
            <a:r>
              <a:rPr lang="en-US" dirty="0"/>
              <a:t>flow control, the receiver's buffer can overflow </a:t>
            </a:r>
            <a:r>
              <a:rPr lang="en-US" dirty="0" smtClean="0"/>
              <a:t>and </a:t>
            </a:r>
            <a:r>
              <a:rPr lang="en-US" dirty="0"/>
              <a:t>frames can get lost. </a:t>
            </a:r>
          </a:p>
          <a:p>
            <a:r>
              <a:rPr lang="en-US" dirty="0" smtClean="0"/>
              <a:t>Link-layer protocol provides </a:t>
            </a:r>
            <a:r>
              <a:rPr lang="en-US" dirty="0"/>
              <a:t>flow control </a:t>
            </a:r>
            <a:r>
              <a:rPr lang="en-US" dirty="0" smtClean="0"/>
              <a:t>to </a:t>
            </a:r>
            <a:r>
              <a:rPr lang="en-US" dirty="0"/>
              <a:t>prevent the sending node </a:t>
            </a:r>
            <a:r>
              <a:rPr lang="en-US" dirty="0" smtClean="0"/>
              <a:t>from </a:t>
            </a:r>
            <a:r>
              <a:rPr lang="en-US" dirty="0"/>
              <a:t>overwhelming the receiving node on the other side of the link.</a:t>
            </a:r>
          </a:p>
        </p:txBody>
      </p:sp>
    </p:spTree>
    <p:extLst>
      <p:ext uri="{BB962C8B-B14F-4D97-AF65-F5344CB8AC3E}">
        <p14:creationId xmlns:p14="http://schemas.microsoft.com/office/powerpoint/2010/main" val="2160500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Flow Control</a:t>
            </a:r>
            <a:endParaRPr lang="en-US" dirty="0"/>
          </a:p>
        </p:txBody>
      </p:sp>
      <p:sp>
        <p:nvSpPr>
          <p:cNvPr id="3" name="Content Placeholder 2"/>
          <p:cNvSpPr>
            <a:spLocks noGrp="1"/>
          </p:cNvSpPr>
          <p:nvPr>
            <p:ph idx="1"/>
          </p:nvPr>
        </p:nvSpPr>
        <p:spPr/>
        <p:txBody>
          <a:bodyPr>
            <a:normAutofit fontScale="92500"/>
          </a:bodyPr>
          <a:lstStyle/>
          <a:p>
            <a:r>
              <a:rPr lang="en-US" dirty="0"/>
              <a:t>When a data frame is sent from one host to another over a single medium, it is required that the sender and receiver should work at the same speed. </a:t>
            </a:r>
            <a:endParaRPr lang="en-US" dirty="0" smtClean="0"/>
          </a:p>
          <a:p>
            <a:r>
              <a:rPr lang="en-US" dirty="0" smtClean="0"/>
              <a:t>That </a:t>
            </a:r>
            <a:r>
              <a:rPr lang="en-US" dirty="0"/>
              <a:t>is, sender sends at a speed on which the receiver can process and accept the data. </a:t>
            </a:r>
            <a:endParaRPr lang="en-US" dirty="0" smtClean="0"/>
          </a:p>
          <a:p>
            <a:r>
              <a:rPr lang="en-US" dirty="0" smtClean="0"/>
              <a:t>If </a:t>
            </a:r>
            <a:r>
              <a:rPr lang="en-US" dirty="0"/>
              <a:t>sender is sending too fast, the receiver may be overloaded and data may be lost</a:t>
            </a:r>
            <a:r>
              <a:rPr lang="en-US" dirty="0" smtClean="0"/>
              <a:t>.</a:t>
            </a:r>
          </a:p>
          <a:p>
            <a:r>
              <a:rPr lang="en-US" dirty="0" smtClean="0">
                <a:solidFill>
                  <a:srgbClr val="0070C0"/>
                </a:solidFill>
              </a:rPr>
              <a:t>Flow Control - Purpose</a:t>
            </a:r>
            <a:r>
              <a:rPr lang="en-US" dirty="0"/>
              <a:t>: </a:t>
            </a:r>
            <a:endParaRPr lang="en-US" dirty="0" smtClean="0"/>
          </a:p>
          <a:p>
            <a:pPr lvl="1"/>
            <a:r>
              <a:rPr lang="en-US" dirty="0" smtClean="0"/>
              <a:t>To </a:t>
            </a:r>
            <a:r>
              <a:rPr lang="en-US" dirty="0"/>
              <a:t>stop the overflow at the receiver's end, we use flow control techniques for data transmission</a:t>
            </a:r>
            <a:r>
              <a:rPr lang="en-US" dirty="0" smtClean="0"/>
              <a:t>.</a:t>
            </a:r>
            <a:endParaRPr lang="en-US" dirty="0"/>
          </a:p>
          <a:p>
            <a:r>
              <a:rPr lang="en-US" dirty="0"/>
              <a:t>There are two ways to control the flow of data: </a:t>
            </a:r>
            <a:endParaRPr lang="en-US" dirty="0" smtClean="0"/>
          </a:p>
          <a:p>
            <a:pPr marL="914400" lvl="1" indent="-457200">
              <a:buFont typeface="+mj-lt"/>
              <a:buAutoNum type="arabicPeriod"/>
            </a:pPr>
            <a:r>
              <a:rPr lang="en-US" dirty="0" smtClean="0"/>
              <a:t>A </a:t>
            </a:r>
            <a:r>
              <a:rPr lang="en-US" dirty="0"/>
              <a:t>simple stop and wait Protocol </a:t>
            </a:r>
            <a:endParaRPr lang="en-US" dirty="0" smtClean="0"/>
          </a:p>
          <a:p>
            <a:pPr marL="914400" lvl="1" indent="-457200">
              <a:buFont typeface="+mj-lt"/>
              <a:buAutoNum type="arabicPeriod"/>
            </a:pPr>
            <a:r>
              <a:rPr lang="en-US" dirty="0" smtClean="0"/>
              <a:t>Sliding </a:t>
            </a:r>
            <a:r>
              <a:rPr lang="en-US" dirty="0"/>
              <a:t>Window Protocol</a:t>
            </a:r>
          </a:p>
        </p:txBody>
      </p:sp>
    </p:spTree>
    <p:extLst>
      <p:ext uri="{BB962C8B-B14F-4D97-AF65-F5344CB8AC3E}">
        <p14:creationId xmlns:p14="http://schemas.microsoft.com/office/powerpoint/2010/main" val="4165907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simple stop and wait Protocol </a:t>
            </a:r>
          </a:p>
        </p:txBody>
      </p:sp>
      <p:sp>
        <p:nvSpPr>
          <p:cNvPr id="3" name="Content Placeholder 2"/>
          <p:cNvSpPr>
            <a:spLocks noGrp="1"/>
          </p:cNvSpPr>
          <p:nvPr>
            <p:ph idx="1"/>
          </p:nvPr>
        </p:nvSpPr>
        <p:spPr/>
        <p:txBody>
          <a:bodyPr>
            <a:normAutofit fontScale="92500" lnSpcReduction="10000"/>
          </a:bodyPr>
          <a:lstStyle/>
          <a:p>
            <a:r>
              <a:rPr lang="en-US" dirty="0"/>
              <a:t>It is the simplest flow control method. </a:t>
            </a:r>
            <a:endParaRPr lang="en-US" dirty="0" smtClean="0"/>
          </a:p>
          <a:p>
            <a:r>
              <a:rPr lang="en-US" dirty="0" smtClean="0"/>
              <a:t>In </a:t>
            </a:r>
            <a:r>
              <a:rPr lang="en-US" dirty="0"/>
              <a:t>this, the sender will send one frame at a time to the receiver. </a:t>
            </a:r>
            <a:endParaRPr lang="en-US" dirty="0" smtClean="0"/>
          </a:p>
          <a:p>
            <a:r>
              <a:rPr lang="en-US" dirty="0" smtClean="0"/>
              <a:t>Until </a:t>
            </a:r>
            <a:r>
              <a:rPr lang="en-US" dirty="0"/>
              <a:t>then, the sender will </a:t>
            </a:r>
            <a:r>
              <a:rPr lang="en-US" b="1" dirty="0"/>
              <a:t>stop and wait</a:t>
            </a:r>
            <a:r>
              <a:rPr lang="en-US" dirty="0"/>
              <a:t> for the acknowledgment from the receiver. </a:t>
            </a:r>
            <a:endParaRPr lang="en-US" dirty="0" smtClean="0"/>
          </a:p>
          <a:p>
            <a:r>
              <a:rPr lang="en-US" dirty="0" smtClean="0"/>
              <a:t>When </a:t>
            </a:r>
            <a:r>
              <a:rPr lang="en-US" dirty="0"/>
              <a:t>the sender gets the acknowledgment then it will send the next data packet </a:t>
            </a:r>
            <a:r>
              <a:rPr lang="en-US" dirty="0" smtClean="0"/>
              <a:t>from the queue.</a:t>
            </a:r>
            <a:r>
              <a:rPr lang="en-US" dirty="0"/>
              <a:t> </a:t>
            </a:r>
            <a:endParaRPr lang="en-US" dirty="0" smtClean="0"/>
          </a:p>
          <a:p>
            <a:r>
              <a:rPr lang="en-US" dirty="0"/>
              <a:t>The process of alternately sending and waiting for a frame continues until the sender transmits the EOT (End of transmission) frame</a:t>
            </a:r>
            <a:r>
              <a:rPr lang="en-US" dirty="0" smtClean="0"/>
              <a:t>.</a:t>
            </a:r>
          </a:p>
          <a:p>
            <a:r>
              <a:rPr lang="en-US" dirty="0" smtClean="0"/>
              <a:t>In </a:t>
            </a:r>
            <a:r>
              <a:rPr lang="en-US" dirty="0"/>
              <a:t>this method, only one frame can be in transmission at a time. </a:t>
            </a:r>
            <a:endParaRPr lang="en-US" dirty="0" smtClean="0"/>
          </a:p>
          <a:p>
            <a:pPr lvl="1"/>
            <a:r>
              <a:rPr lang="en-US" dirty="0" smtClean="0"/>
              <a:t>It </a:t>
            </a:r>
            <a:r>
              <a:rPr lang="en-US" dirty="0"/>
              <a:t>leads to high levels of inefficiency, i.e. less productivity if propagation delay is longer than the transmission delay</a:t>
            </a:r>
            <a:r>
              <a:rPr lang="en-US" dirty="0" smtClean="0"/>
              <a:t>.</a:t>
            </a:r>
          </a:p>
          <a:p>
            <a:r>
              <a:rPr lang="en-US" dirty="0"/>
              <a:t>Data transmission is one directional, but must have bidirectional line.</a:t>
            </a:r>
          </a:p>
        </p:txBody>
      </p:sp>
    </p:spTree>
    <p:extLst>
      <p:ext uri="{BB962C8B-B14F-4D97-AF65-F5344CB8AC3E}">
        <p14:creationId xmlns:p14="http://schemas.microsoft.com/office/powerpoint/2010/main" val="3003171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simple stop and wait Protocol </a:t>
            </a:r>
          </a:p>
        </p:txBody>
      </p:sp>
      <p:pic>
        <p:nvPicPr>
          <p:cNvPr id="1026" name="Picture 2" descr="https://s3.ap-south-1.amazonaws.com/afteracademy-server-uploads/what-is-flow-control-in-networking-stop-and-wait-9aa500574b46602e.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23134" y="1300163"/>
            <a:ext cx="5545732" cy="490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41852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simple stop and wait Protocol </a:t>
            </a:r>
          </a:p>
        </p:txBody>
      </p:sp>
      <p:sp>
        <p:nvSpPr>
          <p:cNvPr id="3" name="Content Placeholder 2"/>
          <p:cNvSpPr>
            <a:spLocks noGrp="1"/>
          </p:cNvSpPr>
          <p:nvPr>
            <p:ph idx="1"/>
          </p:nvPr>
        </p:nvSpPr>
        <p:spPr/>
        <p:txBody>
          <a:bodyPr>
            <a:normAutofit/>
          </a:bodyPr>
          <a:lstStyle/>
          <a:p>
            <a:r>
              <a:rPr lang="en-US" b="1" dirty="0"/>
              <a:t>Advantage of Stop-and-wait</a:t>
            </a:r>
          </a:p>
          <a:p>
            <a:pPr lvl="1"/>
            <a:r>
              <a:rPr lang="en-US" dirty="0"/>
              <a:t>This method is easy and simple, and each frame is checked and acknowledged before sending </a:t>
            </a:r>
          </a:p>
          <a:p>
            <a:pPr lvl="1"/>
            <a:r>
              <a:rPr lang="en-US" dirty="0"/>
              <a:t>It can also be used for noisy channels without any major issues</a:t>
            </a:r>
          </a:p>
          <a:p>
            <a:pPr lvl="1"/>
            <a:r>
              <a:rPr lang="en-US" dirty="0"/>
              <a:t>This method is also very accurate and there is very little risk of data </a:t>
            </a:r>
            <a:r>
              <a:rPr lang="en-US" dirty="0" smtClean="0"/>
              <a:t>loss</a:t>
            </a:r>
          </a:p>
          <a:p>
            <a:pPr marL="0" indent="0">
              <a:buNone/>
            </a:pPr>
            <a:endParaRPr lang="en-US" dirty="0"/>
          </a:p>
          <a:p>
            <a:r>
              <a:rPr lang="en-US" b="1" dirty="0"/>
              <a:t>Disadvantage of Stop-and-wait</a:t>
            </a:r>
          </a:p>
          <a:p>
            <a:pPr lvl="1"/>
            <a:r>
              <a:rPr lang="en-US" dirty="0"/>
              <a:t>The transmission is fairly slow and can be time-consuming</a:t>
            </a:r>
          </a:p>
          <a:p>
            <a:pPr lvl="1"/>
            <a:r>
              <a:rPr lang="en-US" dirty="0"/>
              <a:t>Only one packet or frame can be sent at any point in time.</a:t>
            </a:r>
          </a:p>
          <a:p>
            <a:pPr lvl="1"/>
            <a:r>
              <a:rPr lang="en-US" dirty="0"/>
              <a:t>There is low efficiency as constant feedback is needed after each step </a:t>
            </a:r>
          </a:p>
        </p:txBody>
      </p:sp>
    </p:spTree>
    <p:extLst>
      <p:ext uri="{BB962C8B-B14F-4D97-AF65-F5344CB8AC3E}">
        <p14:creationId xmlns:p14="http://schemas.microsoft.com/office/powerpoint/2010/main" val="4241752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simple stop and wait </a:t>
            </a:r>
            <a:r>
              <a:rPr lang="en-US" dirty="0" smtClean="0"/>
              <a:t>Protocol: </a:t>
            </a:r>
            <a:r>
              <a:rPr lang="en-US" b="1" dirty="0" smtClean="0">
                <a:solidFill>
                  <a:srgbClr val="00B050"/>
                </a:solidFill>
              </a:rPr>
              <a:t>Proble</a:t>
            </a:r>
            <a:r>
              <a:rPr lang="en-US" b="1" dirty="0">
                <a:solidFill>
                  <a:srgbClr val="00B050"/>
                </a:solidFill>
              </a:rPr>
              <a:t>m</a:t>
            </a:r>
          </a:p>
        </p:txBody>
      </p:sp>
      <p:sp>
        <p:nvSpPr>
          <p:cNvPr id="3" name="Content Placeholder 2"/>
          <p:cNvSpPr>
            <a:spLocks noGrp="1"/>
          </p:cNvSpPr>
          <p:nvPr>
            <p:ph idx="1"/>
          </p:nvPr>
        </p:nvSpPr>
        <p:spPr/>
        <p:txBody>
          <a:bodyPr>
            <a:normAutofit/>
          </a:bodyPr>
          <a:lstStyle/>
          <a:p>
            <a:pPr fontAlgn="base"/>
            <a:r>
              <a:rPr lang="en-US" dirty="0"/>
              <a:t>Loss of data packet</a:t>
            </a:r>
          </a:p>
          <a:p>
            <a:pPr fontAlgn="base"/>
            <a:r>
              <a:rPr lang="en-US" dirty="0"/>
              <a:t>Loss of </a:t>
            </a:r>
            <a:r>
              <a:rPr lang="en-US" dirty="0" smtClean="0"/>
              <a:t>acknowledgement</a:t>
            </a:r>
          </a:p>
          <a:p>
            <a:pPr fontAlgn="base"/>
            <a:r>
              <a:rPr lang="en-US" dirty="0"/>
              <a:t>Delayed Acknowledgement</a:t>
            </a:r>
            <a:endParaRPr lang="en-US" dirty="0" smtClean="0"/>
          </a:p>
          <a:p>
            <a:pPr marL="0" indent="0">
              <a:buNone/>
            </a:pPr>
            <a:endParaRPr lang="en-US" dirty="0"/>
          </a:p>
        </p:txBody>
      </p:sp>
      <p:pic>
        <p:nvPicPr>
          <p:cNvPr id="2050" name="Picture 2" descr="cn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6010" y="2055130"/>
            <a:ext cx="4781550" cy="412432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n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0866" y="2745145"/>
            <a:ext cx="4781550" cy="3457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7671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Stop and </a:t>
            </a:r>
            <a:r>
              <a:rPr lang="en-US" dirty="0"/>
              <a:t>wait </a:t>
            </a:r>
            <a:r>
              <a:rPr lang="en-US" dirty="0" smtClean="0"/>
              <a:t>ARQ</a:t>
            </a:r>
            <a:endParaRPr lang="en-US" dirty="0"/>
          </a:p>
        </p:txBody>
      </p:sp>
      <p:sp>
        <p:nvSpPr>
          <p:cNvPr id="3" name="Content Placeholder 2"/>
          <p:cNvSpPr>
            <a:spLocks noGrp="1"/>
          </p:cNvSpPr>
          <p:nvPr>
            <p:ph idx="1"/>
          </p:nvPr>
        </p:nvSpPr>
        <p:spPr/>
        <p:txBody>
          <a:bodyPr>
            <a:normAutofit lnSpcReduction="10000"/>
          </a:bodyPr>
          <a:lstStyle/>
          <a:p>
            <a:r>
              <a:rPr lang="en-US" dirty="0"/>
              <a:t>Stop and Wait ARQ is an improved and modified version of Stop and Wait protocol.</a:t>
            </a:r>
            <a:endParaRPr lang="en-US" dirty="0" smtClean="0"/>
          </a:p>
          <a:p>
            <a:r>
              <a:rPr lang="en-US" dirty="0" smtClean="0"/>
              <a:t>The </a:t>
            </a:r>
            <a:r>
              <a:rPr lang="en-US" dirty="0"/>
              <a:t>sender maintains a timeout counter. </a:t>
            </a:r>
          </a:p>
          <a:p>
            <a:r>
              <a:rPr lang="en-US" dirty="0" smtClean="0"/>
              <a:t>When </a:t>
            </a:r>
            <a:r>
              <a:rPr lang="en-US" dirty="0"/>
              <a:t>a frame is sent, the sender starts the timeout counter. </a:t>
            </a:r>
            <a:endParaRPr lang="en-US" dirty="0" smtClean="0"/>
          </a:p>
          <a:p>
            <a:r>
              <a:rPr lang="en-US" dirty="0" smtClean="0"/>
              <a:t>If </a:t>
            </a:r>
            <a:r>
              <a:rPr lang="en-US" dirty="0"/>
              <a:t>acknowledgement of frame comes in time, the sender transmits the next frame in queue. </a:t>
            </a:r>
            <a:endParaRPr lang="en-US" dirty="0" smtClean="0"/>
          </a:p>
          <a:p>
            <a:r>
              <a:rPr lang="en-US" dirty="0" smtClean="0"/>
              <a:t>If </a:t>
            </a:r>
            <a:r>
              <a:rPr lang="en-US" dirty="0"/>
              <a:t>acknowledgement does not come in time, the sender assumes that either the frame or its acknowledgement is lost in transit. Sender retransmits the frame and starts the timeout counter. </a:t>
            </a:r>
            <a:endParaRPr lang="en-US" dirty="0" smtClean="0"/>
          </a:p>
          <a:p>
            <a:r>
              <a:rPr lang="en-US" dirty="0" smtClean="0"/>
              <a:t>If </a:t>
            </a:r>
            <a:r>
              <a:rPr lang="en-US" dirty="0"/>
              <a:t>a negative acknowledgement is received, the sender retransmits the frame.</a:t>
            </a:r>
          </a:p>
        </p:txBody>
      </p:sp>
    </p:spTree>
    <p:extLst>
      <p:ext uri="{BB962C8B-B14F-4D97-AF65-F5344CB8AC3E}">
        <p14:creationId xmlns:p14="http://schemas.microsoft.com/office/powerpoint/2010/main" val="1878814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Stop and </a:t>
            </a:r>
            <a:r>
              <a:rPr lang="en-US" dirty="0"/>
              <a:t>wait </a:t>
            </a:r>
            <a:r>
              <a:rPr lang="en-US" dirty="0" smtClean="0"/>
              <a:t>ARQ</a:t>
            </a:r>
            <a:endParaRPr lang="en-US" dirty="0"/>
          </a:p>
        </p:txBody>
      </p:sp>
      <p:sp>
        <p:nvSpPr>
          <p:cNvPr id="3" name="Content Placeholder 2"/>
          <p:cNvSpPr>
            <a:spLocks noGrp="1"/>
          </p:cNvSpPr>
          <p:nvPr>
            <p:ph idx="1"/>
          </p:nvPr>
        </p:nvSpPr>
        <p:spPr/>
        <p:txBody>
          <a:bodyPr>
            <a:normAutofit/>
          </a:bodyPr>
          <a:lstStyle/>
          <a:p>
            <a:endParaRPr lang="en-US" dirty="0"/>
          </a:p>
        </p:txBody>
      </p:sp>
    </p:spTree>
    <p:extLst>
      <p:ext uri="{BB962C8B-B14F-4D97-AF65-F5344CB8AC3E}">
        <p14:creationId xmlns:p14="http://schemas.microsoft.com/office/powerpoint/2010/main" val="575831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Sliding Window Protocol</a:t>
            </a:r>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41279426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Sliding Window Protocol</a:t>
            </a:r>
          </a:p>
        </p:txBody>
      </p:sp>
      <p:sp>
        <p:nvSpPr>
          <p:cNvPr id="3" name="Content Placeholder 2"/>
          <p:cNvSpPr>
            <a:spLocks noGrp="1"/>
          </p:cNvSpPr>
          <p:nvPr>
            <p:ph idx="1"/>
          </p:nvPr>
        </p:nvSpPr>
        <p:spPr/>
        <p:txBody>
          <a:bodyPr/>
          <a:lstStyle/>
          <a:p>
            <a:r>
              <a:rPr lang="en-US" b="1" dirty="0"/>
              <a:t>Advantages of Sliding Window</a:t>
            </a:r>
          </a:p>
          <a:p>
            <a:pPr lvl="1"/>
            <a:r>
              <a:rPr lang="en-US" dirty="0"/>
              <a:t>It performs better than stop-and-wait flow control.</a:t>
            </a:r>
          </a:p>
          <a:p>
            <a:pPr lvl="1"/>
            <a:r>
              <a:rPr lang="en-US" dirty="0"/>
              <a:t>This method is highly efficient</a:t>
            </a:r>
          </a:p>
          <a:p>
            <a:pPr lvl="1"/>
            <a:r>
              <a:rPr lang="en-US" dirty="0"/>
              <a:t>Multiples frames can be sent one after another</a:t>
            </a:r>
            <a:r>
              <a:rPr lang="en-US" dirty="0" smtClean="0"/>
              <a:t>.</a:t>
            </a:r>
          </a:p>
          <a:p>
            <a:pPr marL="0" indent="0">
              <a:buNone/>
            </a:pPr>
            <a:endParaRPr lang="en-US" dirty="0"/>
          </a:p>
          <a:p>
            <a:r>
              <a:rPr lang="en-US" b="1" dirty="0"/>
              <a:t>Disadvantages of Sliding Window</a:t>
            </a:r>
          </a:p>
          <a:p>
            <a:pPr lvl="1"/>
            <a:r>
              <a:rPr lang="en-US" dirty="0"/>
              <a:t>The main issue is with the complexity as multiple frames are transferred.</a:t>
            </a:r>
          </a:p>
          <a:p>
            <a:pPr lvl="1"/>
            <a:r>
              <a:rPr lang="en-US" dirty="0"/>
              <a:t>The receiver might receive data frames or packets out of sequence.</a:t>
            </a:r>
          </a:p>
          <a:p>
            <a:endParaRPr lang="en-US" dirty="0"/>
          </a:p>
        </p:txBody>
      </p:sp>
    </p:spTree>
    <p:extLst>
      <p:ext uri="{BB962C8B-B14F-4D97-AF65-F5344CB8AC3E}">
        <p14:creationId xmlns:p14="http://schemas.microsoft.com/office/powerpoint/2010/main" val="1080282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3514" y="2312125"/>
            <a:ext cx="10515600" cy="1615747"/>
          </a:xfrm>
        </p:spPr>
        <p:txBody>
          <a:bodyPr>
            <a:normAutofit fontScale="90000"/>
          </a:bodyPr>
          <a:lstStyle/>
          <a:p>
            <a:r>
              <a:rPr lang="en-US" sz="6600" dirty="0"/>
              <a:t>Error Detection and Correction techniques</a:t>
            </a:r>
          </a:p>
        </p:txBody>
      </p:sp>
    </p:spTree>
    <p:extLst>
      <p:ext uri="{BB962C8B-B14F-4D97-AF65-F5344CB8AC3E}">
        <p14:creationId xmlns:p14="http://schemas.microsoft.com/office/powerpoint/2010/main" val="21865739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a:t>
            </a:r>
            <a:endParaRPr lang="en-US" dirty="0"/>
          </a:p>
        </p:txBody>
      </p:sp>
      <p:sp>
        <p:nvSpPr>
          <p:cNvPr id="3" name="Content Placeholder 2"/>
          <p:cNvSpPr>
            <a:spLocks noGrp="1"/>
          </p:cNvSpPr>
          <p:nvPr>
            <p:ph idx="1"/>
          </p:nvPr>
        </p:nvSpPr>
        <p:spPr/>
        <p:txBody>
          <a:bodyPr>
            <a:normAutofit fontScale="92500" lnSpcReduction="10000"/>
          </a:bodyPr>
          <a:lstStyle/>
          <a:p>
            <a:r>
              <a:rPr lang="en-US" dirty="0"/>
              <a:t>When data is transmitted from one device to another device, the system does not guarantee whether the data received by the device is identical to the data transmitted by another device. </a:t>
            </a:r>
            <a:endParaRPr lang="en-US" dirty="0" smtClean="0"/>
          </a:p>
          <a:p>
            <a:r>
              <a:rPr lang="en-US" dirty="0" smtClean="0"/>
              <a:t>An </a:t>
            </a:r>
            <a:r>
              <a:rPr lang="en-US" dirty="0"/>
              <a:t>Error is a situation when the message received at the receiver end is not identical to the message transmitted.</a:t>
            </a:r>
            <a:endParaRPr lang="en-US" dirty="0" smtClean="0"/>
          </a:p>
          <a:p>
            <a:r>
              <a:rPr lang="en-US" dirty="0" smtClean="0"/>
              <a:t>There </a:t>
            </a:r>
            <a:r>
              <a:rPr lang="en-US" dirty="0"/>
              <a:t>are many reasons such as noise, </a:t>
            </a:r>
            <a:r>
              <a:rPr lang="en-US" dirty="0" smtClean="0"/>
              <a:t>cross-talk, physical defects, environmental interferences, etc</a:t>
            </a:r>
            <a:r>
              <a:rPr lang="en-US" dirty="0"/>
              <a:t>., which may help data to get corrupted during transmission</a:t>
            </a:r>
            <a:r>
              <a:rPr lang="en-US" dirty="0" smtClean="0"/>
              <a:t>.</a:t>
            </a:r>
          </a:p>
          <a:p>
            <a:pPr lvl="1"/>
            <a:r>
              <a:rPr lang="en-US" dirty="0"/>
              <a:t>That means a 0 bit may change to 1 or a 1 bit may change to 0.</a:t>
            </a:r>
            <a:endParaRPr lang="en-US" dirty="0" smtClean="0"/>
          </a:p>
          <a:p>
            <a:r>
              <a:rPr lang="en-US" dirty="0" smtClean="0"/>
              <a:t>Types of Errors</a:t>
            </a:r>
          </a:p>
          <a:p>
            <a:pPr lvl="1"/>
            <a:r>
              <a:rPr lang="en-US" dirty="0" smtClean="0"/>
              <a:t>Single Bit Error</a:t>
            </a:r>
          </a:p>
          <a:p>
            <a:pPr lvl="1"/>
            <a:r>
              <a:rPr lang="en-US" dirty="0" smtClean="0"/>
              <a:t>Multiple Bit Error</a:t>
            </a:r>
          </a:p>
          <a:p>
            <a:pPr lvl="1"/>
            <a:r>
              <a:rPr lang="en-US" dirty="0" smtClean="0"/>
              <a:t>Burst Error</a:t>
            </a:r>
            <a:endParaRPr lang="en-US" dirty="0"/>
          </a:p>
        </p:txBody>
      </p:sp>
    </p:spTree>
    <p:extLst>
      <p:ext uri="{BB962C8B-B14F-4D97-AF65-F5344CB8AC3E}">
        <p14:creationId xmlns:p14="http://schemas.microsoft.com/office/powerpoint/2010/main" val="2469275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 Bit Error</a:t>
            </a:r>
            <a:endParaRPr lang="en-US" dirty="0"/>
          </a:p>
        </p:txBody>
      </p:sp>
      <p:sp>
        <p:nvSpPr>
          <p:cNvPr id="3" name="Content Placeholder 2"/>
          <p:cNvSpPr>
            <a:spLocks noGrp="1"/>
          </p:cNvSpPr>
          <p:nvPr>
            <p:ph idx="1"/>
          </p:nvPr>
        </p:nvSpPr>
        <p:spPr/>
        <p:txBody>
          <a:bodyPr/>
          <a:lstStyle/>
          <a:p>
            <a:r>
              <a:rPr lang="en-US" dirty="0"/>
              <a:t>The only one bit of a given data unit is changed from 1 to 0 or from 0 to 1</a:t>
            </a:r>
            <a:r>
              <a:rPr lang="en-US" dirty="0" smtClean="0"/>
              <a:t>.</a:t>
            </a:r>
          </a:p>
          <a:p>
            <a:pPr marL="0" indent="0">
              <a:buNone/>
            </a:pPr>
            <a:endParaRPr lang="en-US" dirty="0"/>
          </a:p>
          <a:p>
            <a:endParaRPr lang="en-US" dirty="0"/>
          </a:p>
        </p:txBody>
      </p:sp>
      <p:pic>
        <p:nvPicPr>
          <p:cNvPr id="1026" name="Picture 2" descr="Single bit err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4980" y="1979975"/>
            <a:ext cx="5305425" cy="1619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21030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Multiple Bit Error</a:t>
            </a:r>
            <a:endParaRPr lang="en-US" dirty="0"/>
          </a:p>
        </p:txBody>
      </p:sp>
      <p:sp>
        <p:nvSpPr>
          <p:cNvPr id="3" name="Content Placeholder 2"/>
          <p:cNvSpPr>
            <a:spLocks noGrp="1"/>
          </p:cNvSpPr>
          <p:nvPr>
            <p:ph idx="1"/>
          </p:nvPr>
        </p:nvSpPr>
        <p:spPr/>
        <p:txBody>
          <a:bodyPr/>
          <a:lstStyle/>
          <a:p>
            <a:r>
              <a:rPr lang="en-US" dirty="0"/>
              <a:t>The two or more bits are changed from 0 to 1 or from 1 to 0 is known as Burst Error.</a:t>
            </a:r>
            <a:endParaRPr lang="en-US" dirty="0" smtClean="0"/>
          </a:p>
          <a:p>
            <a:endParaRPr lang="en-US" dirty="0"/>
          </a:p>
        </p:txBody>
      </p:sp>
      <p:pic>
        <p:nvPicPr>
          <p:cNvPr id="2050" name="Picture 2" descr="brust err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5609" y="2161068"/>
            <a:ext cx="5095694" cy="21274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30542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Burst Bit Error</a:t>
            </a:r>
            <a:endParaRPr lang="en-US" dirty="0"/>
          </a:p>
        </p:txBody>
      </p:sp>
      <p:sp>
        <p:nvSpPr>
          <p:cNvPr id="3" name="Content Placeholder 2"/>
          <p:cNvSpPr>
            <a:spLocks noGrp="1"/>
          </p:cNvSpPr>
          <p:nvPr>
            <p:ph idx="1"/>
          </p:nvPr>
        </p:nvSpPr>
        <p:spPr/>
        <p:txBody>
          <a:bodyPr/>
          <a:lstStyle/>
          <a:p>
            <a:r>
              <a:rPr lang="en-US" dirty="0"/>
              <a:t>The two or more </a:t>
            </a:r>
            <a:r>
              <a:rPr lang="en-US" dirty="0" smtClean="0"/>
              <a:t>consecutive bits </a:t>
            </a:r>
            <a:r>
              <a:rPr lang="en-US" dirty="0"/>
              <a:t>are changed from 0 to 1 or from 1 to 0 is known as Burst Error.</a:t>
            </a:r>
          </a:p>
        </p:txBody>
      </p:sp>
      <p:pic>
        <p:nvPicPr>
          <p:cNvPr id="4" name="Picture 3"/>
          <p:cNvPicPr>
            <a:picLocks noChangeAspect="1"/>
          </p:cNvPicPr>
          <p:nvPr/>
        </p:nvPicPr>
        <p:blipFill>
          <a:blip r:embed="rId2"/>
          <a:stretch>
            <a:fillRect/>
          </a:stretch>
        </p:blipFill>
        <p:spPr>
          <a:xfrm>
            <a:off x="2905125" y="2233204"/>
            <a:ext cx="6381750" cy="2705100"/>
          </a:xfrm>
          <a:prstGeom prst="rect">
            <a:avLst/>
          </a:prstGeom>
        </p:spPr>
      </p:pic>
    </p:spTree>
    <p:extLst>
      <p:ext uri="{BB962C8B-B14F-4D97-AF65-F5344CB8AC3E}">
        <p14:creationId xmlns:p14="http://schemas.microsoft.com/office/powerpoint/2010/main" val="26335306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Redundancy</a:t>
            </a:r>
            <a:endParaRPr lang="en-US" dirty="0"/>
          </a:p>
        </p:txBody>
      </p:sp>
      <p:sp>
        <p:nvSpPr>
          <p:cNvPr id="3" name="Content Placeholder 2"/>
          <p:cNvSpPr>
            <a:spLocks noGrp="1"/>
          </p:cNvSpPr>
          <p:nvPr>
            <p:ph idx="1"/>
          </p:nvPr>
        </p:nvSpPr>
        <p:spPr/>
        <p:txBody>
          <a:bodyPr/>
          <a:lstStyle/>
          <a:p>
            <a:r>
              <a:rPr lang="en-US" dirty="0"/>
              <a:t>In this concept a shorter group of bits may be appended to the end of each data unit before the transmission and they are discarded as soon as accuracy of the transmission has been confirmed.</a:t>
            </a:r>
          </a:p>
        </p:txBody>
      </p:sp>
    </p:spTree>
    <p:extLst>
      <p:ext uri="{BB962C8B-B14F-4D97-AF65-F5344CB8AC3E}">
        <p14:creationId xmlns:p14="http://schemas.microsoft.com/office/powerpoint/2010/main" val="142062730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Error Detection Techniques</a:t>
            </a:r>
          </a:p>
        </p:txBody>
      </p:sp>
      <p:sp>
        <p:nvSpPr>
          <p:cNvPr id="3" name="Content Placeholder 2"/>
          <p:cNvSpPr>
            <a:spLocks noGrp="1"/>
          </p:cNvSpPr>
          <p:nvPr>
            <p:ph idx="1"/>
          </p:nvPr>
        </p:nvSpPr>
        <p:spPr/>
        <p:txBody>
          <a:bodyPr/>
          <a:lstStyle/>
          <a:p>
            <a:r>
              <a:rPr lang="en-US" dirty="0" smtClean="0"/>
              <a:t>Types </a:t>
            </a:r>
            <a:r>
              <a:rPr lang="en-US" dirty="0"/>
              <a:t>of error detection </a:t>
            </a:r>
            <a:r>
              <a:rPr lang="en-US" dirty="0" smtClean="0"/>
              <a:t>techniques:</a:t>
            </a:r>
            <a:endParaRPr lang="en-US" dirty="0"/>
          </a:p>
          <a:p>
            <a:pPr lvl="1"/>
            <a:r>
              <a:rPr lang="en-US" dirty="0"/>
              <a:t>Parity check</a:t>
            </a:r>
          </a:p>
          <a:p>
            <a:pPr lvl="1"/>
            <a:r>
              <a:rPr lang="en-US" dirty="0"/>
              <a:t>Cyclic Redundancy Check</a:t>
            </a:r>
          </a:p>
          <a:p>
            <a:pPr lvl="1"/>
            <a:r>
              <a:rPr lang="en-US" dirty="0"/>
              <a:t>Checksum</a:t>
            </a:r>
          </a:p>
          <a:p>
            <a:endParaRPr lang="en-US" dirty="0"/>
          </a:p>
        </p:txBody>
      </p:sp>
    </p:spTree>
    <p:extLst>
      <p:ext uri="{BB962C8B-B14F-4D97-AF65-F5344CB8AC3E}">
        <p14:creationId xmlns:p14="http://schemas.microsoft.com/office/powerpoint/2010/main" val="388792534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Parity Checking</a:t>
            </a:r>
            <a:endParaRPr lang="en-US" dirty="0"/>
          </a:p>
        </p:txBody>
      </p:sp>
      <p:sp>
        <p:nvSpPr>
          <p:cNvPr id="3" name="Content Placeholder 2"/>
          <p:cNvSpPr>
            <a:spLocks noGrp="1"/>
          </p:cNvSpPr>
          <p:nvPr>
            <p:ph idx="1"/>
          </p:nvPr>
        </p:nvSpPr>
        <p:spPr/>
        <p:txBody>
          <a:bodyPr/>
          <a:lstStyle/>
          <a:p>
            <a:r>
              <a:rPr lang="en-US" b="1" i="1" dirty="0"/>
              <a:t>Parity checking</a:t>
            </a:r>
            <a:r>
              <a:rPr lang="en-US" dirty="0"/>
              <a:t> is a simple error detection method used with character oriented protocols. </a:t>
            </a:r>
            <a:endParaRPr lang="en-US" dirty="0" smtClean="0"/>
          </a:p>
          <a:p>
            <a:r>
              <a:rPr lang="en-US" dirty="0" smtClean="0"/>
              <a:t>There </a:t>
            </a:r>
            <a:r>
              <a:rPr lang="en-US" dirty="0"/>
              <a:t> are two types of parity checking techniques, such as </a:t>
            </a:r>
            <a:r>
              <a:rPr lang="en-US" b="1" dirty="0"/>
              <a:t>Even parity</a:t>
            </a:r>
            <a:r>
              <a:rPr lang="en-US" dirty="0"/>
              <a:t> and </a:t>
            </a:r>
            <a:r>
              <a:rPr lang="en-US" b="1" dirty="0"/>
              <a:t>Odd parity.</a:t>
            </a:r>
            <a:r>
              <a:rPr lang="en-US" dirty="0"/>
              <a:t> </a:t>
            </a:r>
            <a:endParaRPr lang="en-US" dirty="0" smtClean="0"/>
          </a:p>
          <a:p>
            <a:r>
              <a:rPr lang="en-US" dirty="0" smtClean="0"/>
              <a:t>One </a:t>
            </a:r>
            <a:r>
              <a:rPr lang="en-US" dirty="0"/>
              <a:t>bit in every character bit sequence is reserved for parity.</a:t>
            </a:r>
          </a:p>
        </p:txBody>
      </p:sp>
    </p:spTree>
    <p:extLst>
      <p:ext uri="{BB962C8B-B14F-4D97-AF65-F5344CB8AC3E}">
        <p14:creationId xmlns:p14="http://schemas.microsoft.com/office/powerpoint/2010/main" val="29028078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Parity Checking: EVEN Parity</a:t>
            </a:r>
            <a:endParaRPr lang="en-US" dirty="0"/>
          </a:p>
        </p:txBody>
      </p:sp>
      <p:sp>
        <p:nvSpPr>
          <p:cNvPr id="3" name="Content Placeholder 2"/>
          <p:cNvSpPr>
            <a:spLocks noGrp="1"/>
          </p:cNvSpPr>
          <p:nvPr>
            <p:ph idx="1"/>
          </p:nvPr>
        </p:nvSpPr>
        <p:spPr/>
        <p:txBody>
          <a:bodyPr/>
          <a:lstStyle/>
          <a:p>
            <a:r>
              <a:rPr lang="en-US" b="1" dirty="0"/>
              <a:t>In even parity</a:t>
            </a:r>
            <a:r>
              <a:rPr lang="en-US" dirty="0"/>
              <a:t>, the number of bits with a value of one are counted. </a:t>
            </a:r>
            <a:endParaRPr lang="en-US" dirty="0" smtClean="0"/>
          </a:p>
          <a:p>
            <a:r>
              <a:rPr lang="en-US" dirty="0" smtClean="0"/>
              <a:t>If </a:t>
            </a:r>
            <a:r>
              <a:rPr lang="en-US" dirty="0"/>
              <a:t>that number is odd, the parity bit value is set to one to make the total number of ones in the set (including the parity bit) an even number. </a:t>
            </a:r>
            <a:endParaRPr lang="en-US" dirty="0" smtClean="0"/>
          </a:p>
          <a:p>
            <a:r>
              <a:rPr lang="en-US" dirty="0" smtClean="0"/>
              <a:t>If </a:t>
            </a:r>
            <a:r>
              <a:rPr lang="en-US" dirty="0"/>
              <a:t>the number of bits with a value of one is even, the parity bit value is set to zero, so that the total number of ones in the set (including the parity bit) remains an even number.</a:t>
            </a:r>
          </a:p>
          <a:p>
            <a:endParaRPr lang="en-US" dirty="0"/>
          </a:p>
        </p:txBody>
      </p:sp>
    </p:spTree>
    <p:extLst>
      <p:ext uri="{BB962C8B-B14F-4D97-AF65-F5344CB8AC3E}">
        <p14:creationId xmlns:p14="http://schemas.microsoft.com/office/powerpoint/2010/main" val="392755842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Parity Checking: ODD Parity</a:t>
            </a:r>
            <a:endParaRPr lang="en-US" dirty="0"/>
          </a:p>
        </p:txBody>
      </p:sp>
      <p:sp>
        <p:nvSpPr>
          <p:cNvPr id="3" name="Content Placeholder 2"/>
          <p:cNvSpPr>
            <a:spLocks noGrp="1"/>
          </p:cNvSpPr>
          <p:nvPr>
            <p:ph idx="1"/>
          </p:nvPr>
        </p:nvSpPr>
        <p:spPr/>
        <p:txBody>
          <a:bodyPr/>
          <a:lstStyle/>
          <a:p>
            <a:r>
              <a:rPr lang="en-US" b="1" dirty="0"/>
              <a:t>In odd parity</a:t>
            </a:r>
            <a:r>
              <a:rPr lang="en-US" dirty="0"/>
              <a:t>, if the number of bits with a value of one is an even number, the parity bit value is set to one to make the total number of ones in the set (including the parity bit) an odd number. </a:t>
            </a:r>
            <a:endParaRPr lang="en-US" dirty="0" smtClean="0"/>
          </a:p>
          <a:p>
            <a:r>
              <a:rPr lang="en-US" dirty="0" smtClean="0"/>
              <a:t>If </a:t>
            </a:r>
            <a:r>
              <a:rPr lang="en-US" dirty="0"/>
              <a:t>the number of bits with a value of one is odd, the parity bit value is set to zero, so that the total number of ones in the set (including the parity bit) remains an odd number.</a:t>
            </a:r>
          </a:p>
        </p:txBody>
      </p:sp>
    </p:spTree>
    <p:extLst>
      <p:ext uri="{BB962C8B-B14F-4D97-AF65-F5344CB8AC3E}">
        <p14:creationId xmlns:p14="http://schemas.microsoft.com/office/powerpoint/2010/main" val="364578734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Parity Checking</a:t>
            </a:r>
            <a:endParaRPr lang="en-US" dirty="0"/>
          </a:p>
        </p:txBody>
      </p:sp>
      <p:sp>
        <p:nvSpPr>
          <p:cNvPr id="3" name="Content Placeholder 2"/>
          <p:cNvSpPr>
            <a:spLocks noGrp="1"/>
          </p:cNvSpPr>
          <p:nvPr>
            <p:ph idx="1"/>
          </p:nvPr>
        </p:nvSpPr>
        <p:spPr/>
        <p:txBody>
          <a:bodyPr>
            <a:normAutofit fontScale="92500" lnSpcReduction="20000"/>
          </a:bodyPr>
          <a:lstStyle/>
          <a:p>
            <a:r>
              <a:rPr lang="en-US" dirty="0"/>
              <a:t>At the receiving end, each group of incoming bits is checked to see if the group totals to an even or odd number. </a:t>
            </a:r>
            <a:endParaRPr lang="en-US" dirty="0" smtClean="0"/>
          </a:p>
          <a:p>
            <a:r>
              <a:rPr lang="en-US" dirty="0" smtClean="0"/>
              <a:t>The </a:t>
            </a:r>
            <a:r>
              <a:rPr lang="en-US" dirty="0"/>
              <a:t>receiver simply counts the number of 1s in a frame. </a:t>
            </a:r>
            <a:endParaRPr lang="en-US" dirty="0" smtClean="0"/>
          </a:p>
          <a:p>
            <a:r>
              <a:rPr lang="en-US" dirty="0" smtClean="0"/>
              <a:t>If </a:t>
            </a:r>
            <a:r>
              <a:rPr lang="en-US" dirty="0"/>
              <a:t>the count of 1s is even and even parity is used, the frame is considered to be not-corrupted and is accepted. </a:t>
            </a:r>
            <a:endParaRPr lang="en-US" dirty="0" smtClean="0"/>
          </a:p>
          <a:p>
            <a:r>
              <a:rPr lang="en-US" dirty="0" smtClean="0"/>
              <a:t>If </a:t>
            </a:r>
            <a:r>
              <a:rPr lang="en-US" dirty="0"/>
              <a:t>the count of 1s is odd and odd parity is used, the frame is still not corrupted.</a:t>
            </a:r>
          </a:p>
          <a:p>
            <a:r>
              <a:rPr lang="en-US" dirty="0"/>
              <a:t>If a single bit flips in transit, the receiver can detect it by counting the number of 1s. </a:t>
            </a:r>
            <a:endParaRPr lang="en-US" dirty="0" smtClean="0"/>
          </a:p>
          <a:p>
            <a:r>
              <a:rPr lang="en-US" dirty="0" smtClean="0"/>
              <a:t>But </a:t>
            </a:r>
            <a:r>
              <a:rPr lang="en-US" dirty="0"/>
              <a:t>when more than one bits are </a:t>
            </a:r>
            <a:r>
              <a:rPr lang="en-US" dirty="0" smtClean="0"/>
              <a:t>erroneous</a:t>
            </a:r>
            <a:r>
              <a:rPr lang="en-US" dirty="0"/>
              <a:t>, then it is very hard for the receiver to detect the error</a:t>
            </a:r>
            <a:r>
              <a:rPr lang="en-US" dirty="0" smtClean="0"/>
              <a:t>.</a:t>
            </a:r>
          </a:p>
          <a:p>
            <a:r>
              <a:rPr lang="en-US" dirty="0"/>
              <a:t>If a transmission error occurs, the transmission is retried or the system halts and an </a:t>
            </a:r>
            <a:r>
              <a:rPr lang="en-US" u="sng" dirty="0">
                <a:hlinkClick r:id="rId2"/>
              </a:rPr>
              <a:t>error</a:t>
            </a:r>
            <a:r>
              <a:rPr lang="en-US" dirty="0"/>
              <a:t> message is sent to the user</a:t>
            </a:r>
            <a:r>
              <a:rPr lang="en-US" dirty="0" smtClean="0"/>
              <a:t>.</a:t>
            </a:r>
            <a:endParaRPr lang="en-US" dirty="0"/>
          </a:p>
        </p:txBody>
      </p:sp>
    </p:spTree>
    <p:extLst>
      <p:ext uri="{BB962C8B-B14F-4D97-AF65-F5344CB8AC3E}">
        <p14:creationId xmlns:p14="http://schemas.microsoft.com/office/powerpoint/2010/main" val="219609916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Parity Checking</a:t>
            </a:r>
            <a:endParaRPr lang="en-US" dirty="0"/>
          </a:p>
        </p:txBody>
      </p:sp>
      <p:pic>
        <p:nvPicPr>
          <p:cNvPr id="4" name="Content Placeholder 3"/>
          <p:cNvPicPr>
            <a:picLocks noGrp="1" noChangeAspect="1"/>
          </p:cNvPicPr>
          <p:nvPr>
            <p:ph idx="1"/>
          </p:nvPr>
        </p:nvPicPr>
        <p:blipFill>
          <a:blip r:embed="rId2"/>
          <a:stretch>
            <a:fillRect/>
          </a:stretch>
        </p:blipFill>
        <p:spPr>
          <a:xfrm>
            <a:off x="1953830" y="1410789"/>
            <a:ext cx="8284339" cy="3897811"/>
          </a:xfrm>
          <a:prstGeom prst="rect">
            <a:avLst/>
          </a:prstGeom>
        </p:spPr>
      </p:pic>
    </p:spTree>
    <p:extLst>
      <p:ext uri="{BB962C8B-B14F-4D97-AF65-F5344CB8AC3E}">
        <p14:creationId xmlns:p14="http://schemas.microsoft.com/office/powerpoint/2010/main" val="54672291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Parity Checking</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61359" y="1197735"/>
            <a:ext cx="5669281" cy="4974794"/>
          </a:xfrm>
        </p:spPr>
      </p:pic>
    </p:spTree>
    <p:extLst>
      <p:ext uri="{BB962C8B-B14F-4D97-AF65-F5344CB8AC3E}">
        <p14:creationId xmlns:p14="http://schemas.microsoft.com/office/powerpoint/2010/main" val="12526178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Checksum</a:t>
            </a:r>
            <a:endParaRPr lang="en-US" dirty="0"/>
          </a:p>
        </p:txBody>
      </p:sp>
      <p:sp>
        <p:nvSpPr>
          <p:cNvPr id="3" name="Content Placeholder 2"/>
          <p:cNvSpPr>
            <a:spLocks noGrp="1"/>
          </p:cNvSpPr>
          <p:nvPr>
            <p:ph idx="1"/>
          </p:nvPr>
        </p:nvSpPr>
        <p:spPr/>
        <p:txBody>
          <a:bodyPr/>
          <a:lstStyle/>
          <a:p>
            <a:r>
              <a:rPr lang="en-US" dirty="0" smtClean="0"/>
              <a:t>Checksum is also one of the error detection code.</a:t>
            </a:r>
          </a:p>
          <a:p>
            <a:r>
              <a:rPr lang="en-US" dirty="0" smtClean="0"/>
              <a:t>By </a:t>
            </a:r>
            <a:r>
              <a:rPr lang="en-US" dirty="0"/>
              <a:t>themselves, checksums are often used to verify data integrity but are not relied upon to verify data authenticity</a:t>
            </a:r>
            <a:r>
              <a:rPr lang="en-US" dirty="0" smtClean="0"/>
              <a:t>.</a:t>
            </a:r>
          </a:p>
          <a:p>
            <a:r>
              <a:rPr lang="en-US" dirty="0"/>
              <a:t> In other words, it is a sum that checks the validity of data. </a:t>
            </a:r>
            <a:endParaRPr lang="en-US" dirty="0" smtClean="0"/>
          </a:p>
          <a:p>
            <a:r>
              <a:rPr lang="en-US" dirty="0"/>
              <a:t>Some common applications include </a:t>
            </a:r>
            <a:r>
              <a:rPr lang="en-US" dirty="0">
                <a:solidFill>
                  <a:srgbClr val="00B0F0"/>
                </a:solidFill>
              </a:rPr>
              <a:t>verifying a disk image </a:t>
            </a:r>
            <a:r>
              <a:rPr lang="en-US" dirty="0"/>
              <a:t>or </a:t>
            </a:r>
            <a:r>
              <a:rPr lang="en-US" dirty="0">
                <a:solidFill>
                  <a:srgbClr val="00B050"/>
                </a:solidFill>
              </a:rPr>
              <a:t>checking the integrity of a downloaded file</a:t>
            </a:r>
            <a:r>
              <a:rPr lang="en-US" dirty="0"/>
              <a:t>.</a:t>
            </a:r>
          </a:p>
        </p:txBody>
      </p:sp>
    </p:spTree>
    <p:extLst>
      <p:ext uri="{BB962C8B-B14F-4D97-AF65-F5344CB8AC3E}">
        <p14:creationId xmlns:p14="http://schemas.microsoft.com/office/powerpoint/2010/main" val="93984610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Checksum</a:t>
            </a:r>
            <a:endParaRPr lang="en-US" dirty="0"/>
          </a:p>
        </p:txBody>
      </p:sp>
      <p:sp>
        <p:nvSpPr>
          <p:cNvPr id="3" name="Content Placeholder 2"/>
          <p:cNvSpPr>
            <a:spLocks noGrp="1"/>
          </p:cNvSpPr>
          <p:nvPr>
            <p:ph idx="1"/>
          </p:nvPr>
        </p:nvSpPr>
        <p:spPr/>
        <p:txBody>
          <a:bodyPr/>
          <a:lstStyle/>
          <a:p>
            <a:r>
              <a:rPr lang="en-US" dirty="0"/>
              <a:t>You can use checksums to check files and other data for errors that occur during transmission or storage. </a:t>
            </a:r>
            <a:endParaRPr lang="en-US" dirty="0" smtClean="0"/>
          </a:p>
          <a:p>
            <a:r>
              <a:rPr lang="en-US" dirty="0" smtClean="0"/>
              <a:t>For </a:t>
            </a:r>
            <a:r>
              <a:rPr lang="en-US" dirty="0"/>
              <a:t>example, a file might not have properly downloaded due to network issues, or hard drive problems could have caused corruption in a file on disk</a:t>
            </a:r>
            <a:r>
              <a:rPr lang="en-US" dirty="0" smtClean="0"/>
              <a:t>.</a:t>
            </a:r>
          </a:p>
          <a:p>
            <a:r>
              <a:rPr lang="en-US" dirty="0"/>
              <a:t>If you know the checksum of the original file, you can run a checksum or hashing utility on it. </a:t>
            </a:r>
            <a:endParaRPr lang="en-US" dirty="0" smtClean="0"/>
          </a:p>
          <a:p>
            <a:r>
              <a:rPr lang="en-US" dirty="0" smtClean="0"/>
              <a:t>If </a:t>
            </a:r>
            <a:r>
              <a:rPr lang="en-US" dirty="0"/>
              <a:t>the resulting checksum matches, you know the file you have is identical.</a:t>
            </a:r>
          </a:p>
        </p:txBody>
      </p:sp>
    </p:spTree>
    <p:extLst>
      <p:ext uri="{BB962C8B-B14F-4D97-AF65-F5344CB8AC3E}">
        <p14:creationId xmlns:p14="http://schemas.microsoft.com/office/powerpoint/2010/main" val="220629409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Checksum: Process</a:t>
            </a:r>
            <a:endParaRPr lang="en-US" dirty="0"/>
          </a:p>
        </p:txBody>
      </p:sp>
      <p:sp>
        <p:nvSpPr>
          <p:cNvPr id="3" name="Content Placeholder 2"/>
          <p:cNvSpPr>
            <a:spLocks noGrp="1"/>
          </p:cNvSpPr>
          <p:nvPr>
            <p:ph idx="1"/>
          </p:nvPr>
        </p:nvSpPr>
        <p:spPr/>
        <p:txBody>
          <a:bodyPr/>
          <a:lstStyle/>
          <a:p>
            <a:r>
              <a:rPr lang="en-US" dirty="0" smtClean="0"/>
              <a:t>Steps:</a:t>
            </a:r>
          </a:p>
          <a:p>
            <a:pPr lvl="1"/>
            <a:r>
              <a:rPr lang="en-US" dirty="0" smtClean="0"/>
              <a:t>Data </a:t>
            </a:r>
            <a:r>
              <a:rPr lang="en-US" dirty="0"/>
              <a:t>is divided into fixed sized frames or segments. (k segments each of m bits) </a:t>
            </a:r>
            <a:endParaRPr lang="en-US" dirty="0" smtClean="0"/>
          </a:p>
          <a:p>
            <a:pPr lvl="1"/>
            <a:r>
              <a:rPr lang="en-US" dirty="0" smtClean="0"/>
              <a:t>The </a:t>
            </a:r>
            <a:r>
              <a:rPr lang="en-US" dirty="0"/>
              <a:t>sender adds the segments using 1’s complement arithmetic to get the sum. </a:t>
            </a:r>
            <a:endParaRPr lang="en-US" dirty="0" smtClean="0"/>
          </a:p>
          <a:p>
            <a:pPr lvl="1"/>
            <a:r>
              <a:rPr lang="en-US" dirty="0" smtClean="0"/>
              <a:t>It </a:t>
            </a:r>
            <a:r>
              <a:rPr lang="en-US" dirty="0"/>
              <a:t>then complements the sum to get the checksum and sends it along with the data frames. </a:t>
            </a:r>
            <a:endParaRPr lang="en-US" dirty="0" smtClean="0"/>
          </a:p>
          <a:p>
            <a:pPr lvl="1"/>
            <a:r>
              <a:rPr lang="en-US" dirty="0" smtClean="0"/>
              <a:t>The </a:t>
            </a:r>
            <a:r>
              <a:rPr lang="en-US" dirty="0"/>
              <a:t>receiver adds the incoming segments along with the checksum using 1’s complement arithmetic to get the sum and then complements it. </a:t>
            </a:r>
            <a:endParaRPr lang="en-US" dirty="0" smtClean="0"/>
          </a:p>
          <a:p>
            <a:pPr lvl="1"/>
            <a:r>
              <a:rPr lang="en-US" dirty="0" smtClean="0"/>
              <a:t>If </a:t>
            </a:r>
            <a:r>
              <a:rPr lang="en-US" dirty="0"/>
              <a:t>the result is zero, the received frames are accepted; otherwise, they are discarded.</a:t>
            </a:r>
          </a:p>
        </p:txBody>
      </p:sp>
    </p:spTree>
    <p:extLst>
      <p:ext uri="{BB962C8B-B14F-4D97-AF65-F5344CB8AC3E}">
        <p14:creationId xmlns:p14="http://schemas.microsoft.com/office/powerpoint/2010/main" val="133229935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Checksum: Example</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11617" y="1336697"/>
            <a:ext cx="5168766" cy="4803006"/>
          </a:xfrm>
        </p:spPr>
      </p:pic>
    </p:spTree>
    <p:extLst>
      <p:ext uri="{BB962C8B-B14F-4D97-AF65-F5344CB8AC3E}">
        <p14:creationId xmlns:p14="http://schemas.microsoft.com/office/powerpoint/2010/main" val="206805460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Redundancy</a:t>
            </a: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244305623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Cyclic Redundancy Check</a:t>
            </a:r>
          </a:p>
        </p:txBody>
      </p:sp>
      <p:sp>
        <p:nvSpPr>
          <p:cNvPr id="3" name="Content Placeholder 2"/>
          <p:cNvSpPr>
            <a:spLocks noGrp="1"/>
          </p:cNvSpPr>
          <p:nvPr>
            <p:ph idx="1"/>
          </p:nvPr>
        </p:nvSpPr>
        <p:spPr/>
        <p:txBody>
          <a:bodyPr>
            <a:normAutofit fontScale="92500" lnSpcReduction="10000"/>
          </a:bodyPr>
          <a:lstStyle/>
          <a:p>
            <a:r>
              <a:rPr lang="en-US" dirty="0" smtClean="0"/>
              <a:t>A </a:t>
            </a:r>
            <a:r>
              <a:rPr lang="en-US" dirty="0"/>
              <a:t>cyclic redundancy check (CRC) is an error-detecting code commonly used in digital networks and </a:t>
            </a:r>
            <a:r>
              <a:rPr lang="en-US" dirty="0" smtClean="0"/>
              <a:t>storage devices </a:t>
            </a:r>
            <a:r>
              <a:rPr lang="en-US" dirty="0"/>
              <a:t>to detect accidental changes to raw data. </a:t>
            </a:r>
            <a:endParaRPr lang="en-US" dirty="0" smtClean="0"/>
          </a:p>
          <a:p>
            <a:r>
              <a:rPr lang="en-US" dirty="0" smtClean="0"/>
              <a:t>Unlike </a:t>
            </a:r>
            <a:r>
              <a:rPr lang="en-US" dirty="0"/>
              <a:t>checksum scheme, which is based on </a:t>
            </a:r>
            <a:r>
              <a:rPr lang="en-US" dirty="0" smtClean="0"/>
              <a:t>addition, CRC </a:t>
            </a:r>
            <a:r>
              <a:rPr lang="en-US" dirty="0"/>
              <a:t>is based on binary division. </a:t>
            </a:r>
            <a:endParaRPr lang="en-US" dirty="0" smtClean="0"/>
          </a:p>
          <a:p>
            <a:r>
              <a:rPr lang="en-US" dirty="0" smtClean="0"/>
              <a:t>In </a:t>
            </a:r>
            <a:r>
              <a:rPr lang="en-US" dirty="0"/>
              <a:t>CRC, a sequence of redundant bits, called cyclic redundancy check </a:t>
            </a:r>
            <a:r>
              <a:rPr lang="en-US" dirty="0" smtClean="0"/>
              <a:t>bits, are </a:t>
            </a:r>
            <a:r>
              <a:rPr lang="en-US" dirty="0"/>
              <a:t>appended to the end of data unit so that the resulting data unit becomes exactly divisible by a </a:t>
            </a:r>
            <a:r>
              <a:rPr lang="en-US" dirty="0" smtClean="0"/>
              <a:t>second, predetermined </a:t>
            </a:r>
            <a:r>
              <a:rPr lang="en-US" dirty="0"/>
              <a:t>binary number. </a:t>
            </a:r>
            <a:endParaRPr lang="en-US" dirty="0" smtClean="0"/>
          </a:p>
          <a:p>
            <a:r>
              <a:rPr lang="en-US" dirty="0" smtClean="0"/>
              <a:t>At </a:t>
            </a:r>
            <a:r>
              <a:rPr lang="en-US" dirty="0"/>
              <a:t>the destination, the incoming data unit is divided by the same number.</a:t>
            </a:r>
          </a:p>
          <a:p>
            <a:pPr lvl="1"/>
            <a:r>
              <a:rPr lang="en-US" dirty="0"/>
              <a:t>If at this step there is no remainder, the data unit is assumed to be correct and is therefore accepted. </a:t>
            </a:r>
            <a:endParaRPr lang="en-US" dirty="0" smtClean="0"/>
          </a:p>
          <a:p>
            <a:pPr lvl="1"/>
            <a:r>
              <a:rPr lang="en-US" dirty="0" smtClean="0"/>
              <a:t>A remainder </a:t>
            </a:r>
            <a:r>
              <a:rPr lang="en-US" dirty="0"/>
              <a:t>indicates that the data unit has been damaged in transit and therefore must be rejected.</a:t>
            </a:r>
          </a:p>
        </p:txBody>
      </p:sp>
    </p:spTree>
    <p:extLst>
      <p:ext uri="{BB962C8B-B14F-4D97-AF65-F5344CB8AC3E}">
        <p14:creationId xmlns:p14="http://schemas.microsoft.com/office/powerpoint/2010/main" val="128682771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CRC</a:t>
            </a:r>
            <a:endParaRPr lang="en-US" dirty="0"/>
          </a:p>
        </p:txBody>
      </p:sp>
      <p:sp>
        <p:nvSpPr>
          <p:cNvPr id="3" name="Content Placeholder 2"/>
          <p:cNvSpPr>
            <a:spLocks noGrp="1"/>
          </p:cNvSpPr>
          <p:nvPr>
            <p:ph idx="1"/>
          </p:nvPr>
        </p:nvSpPr>
        <p:spPr/>
        <p:txBody>
          <a:bodyPr/>
          <a:lstStyle/>
          <a:p>
            <a:r>
              <a:rPr lang="en-US" dirty="0"/>
              <a:t>The exact number of extra bits and their makeup depends on a generating polynomial. </a:t>
            </a:r>
            <a:endParaRPr lang="en-US" dirty="0" smtClean="0"/>
          </a:p>
          <a:p>
            <a:r>
              <a:rPr lang="en-US" dirty="0" smtClean="0"/>
              <a:t>For </a:t>
            </a:r>
            <a:r>
              <a:rPr lang="en-US" dirty="0"/>
              <a:t>example one such polynomial is: x</a:t>
            </a:r>
            <a:r>
              <a:rPr lang="en-US" baseline="30000" dirty="0"/>
              <a:t>4 </a:t>
            </a:r>
            <a:r>
              <a:rPr lang="en-US" dirty="0" smtClean="0"/>
              <a:t>+</a:t>
            </a:r>
            <a:r>
              <a:rPr lang="en-US" dirty="0"/>
              <a:t>x</a:t>
            </a:r>
            <a:r>
              <a:rPr lang="en-US" baseline="30000" dirty="0"/>
              <a:t>2</a:t>
            </a:r>
            <a:r>
              <a:rPr lang="en-US" dirty="0"/>
              <a:t> +x +</a:t>
            </a:r>
            <a:r>
              <a:rPr lang="en-US" dirty="0" smtClean="0"/>
              <a:t>1</a:t>
            </a:r>
          </a:p>
          <a:p>
            <a:r>
              <a:rPr lang="en-US" dirty="0" smtClean="0"/>
              <a:t>A </a:t>
            </a:r>
            <a:r>
              <a:rPr lang="en-US" dirty="0"/>
              <a:t>Standard Generating Polynomial - CRC(CCITT) </a:t>
            </a:r>
            <a:endParaRPr lang="en-US" dirty="0" smtClean="0"/>
          </a:p>
          <a:p>
            <a:r>
              <a:rPr lang="en-US" dirty="0" smtClean="0"/>
              <a:t>The </a:t>
            </a:r>
            <a:r>
              <a:rPr lang="en-US" dirty="0"/>
              <a:t>number of CRC bits corresponds to the order of the generating polynomial. </a:t>
            </a:r>
            <a:endParaRPr lang="en-US" dirty="0" smtClean="0"/>
          </a:p>
          <a:p>
            <a:r>
              <a:rPr lang="en-US" dirty="0" smtClean="0"/>
              <a:t>The </a:t>
            </a:r>
            <a:r>
              <a:rPr lang="en-US" dirty="0"/>
              <a:t>above polynomial of order </a:t>
            </a:r>
            <a:r>
              <a:rPr lang="en-US" dirty="0" smtClean="0"/>
              <a:t>4 </a:t>
            </a:r>
            <a:r>
              <a:rPr lang="en-US" dirty="0"/>
              <a:t>generates a </a:t>
            </a:r>
            <a:r>
              <a:rPr lang="en-US" dirty="0" smtClean="0"/>
              <a:t>4-bit </a:t>
            </a:r>
            <a:r>
              <a:rPr lang="en-US" dirty="0"/>
              <a:t>CRC. </a:t>
            </a:r>
            <a:endParaRPr lang="en-US" dirty="0" smtClean="0"/>
          </a:p>
          <a:p>
            <a:r>
              <a:rPr lang="en-US" dirty="0" smtClean="0"/>
              <a:t>Typically</a:t>
            </a:r>
            <a:r>
              <a:rPr lang="en-US" dirty="0"/>
              <a:t>, the CRC bits are used for error detection only. </a:t>
            </a:r>
          </a:p>
        </p:txBody>
      </p:sp>
    </p:spTree>
    <p:extLst>
      <p:ext uri="{BB962C8B-B14F-4D97-AF65-F5344CB8AC3E}">
        <p14:creationId xmlns:p14="http://schemas.microsoft.com/office/powerpoint/2010/main" val="257580626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CRC</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83717" y="1483950"/>
            <a:ext cx="6224566" cy="4217804"/>
          </a:xfrm>
        </p:spPr>
      </p:pic>
    </p:spTree>
    <p:extLst>
      <p:ext uri="{BB962C8B-B14F-4D97-AF65-F5344CB8AC3E}">
        <p14:creationId xmlns:p14="http://schemas.microsoft.com/office/powerpoint/2010/main" val="91495779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CRC</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00727" y="1300163"/>
            <a:ext cx="6190546" cy="4902200"/>
          </a:xfrm>
        </p:spPr>
      </p:pic>
    </p:spTree>
    <p:extLst>
      <p:ext uri="{BB962C8B-B14F-4D97-AF65-F5344CB8AC3E}">
        <p14:creationId xmlns:p14="http://schemas.microsoft.com/office/powerpoint/2010/main" val="322087801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Hamming Code</a:t>
            </a:r>
            <a:endParaRPr lang="en-US" dirty="0"/>
          </a:p>
        </p:txBody>
      </p:sp>
      <p:sp>
        <p:nvSpPr>
          <p:cNvPr id="3" name="Content Placeholder 2"/>
          <p:cNvSpPr>
            <a:spLocks noGrp="1"/>
          </p:cNvSpPr>
          <p:nvPr>
            <p:ph idx="1"/>
          </p:nvPr>
        </p:nvSpPr>
        <p:spPr/>
        <p:txBody>
          <a:bodyPr/>
          <a:lstStyle/>
          <a:p>
            <a:r>
              <a:rPr lang="en-US" dirty="0"/>
              <a:t>Hamming code is a set of error-correction codes that can be used to detect and correct the errors that can occur when the data is moved or stored from the sender to the receiver. </a:t>
            </a:r>
            <a:endParaRPr lang="en-US" dirty="0" smtClean="0"/>
          </a:p>
          <a:p>
            <a:r>
              <a:rPr lang="en-US" dirty="0" smtClean="0"/>
              <a:t>It </a:t>
            </a:r>
            <a:r>
              <a:rPr lang="en-US" dirty="0"/>
              <a:t>is technique developed by R.W. Hamming </a:t>
            </a:r>
            <a:r>
              <a:rPr lang="en-US" dirty="0" smtClean="0"/>
              <a:t>in 1950 for </a:t>
            </a:r>
            <a:r>
              <a:rPr lang="en-US" dirty="0"/>
              <a:t>error correction</a:t>
            </a:r>
            <a:r>
              <a:rPr lang="en-US" dirty="0" smtClean="0"/>
              <a:t>.</a:t>
            </a:r>
          </a:p>
          <a:p>
            <a:r>
              <a:rPr lang="en-US" dirty="0"/>
              <a:t>Hamming codes detect 1-bit and 2-bit errors.</a:t>
            </a:r>
          </a:p>
        </p:txBody>
      </p:sp>
    </p:spTree>
    <p:extLst>
      <p:ext uri="{BB962C8B-B14F-4D97-AF65-F5344CB8AC3E}">
        <p14:creationId xmlns:p14="http://schemas.microsoft.com/office/powerpoint/2010/main" val="178129241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Hamming Code</a:t>
            </a:r>
            <a:endParaRPr lang="en-US" dirty="0"/>
          </a:p>
        </p:txBody>
      </p:sp>
      <p:sp>
        <p:nvSpPr>
          <p:cNvPr id="3" name="Content Placeholder 2"/>
          <p:cNvSpPr>
            <a:spLocks noGrp="1"/>
          </p:cNvSpPr>
          <p:nvPr>
            <p:ph idx="1"/>
          </p:nvPr>
        </p:nvSpPr>
        <p:spPr/>
        <p:txBody>
          <a:bodyPr/>
          <a:lstStyle/>
          <a:p>
            <a:r>
              <a:rPr lang="en-US" dirty="0"/>
              <a:t>Encoding the message with hamming code</a:t>
            </a:r>
          </a:p>
          <a:p>
            <a:pPr marL="914400" lvl="1" indent="-457200">
              <a:buFont typeface="+mj-lt"/>
              <a:buAutoNum type="arabicPeriod"/>
            </a:pPr>
            <a:r>
              <a:rPr lang="en-US" dirty="0"/>
              <a:t>Selecting the number of redundant bits</a:t>
            </a:r>
          </a:p>
          <a:p>
            <a:pPr marL="914400" lvl="1" indent="-457200">
              <a:buFont typeface="+mj-lt"/>
              <a:buAutoNum type="arabicPeriod"/>
            </a:pPr>
            <a:r>
              <a:rPr lang="en-US" dirty="0"/>
              <a:t>Choosing the location of redundant bits</a:t>
            </a:r>
          </a:p>
          <a:p>
            <a:pPr marL="914400" lvl="1" indent="-457200">
              <a:buFont typeface="+mj-lt"/>
              <a:buAutoNum type="arabicPeriod"/>
            </a:pPr>
            <a:r>
              <a:rPr lang="en-US" dirty="0"/>
              <a:t>Assigning the values to redundant </a:t>
            </a:r>
            <a:r>
              <a:rPr lang="en-US" dirty="0" smtClean="0"/>
              <a:t>bits</a:t>
            </a:r>
          </a:p>
          <a:p>
            <a:endParaRPr lang="en-US" dirty="0"/>
          </a:p>
        </p:txBody>
      </p:sp>
    </p:spTree>
    <p:extLst>
      <p:ext uri="{BB962C8B-B14F-4D97-AF65-F5344CB8AC3E}">
        <p14:creationId xmlns:p14="http://schemas.microsoft.com/office/powerpoint/2010/main" val="324996922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Selecting the number of redundant bits</a:t>
            </a:r>
          </a:p>
        </p:txBody>
      </p:sp>
      <p:sp>
        <p:nvSpPr>
          <p:cNvPr id="3" name="Content Placeholder 2"/>
          <p:cNvSpPr>
            <a:spLocks noGrp="1"/>
          </p:cNvSpPr>
          <p:nvPr>
            <p:ph idx="1"/>
          </p:nvPr>
        </p:nvSpPr>
        <p:spPr/>
        <p:txBody>
          <a:bodyPr>
            <a:normAutofit/>
          </a:bodyPr>
          <a:lstStyle/>
          <a:p>
            <a:r>
              <a:rPr lang="en-US" dirty="0"/>
              <a:t>The hamming code uses the number of redundant bits depending on the number of information bits in the message</a:t>
            </a:r>
            <a:r>
              <a:rPr lang="en-US" dirty="0" smtClean="0"/>
              <a:t>.</a:t>
            </a:r>
          </a:p>
          <a:p>
            <a:r>
              <a:rPr lang="en-US" dirty="0"/>
              <a:t>Let n be the number of information or data bits, then the number of redundant bits P is determined from the following formula</a:t>
            </a:r>
            <a:r>
              <a:rPr lang="en-US" dirty="0" smtClean="0"/>
              <a:t>,</a:t>
            </a:r>
          </a:p>
          <a:p>
            <a:pPr marL="0" indent="0" algn="ctr">
              <a:buNone/>
            </a:pPr>
            <a:r>
              <a:rPr lang="en-US" dirty="0" smtClean="0"/>
              <a:t>2</a:t>
            </a:r>
            <a:r>
              <a:rPr lang="en-US" baseline="30000" dirty="0" smtClean="0"/>
              <a:t>P </a:t>
            </a:r>
            <a:r>
              <a:rPr lang="en-US" dirty="0" smtClean="0"/>
              <a:t> ≥ n + P + 1</a:t>
            </a:r>
          </a:p>
          <a:p>
            <a:pPr marL="0" indent="0">
              <a:buNone/>
            </a:pPr>
            <a:r>
              <a:rPr lang="en-US" dirty="0"/>
              <a:t> </a:t>
            </a:r>
          </a:p>
          <a:p>
            <a:endParaRPr lang="en-US" dirty="0"/>
          </a:p>
        </p:txBody>
      </p:sp>
    </p:spTree>
    <p:extLst>
      <p:ext uri="{BB962C8B-B14F-4D97-AF65-F5344CB8AC3E}">
        <p14:creationId xmlns:p14="http://schemas.microsoft.com/office/powerpoint/2010/main" val="3212630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Selecting the number of redundant bits</a:t>
            </a:r>
          </a:p>
        </p:txBody>
      </p:sp>
      <p:sp>
        <p:nvSpPr>
          <p:cNvPr id="3" name="Content Placeholder 2"/>
          <p:cNvSpPr>
            <a:spLocks noGrp="1"/>
          </p:cNvSpPr>
          <p:nvPr>
            <p:ph idx="1"/>
          </p:nvPr>
        </p:nvSpPr>
        <p:spPr/>
        <p:txBody>
          <a:bodyPr>
            <a:normAutofit fontScale="92500"/>
          </a:bodyPr>
          <a:lstStyle/>
          <a:p>
            <a:r>
              <a:rPr lang="en-US" b="1" u="sng" dirty="0"/>
              <a:t>For example</a:t>
            </a:r>
            <a:r>
              <a:rPr lang="en-US" dirty="0"/>
              <a:t>, </a:t>
            </a:r>
            <a:r>
              <a:rPr lang="en-US" dirty="0" smtClean="0"/>
              <a:t>If </a:t>
            </a:r>
            <a:r>
              <a:rPr lang="en-US" dirty="0"/>
              <a:t>4-bit information is to be transmitted, then n=4. </a:t>
            </a:r>
            <a:endParaRPr lang="en-US" dirty="0" smtClean="0"/>
          </a:p>
          <a:p>
            <a:r>
              <a:rPr lang="en-US" dirty="0" smtClean="0"/>
              <a:t>The </a:t>
            </a:r>
            <a:r>
              <a:rPr lang="en-US" dirty="0"/>
              <a:t>number of redundant bits is determined by the trial and error method.</a:t>
            </a:r>
          </a:p>
          <a:p>
            <a:r>
              <a:rPr lang="en-US" dirty="0"/>
              <a:t>Let P=2, we get</a:t>
            </a:r>
            <a:r>
              <a:rPr lang="en-US" dirty="0" smtClean="0"/>
              <a:t>,</a:t>
            </a:r>
          </a:p>
          <a:p>
            <a:pPr marL="0" indent="0" algn="ctr">
              <a:buNone/>
            </a:pPr>
            <a:r>
              <a:rPr lang="en-US" dirty="0" smtClean="0"/>
              <a:t>2</a:t>
            </a:r>
            <a:r>
              <a:rPr lang="en-US" baseline="30000" dirty="0" smtClean="0"/>
              <a:t>2</a:t>
            </a:r>
            <a:r>
              <a:rPr lang="en-US" dirty="0" smtClean="0"/>
              <a:t> </a:t>
            </a:r>
            <a:r>
              <a:rPr lang="en-US" dirty="0"/>
              <a:t>≥  </a:t>
            </a:r>
            <a:r>
              <a:rPr lang="en-US" dirty="0" smtClean="0"/>
              <a:t>4 </a:t>
            </a:r>
            <a:r>
              <a:rPr lang="en-US" dirty="0"/>
              <a:t>+ </a:t>
            </a:r>
            <a:r>
              <a:rPr lang="en-US" dirty="0" smtClean="0"/>
              <a:t>2 </a:t>
            </a:r>
            <a:r>
              <a:rPr lang="en-US" dirty="0"/>
              <a:t>+ </a:t>
            </a:r>
            <a:r>
              <a:rPr lang="en-US" dirty="0" smtClean="0"/>
              <a:t>1</a:t>
            </a:r>
            <a:endParaRPr lang="en-US" dirty="0"/>
          </a:p>
          <a:p>
            <a:pPr lvl="1"/>
            <a:r>
              <a:rPr lang="en-US" dirty="0"/>
              <a:t>The above equation implies 4 not greater than or equal to 7. </a:t>
            </a:r>
            <a:endParaRPr lang="en-US" dirty="0" smtClean="0"/>
          </a:p>
          <a:p>
            <a:r>
              <a:rPr lang="en-US" dirty="0" smtClean="0"/>
              <a:t>So </a:t>
            </a:r>
            <a:r>
              <a:rPr lang="en-US" dirty="0"/>
              <a:t>let’s choose another value of P=3</a:t>
            </a:r>
            <a:r>
              <a:rPr lang="en-US" dirty="0" smtClean="0"/>
              <a:t>.</a:t>
            </a:r>
          </a:p>
          <a:p>
            <a:pPr marL="0" indent="0" algn="ctr">
              <a:buNone/>
            </a:pPr>
            <a:r>
              <a:rPr lang="en-US" dirty="0" smtClean="0"/>
              <a:t>2</a:t>
            </a:r>
            <a:r>
              <a:rPr lang="en-US" baseline="30000" dirty="0" smtClean="0"/>
              <a:t>3</a:t>
            </a:r>
            <a:r>
              <a:rPr lang="en-US" dirty="0" smtClean="0"/>
              <a:t> </a:t>
            </a:r>
            <a:r>
              <a:rPr lang="en-US" dirty="0"/>
              <a:t>≥  4 + </a:t>
            </a:r>
            <a:r>
              <a:rPr lang="en-US" dirty="0" smtClean="0"/>
              <a:t>3 </a:t>
            </a:r>
            <a:r>
              <a:rPr lang="en-US" dirty="0"/>
              <a:t>+ </a:t>
            </a:r>
            <a:r>
              <a:rPr lang="en-US" dirty="0" smtClean="0"/>
              <a:t>1</a:t>
            </a:r>
            <a:endParaRPr lang="en-US" dirty="0"/>
          </a:p>
          <a:p>
            <a:pPr lvl="1"/>
            <a:r>
              <a:rPr lang="en-US" dirty="0"/>
              <a:t>Now, the equation satisfies the condition. </a:t>
            </a:r>
            <a:endParaRPr lang="en-US" dirty="0" smtClean="0"/>
          </a:p>
          <a:p>
            <a:pPr lvl="1"/>
            <a:r>
              <a:rPr lang="en-US" dirty="0" smtClean="0"/>
              <a:t>So </a:t>
            </a:r>
            <a:r>
              <a:rPr lang="en-US" dirty="0"/>
              <a:t>number of redundant bits, P=3.</a:t>
            </a:r>
          </a:p>
          <a:p>
            <a:r>
              <a:rPr lang="en-US" dirty="0"/>
              <a:t>In this way, the number of redundant bits is selected for the number of information bits to be transmitted.</a:t>
            </a:r>
          </a:p>
        </p:txBody>
      </p:sp>
    </p:spTree>
    <p:extLst>
      <p:ext uri="{BB962C8B-B14F-4D97-AF65-F5344CB8AC3E}">
        <p14:creationId xmlns:p14="http://schemas.microsoft.com/office/powerpoint/2010/main" val="3330699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the location of redundant bits</a:t>
            </a:r>
          </a:p>
        </p:txBody>
      </p:sp>
      <p:sp>
        <p:nvSpPr>
          <p:cNvPr id="3" name="Content Placeholder 2"/>
          <p:cNvSpPr>
            <a:spLocks noGrp="1"/>
          </p:cNvSpPr>
          <p:nvPr>
            <p:ph idx="1"/>
          </p:nvPr>
        </p:nvSpPr>
        <p:spPr/>
        <p:txBody>
          <a:bodyPr>
            <a:normAutofit/>
          </a:bodyPr>
          <a:lstStyle/>
          <a:p>
            <a:r>
              <a:rPr lang="en-US" dirty="0"/>
              <a:t>For the above example, the number of data bits n=4, and the number of redundant bits P=3. </a:t>
            </a:r>
          </a:p>
          <a:p>
            <a:r>
              <a:rPr lang="en-US" dirty="0"/>
              <a:t>So the message consists of 7 bits in total that are to be coded. </a:t>
            </a:r>
          </a:p>
          <a:p>
            <a:r>
              <a:rPr lang="en-US" dirty="0"/>
              <a:t>Let the rightmost bit be designated as bit 1, the next successive bit as bit 2 and so on.</a:t>
            </a:r>
          </a:p>
          <a:p>
            <a:r>
              <a:rPr lang="en-US" dirty="0"/>
              <a:t>The seven bits are bit 7, bit 6, bit 5, bit 4, bit 3, bit 2, bit 1.</a:t>
            </a:r>
          </a:p>
          <a:p>
            <a:r>
              <a:rPr lang="en-US" dirty="0"/>
              <a:t>In this, the redundant bits are placed at the positions that are numbered corresponding to the power of 2, i.e., 1, 2, 4, 8,… </a:t>
            </a:r>
          </a:p>
          <a:p>
            <a:r>
              <a:rPr lang="en-US" dirty="0"/>
              <a:t>Thus the locations of data bit and redundant bit are </a:t>
            </a:r>
            <a:r>
              <a:rPr lang="en-US" i="1" dirty="0"/>
              <a:t>D4, D3, D2, P3, D1, P2, P1</a:t>
            </a:r>
            <a:r>
              <a:rPr lang="en-US" dirty="0"/>
              <a:t>.</a:t>
            </a:r>
          </a:p>
        </p:txBody>
      </p:sp>
    </p:spTree>
    <p:extLst>
      <p:ext uri="{BB962C8B-B14F-4D97-AF65-F5344CB8AC3E}">
        <p14:creationId xmlns:p14="http://schemas.microsoft.com/office/powerpoint/2010/main" val="1636001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Assigning the values to redundant bits</a:t>
            </a:r>
          </a:p>
        </p:txBody>
      </p:sp>
      <p:sp>
        <p:nvSpPr>
          <p:cNvPr id="3" name="Content Placeholder 2"/>
          <p:cNvSpPr>
            <a:spLocks noGrp="1"/>
          </p:cNvSpPr>
          <p:nvPr>
            <p:ph idx="1"/>
          </p:nvPr>
        </p:nvSpPr>
        <p:spPr/>
        <p:txBody>
          <a:bodyPr>
            <a:normAutofit/>
          </a:bodyPr>
          <a:lstStyle/>
          <a:p>
            <a:r>
              <a:rPr lang="en-US" dirty="0"/>
              <a:t>Now it is time to assign bit value to the redundant bits in the formed hamming code group. </a:t>
            </a:r>
            <a:endParaRPr lang="en-US" dirty="0" smtClean="0"/>
          </a:p>
          <a:p>
            <a:r>
              <a:rPr lang="en-US" dirty="0" smtClean="0"/>
              <a:t>The </a:t>
            </a:r>
            <a:r>
              <a:rPr lang="en-US" dirty="0"/>
              <a:t>assigned bits are called a parity bit.</a:t>
            </a:r>
          </a:p>
          <a:p>
            <a:r>
              <a:rPr lang="en-US" dirty="0"/>
              <a:t>Each parity bit will check certain other bits in the total code group. </a:t>
            </a:r>
            <a:endParaRPr lang="en-US" dirty="0" smtClean="0"/>
          </a:p>
          <a:p>
            <a:r>
              <a:rPr lang="en-US" dirty="0" smtClean="0"/>
              <a:t>It </a:t>
            </a:r>
            <a:r>
              <a:rPr lang="en-US" dirty="0"/>
              <a:t>is one with the bit location table, as shown below</a:t>
            </a:r>
            <a:r>
              <a:rPr lang="en-US" dirty="0" smtClean="0"/>
              <a:t>.</a:t>
            </a:r>
          </a:p>
          <a:p>
            <a:pPr marL="0" indent="0">
              <a:buNone/>
            </a:pPr>
            <a:endParaRPr lang="en-US" dirty="0"/>
          </a:p>
        </p:txBody>
      </p:sp>
      <p:pic>
        <p:nvPicPr>
          <p:cNvPr id="5" name="Picture 4"/>
          <p:cNvPicPr>
            <a:picLocks noChangeAspect="1"/>
          </p:cNvPicPr>
          <p:nvPr/>
        </p:nvPicPr>
        <p:blipFill>
          <a:blip r:embed="rId2"/>
          <a:stretch>
            <a:fillRect/>
          </a:stretch>
        </p:blipFill>
        <p:spPr>
          <a:xfrm>
            <a:off x="2624137" y="3870280"/>
            <a:ext cx="6943725" cy="2200275"/>
          </a:xfrm>
          <a:prstGeom prst="rect">
            <a:avLst/>
          </a:prstGeom>
        </p:spPr>
      </p:pic>
    </p:spTree>
    <p:extLst>
      <p:ext uri="{BB962C8B-B14F-4D97-AF65-F5344CB8AC3E}">
        <p14:creationId xmlns:p14="http://schemas.microsoft.com/office/powerpoint/2010/main" val="593572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Assigning the values to redundant bits</a:t>
            </a:r>
          </a:p>
        </p:txBody>
      </p:sp>
      <p:sp>
        <p:nvSpPr>
          <p:cNvPr id="3" name="Content Placeholder 2"/>
          <p:cNvSpPr>
            <a:spLocks noGrp="1"/>
          </p:cNvSpPr>
          <p:nvPr>
            <p:ph idx="1"/>
          </p:nvPr>
        </p:nvSpPr>
        <p:spPr/>
        <p:txBody>
          <a:bodyPr>
            <a:normAutofit fontScale="92500"/>
          </a:bodyPr>
          <a:lstStyle/>
          <a:p>
            <a:r>
              <a:rPr lang="en-US" dirty="0"/>
              <a:t>Parity bit P1 covers all data bits in positions whose binary representation has 1 in the least significant position(001, 011, 101, 111, etc.). </a:t>
            </a:r>
          </a:p>
          <a:p>
            <a:pPr lvl="1"/>
            <a:r>
              <a:rPr lang="en-US" dirty="0" smtClean="0"/>
              <a:t>Thus </a:t>
            </a:r>
            <a:r>
              <a:rPr lang="en-US" dirty="0"/>
              <a:t>P1 checks the bit in locations 1, 3, 5, 7, 9, 11, etc</a:t>
            </a:r>
            <a:r>
              <a:rPr lang="en-US" dirty="0" smtClean="0"/>
              <a:t>..</a:t>
            </a:r>
          </a:p>
          <a:p>
            <a:r>
              <a:rPr lang="en-US" dirty="0" smtClean="0"/>
              <a:t>Parity </a:t>
            </a:r>
            <a:r>
              <a:rPr lang="en-US" dirty="0"/>
              <a:t>bit P2 covers all data bits in positions whose binary representation has 1 in the second least significant position(010, 011, 110, 111, etc.). </a:t>
            </a:r>
          </a:p>
          <a:p>
            <a:pPr lvl="1"/>
            <a:r>
              <a:rPr lang="en-US" dirty="0" smtClean="0"/>
              <a:t>Thus </a:t>
            </a:r>
            <a:r>
              <a:rPr lang="en-US" dirty="0"/>
              <a:t>P2 checks the bit in locations 2, 3, 6, 7, </a:t>
            </a:r>
            <a:r>
              <a:rPr lang="en-US" dirty="0" smtClean="0"/>
              <a:t>etc.</a:t>
            </a:r>
          </a:p>
          <a:p>
            <a:r>
              <a:rPr lang="en-US" dirty="0" smtClean="0"/>
              <a:t>Parity </a:t>
            </a:r>
            <a:r>
              <a:rPr lang="en-US" dirty="0"/>
              <a:t>bit P3 covers all data bits in positions whose binary representation has 1 in the third least significant position(100, 101, 110, 111, etc.). </a:t>
            </a:r>
          </a:p>
          <a:p>
            <a:pPr lvl="1"/>
            <a:r>
              <a:rPr lang="en-US" dirty="0" smtClean="0"/>
              <a:t>Thus </a:t>
            </a:r>
            <a:r>
              <a:rPr lang="en-US" dirty="0"/>
              <a:t>P3 checks the bit in locations 4, 5, 6, 7, </a:t>
            </a:r>
            <a:r>
              <a:rPr lang="en-US" dirty="0" smtClean="0"/>
              <a:t>etc.</a:t>
            </a:r>
          </a:p>
          <a:p>
            <a:r>
              <a:rPr lang="en-US" dirty="0" smtClean="0"/>
              <a:t>Each </a:t>
            </a:r>
            <a:r>
              <a:rPr lang="en-US" dirty="0"/>
              <a:t>parity bit checks the corresponding bit locations and assign the bit value as 1 or 0, so as to make the number of 1s as even for even parity and odd for odd parity.</a:t>
            </a:r>
          </a:p>
        </p:txBody>
      </p:sp>
    </p:spTree>
    <p:extLst>
      <p:ext uri="{BB962C8B-B14F-4D97-AF65-F5344CB8AC3E}">
        <p14:creationId xmlns:p14="http://schemas.microsoft.com/office/powerpoint/2010/main" val="3423685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en-US" b="1" dirty="0" smtClean="0"/>
              <a:t>Encode </a:t>
            </a:r>
            <a:r>
              <a:rPr lang="en-US" b="1" dirty="0"/>
              <a:t>a binary word 11001 into the even parity hamming code.</a:t>
            </a:r>
            <a:endParaRPr lang="en-US" dirty="0"/>
          </a:p>
          <a:p>
            <a:pPr marL="0" indent="0">
              <a:buNone/>
            </a:pPr>
            <a:r>
              <a:rPr lang="en-US" dirty="0"/>
              <a:t>Given, number of data bits, n =5.</a:t>
            </a:r>
          </a:p>
          <a:p>
            <a:pPr marL="0" indent="0">
              <a:buNone/>
            </a:pPr>
            <a:r>
              <a:rPr lang="en-US" b="1" i="1" u="sng" dirty="0"/>
              <a:t>To find the number of redundant bits</a:t>
            </a:r>
            <a:r>
              <a:rPr lang="en-US" b="1" u="sng" dirty="0"/>
              <a:t>,</a:t>
            </a:r>
            <a:endParaRPr lang="en-US" dirty="0"/>
          </a:p>
          <a:p>
            <a:pPr marL="457200" lvl="1" indent="0">
              <a:buNone/>
            </a:pPr>
            <a:r>
              <a:rPr lang="en-US" dirty="0"/>
              <a:t>Let us try P=4.</a:t>
            </a:r>
          </a:p>
          <a:p>
            <a:pPr marL="457200" lvl="1" indent="0">
              <a:buNone/>
            </a:pPr>
            <a:r>
              <a:rPr lang="en-US" dirty="0"/>
              <a:t>The equation is satisfied and so 4 redundant bits are selected.</a:t>
            </a:r>
          </a:p>
          <a:p>
            <a:pPr marL="457200" lvl="1" indent="0">
              <a:buNone/>
            </a:pPr>
            <a:r>
              <a:rPr lang="en-US" dirty="0"/>
              <a:t>So, total code bit = </a:t>
            </a:r>
            <a:r>
              <a:rPr lang="en-US" dirty="0" err="1"/>
              <a:t>n+P</a:t>
            </a:r>
            <a:r>
              <a:rPr lang="en-US" dirty="0"/>
              <a:t> = 9</a:t>
            </a:r>
          </a:p>
          <a:p>
            <a:pPr marL="457200" lvl="1" indent="0">
              <a:buNone/>
            </a:pPr>
            <a:r>
              <a:rPr lang="en-US" dirty="0"/>
              <a:t>The redundant bits are placed at bit positions 1, 2, 4 and 8.</a:t>
            </a:r>
          </a:p>
          <a:p>
            <a:pPr marL="0" indent="0">
              <a:buNone/>
            </a:pPr>
            <a:r>
              <a:rPr lang="en-US" b="1" i="1" u="sng" dirty="0"/>
              <a:t>Construct the bit location table</a:t>
            </a:r>
            <a:r>
              <a:rPr lang="en-US" b="1" i="1" u="sng" dirty="0" smtClean="0"/>
              <a:t>.</a:t>
            </a:r>
          </a:p>
          <a:p>
            <a:pPr marL="0" indent="0">
              <a:buNone/>
            </a:pPr>
            <a:endParaRPr lang="en-US" b="1" i="1" u="sng" dirty="0"/>
          </a:p>
          <a:p>
            <a:pPr marL="0" indent="0">
              <a:buNone/>
            </a:pPr>
            <a:endParaRPr lang="en-US" b="1" i="1" u="sng" dirty="0" smtClean="0"/>
          </a:p>
          <a:p>
            <a:pPr marL="0" indent="0">
              <a:buNone/>
            </a:pPr>
            <a:endParaRPr lang="en-US" b="1" i="1" u="sng" dirty="0"/>
          </a:p>
          <a:p>
            <a:pPr marL="0" indent="0">
              <a:buNone/>
            </a:pPr>
            <a:endParaRPr lang="en-US" b="1" i="1" u="sng" dirty="0" smtClean="0"/>
          </a:p>
          <a:p>
            <a:pPr marL="0" indent="0">
              <a:buNone/>
            </a:pPr>
            <a:r>
              <a:rPr lang="en-US" b="1" i="1" u="sng" dirty="0" smtClean="0"/>
              <a:t> </a:t>
            </a:r>
          </a:p>
        </p:txBody>
      </p:sp>
      <p:pic>
        <p:nvPicPr>
          <p:cNvPr id="4" name="Picture 3"/>
          <p:cNvPicPr>
            <a:picLocks noChangeAspect="1"/>
          </p:cNvPicPr>
          <p:nvPr/>
        </p:nvPicPr>
        <p:blipFill>
          <a:blip r:embed="rId2"/>
          <a:stretch>
            <a:fillRect/>
          </a:stretch>
        </p:blipFill>
        <p:spPr>
          <a:xfrm>
            <a:off x="2909887" y="3919807"/>
            <a:ext cx="6372225" cy="2466975"/>
          </a:xfrm>
          <a:prstGeom prst="rect">
            <a:avLst/>
          </a:prstGeom>
        </p:spPr>
      </p:pic>
    </p:spTree>
    <p:extLst>
      <p:ext uri="{BB962C8B-B14F-4D97-AF65-F5344CB8AC3E}">
        <p14:creationId xmlns:p14="http://schemas.microsoft.com/office/powerpoint/2010/main" val="229181101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a:bodyPr>
          <a:lstStyle/>
          <a:p>
            <a:pPr marL="0" indent="0">
              <a:buNone/>
            </a:pPr>
            <a:r>
              <a:rPr lang="en-US" b="1" i="1" u="sng" dirty="0"/>
              <a:t>To determine the parity bits</a:t>
            </a:r>
            <a:endParaRPr lang="en-US" dirty="0"/>
          </a:p>
          <a:p>
            <a:pPr marL="457200" lvl="1" indent="0">
              <a:buNone/>
            </a:pPr>
            <a:r>
              <a:rPr lang="en-US" dirty="0"/>
              <a:t>For P1: </a:t>
            </a:r>
            <a:endParaRPr lang="en-US" dirty="0" smtClean="0"/>
          </a:p>
          <a:p>
            <a:pPr marL="457200" lvl="1" indent="0">
              <a:buNone/>
            </a:pPr>
            <a:r>
              <a:rPr lang="en-US" dirty="0"/>
              <a:t>	</a:t>
            </a:r>
            <a:r>
              <a:rPr lang="en-US" dirty="0" smtClean="0"/>
              <a:t>Bit </a:t>
            </a:r>
            <a:r>
              <a:rPr lang="en-US" dirty="0"/>
              <a:t>locations 3, 5, 7 and 9 have three 1s. To have even parity, P1 must be 1.</a:t>
            </a:r>
          </a:p>
          <a:p>
            <a:pPr marL="457200" lvl="1" indent="0">
              <a:buNone/>
            </a:pPr>
            <a:r>
              <a:rPr lang="en-US" dirty="0"/>
              <a:t>For P2: </a:t>
            </a:r>
            <a:endParaRPr lang="en-US" dirty="0" smtClean="0"/>
          </a:p>
          <a:p>
            <a:pPr marL="457200" lvl="1" indent="0">
              <a:buNone/>
            </a:pPr>
            <a:r>
              <a:rPr lang="en-US" dirty="0"/>
              <a:t>	</a:t>
            </a:r>
            <a:r>
              <a:rPr lang="en-US" dirty="0" smtClean="0"/>
              <a:t>Bit </a:t>
            </a:r>
            <a:r>
              <a:rPr lang="en-US" dirty="0"/>
              <a:t>locations 3, 6, 7 have two 1s. To have even parity, P2 must be 0.</a:t>
            </a:r>
          </a:p>
          <a:p>
            <a:pPr marL="457200" lvl="1" indent="0">
              <a:buNone/>
            </a:pPr>
            <a:r>
              <a:rPr lang="en-US" dirty="0"/>
              <a:t>For P3: </a:t>
            </a:r>
            <a:endParaRPr lang="en-US" dirty="0" smtClean="0"/>
          </a:p>
          <a:p>
            <a:pPr marL="457200" lvl="1" indent="0">
              <a:buNone/>
            </a:pPr>
            <a:r>
              <a:rPr lang="en-US" dirty="0"/>
              <a:t>	</a:t>
            </a:r>
            <a:r>
              <a:rPr lang="en-US" dirty="0" smtClean="0"/>
              <a:t>Bit </a:t>
            </a:r>
            <a:r>
              <a:rPr lang="en-US" dirty="0"/>
              <a:t>locations 5, 6, 7 have one 1s. To have even parity, P3 must be 1.</a:t>
            </a:r>
          </a:p>
          <a:p>
            <a:pPr marL="457200" lvl="1" indent="0">
              <a:buNone/>
            </a:pPr>
            <a:r>
              <a:rPr lang="en-US" dirty="0"/>
              <a:t>For P4: </a:t>
            </a:r>
            <a:endParaRPr lang="en-US" dirty="0" smtClean="0"/>
          </a:p>
          <a:p>
            <a:pPr marL="457200" lvl="1" indent="0">
              <a:buNone/>
            </a:pPr>
            <a:r>
              <a:rPr lang="en-US" dirty="0"/>
              <a:t>	</a:t>
            </a:r>
            <a:r>
              <a:rPr lang="en-US" dirty="0" smtClean="0"/>
              <a:t>Bit </a:t>
            </a:r>
            <a:r>
              <a:rPr lang="en-US" dirty="0"/>
              <a:t>locations 8, 9 have one 1s. To have even parity, P2 must be 1.</a:t>
            </a:r>
          </a:p>
          <a:p>
            <a:pPr marL="457200" lvl="1" indent="0">
              <a:buNone/>
            </a:pPr>
            <a:r>
              <a:rPr lang="en-US" dirty="0" smtClean="0"/>
              <a:t>	</a:t>
            </a:r>
          </a:p>
          <a:p>
            <a:pPr marL="457200" lvl="1" indent="0">
              <a:buNone/>
            </a:pPr>
            <a:r>
              <a:rPr lang="en-US" dirty="0" smtClean="0"/>
              <a:t>Thus </a:t>
            </a:r>
            <a:r>
              <a:rPr lang="en-US" dirty="0"/>
              <a:t>the encoded 9-bit hamming code is 111001101.</a:t>
            </a:r>
          </a:p>
          <a:p>
            <a:pPr marL="0" indent="0">
              <a:buNone/>
            </a:pPr>
            <a:endParaRPr lang="en-US" b="1" i="1" u="sng" dirty="0" smtClean="0"/>
          </a:p>
        </p:txBody>
      </p:sp>
    </p:spTree>
    <p:extLst>
      <p:ext uri="{BB962C8B-B14F-4D97-AF65-F5344CB8AC3E}">
        <p14:creationId xmlns:p14="http://schemas.microsoft.com/office/powerpoint/2010/main" val="288823496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to detect and correct the error in the hamming code?</a:t>
            </a:r>
          </a:p>
        </p:txBody>
      </p:sp>
      <p:sp>
        <p:nvSpPr>
          <p:cNvPr id="3" name="Content Placeholder 2"/>
          <p:cNvSpPr>
            <a:spLocks noGrp="1"/>
          </p:cNvSpPr>
          <p:nvPr>
            <p:ph idx="1"/>
          </p:nvPr>
        </p:nvSpPr>
        <p:spPr/>
        <p:txBody>
          <a:bodyPr>
            <a:normAutofit/>
          </a:bodyPr>
          <a:lstStyle/>
          <a:p>
            <a:r>
              <a:rPr lang="en-US" dirty="0"/>
              <a:t>After receiving the encoded message, each parity bit along with its corresponding group of bits are checked for proper parity. </a:t>
            </a:r>
            <a:endParaRPr lang="en-US" dirty="0" smtClean="0"/>
          </a:p>
          <a:p>
            <a:r>
              <a:rPr lang="en-US" dirty="0" smtClean="0"/>
              <a:t>While </a:t>
            </a:r>
            <a:r>
              <a:rPr lang="en-US" dirty="0"/>
              <a:t>checking, the correct result of individual parity is marked as 0 and the wrong result is marked as 1.</a:t>
            </a:r>
          </a:p>
          <a:p>
            <a:r>
              <a:rPr lang="en-US" dirty="0"/>
              <a:t>After checking all the parity bits, a binary word is formed taking the result bits for P1 as LSB. </a:t>
            </a:r>
            <a:endParaRPr lang="en-US" dirty="0" smtClean="0"/>
          </a:p>
          <a:p>
            <a:r>
              <a:rPr lang="en-US" dirty="0" smtClean="0"/>
              <a:t>So </a:t>
            </a:r>
            <a:r>
              <a:rPr lang="en-US" dirty="0"/>
              <a:t>formed binary word gives the bit location, where there is an error</a:t>
            </a:r>
            <a:r>
              <a:rPr lang="en-US" dirty="0" smtClean="0"/>
              <a:t>.</a:t>
            </a:r>
          </a:p>
          <a:p>
            <a:r>
              <a:rPr lang="en-US" dirty="0"/>
              <a:t>If the formed binary word has 0 bits, then there is no error in the message.</a:t>
            </a:r>
          </a:p>
        </p:txBody>
      </p:sp>
    </p:spTree>
    <p:extLst>
      <p:ext uri="{BB962C8B-B14F-4D97-AF65-F5344CB8AC3E}">
        <p14:creationId xmlns:p14="http://schemas.microsoft.com/office/powerpoint/2010/main" val="2408951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a:t>
            </a:r>
            <a:endParaRPr lang="en-US" dirty="0"/>
          </a:p>
        </p:txBody>
      </p:sp>
      <p:sp>
        <p:nvSpPr>
          <p:cNvPr id="3" name="Content Placeholder 2"/>
          <p:cNvSpPr>
            <a:spLocks noGrp="1"/>
          </p:cNvSpPr>
          <p:nvPr>
            <p:ph idx="1"/>
          </p:nvPr>
        </p:nvSpPr>
        <p:spPr/>
        <p:txBody>
          <a:bodyPr/>
          <a:lstStyle/>
          <a:p>
            <a:pPr marL="0" indent="0">
              <a:buNone/>
            </a:pPr>
            <a:r>
              <a:rPr lang="en-US" b="1" dirty="0" smtClean="0"/>
              <a:t>Let us assume the even parity hamming code from the above example (111001101) is transmitted and the received code is (110001101). Now from the received code, let us detect and correct the error.</a:t>
            </a:r>
          </a:p>
          <a:p>
            <a:pPr marL="0" indent="0">
              <a:buNone/>
            </a:pPr>
            <a:r>
              <a:rPr lang="en-US" i="1" u="sng" dirty="0"/>
              <a:t>To detect the error, let us construct the bit location table</a:t>
            </a:r>
            <a:r>
              <a:rPr lang="en-US" i="1" u="sng" dirty="0" smtClean="0"/>
              <a:t>.</a:t>
            </a:r>
          </a:p>
          <a:p>
            <a:pPr marL="0" indent="0">
              <a:buNone/>
            </a:pPr>
            <a:endParaRPr lang="en-US" b="1" dirty="0" smtClean="0"/>
          </a:p>
          <a:p>
            <a:pPr marL="0" indent="0">
              <a:buNone/>
            </a:pPr>
            <a:endParaRPr lang="en-US" b="1" dirty="0"/>
          </a:p>
        </p:txBody>
      </p:sp>
      <p:pic>
        <p:nvPicPr>
          <p:cNvPr id="4" name="Picture 3"/>
          <p:cNvPicPr>
            <a:picLocks noChangeAspect="1"/>
          </p:cNvPicPr>
          <p:nvPr/>
        </p:nvPicPr>
        <p:blipFill>
          <a:blip r:embed="rId2"/>
          <a:stretch>
            <a:fillRect/>
          </a:stretch>
        </p:blipFill>
        <p:spPr>
          <a:xfrm>
            <a:off x="1849708" y="3498804"/>
            <a:ext cx="8492584" cy="2703917"/>
          </a:xfrm>
          <a:prstGeom prst="rect">
            <a:avLst/>
          </a:prstGeom>
        </p:spPr>
      </p:pic>
    </p:spTree>
    <p:extLst>
      <p:ext uri="{BB962C8B-B14F-4D97-AF65-F5344CB8AC3E}">
        <p14:creationId xmlns:p14="http://schemas.microsoft.com/office/powerpoint/2010/main" val="300047897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Checking the parity bits</a:t>
            </a:r>
          </a:p>
        </p:txBody>
      </p:sp>
      <p:sp>
        <p:nvSpPr>
          <p:cNvPr id="3" name="Content Placeholder 2"/>
          <p:cNvSpPr>
            <a:spLocks noGrp="1"/>
          </p:cNvSpPr>
          <p:nvPr>
            <p:ph idx="1"/>
          </p:nvPr>
        </p:nvSpPr>
        <p:spPr/>
        <p:txBody>
          <a:bodyPr>
            <a:normAutofit fontScale="77500" lnSpcReduction="20000"/>
          </a:bodyPr>
          <a:lstStyle/>
          <a:p>
            <a:r>
              <a:rPr lang="en-US" dirty="0" smtClean="0"/>
              <a:t>For </a:t>
            </a:r>
            <a:r>
              <a:rPr lang="en-US" dirty="0"/>
              <a:t>P1 : </a:t>
            </a:r>
            <a:endParaRPr lang="en-US" dirty="0" smtClean="0"/>
          </a:p>
          <a:p>
            <a:pPr lvl="1"/>
            <a:r>
              <a:rPr lang="en-US" dirty="0" smtClean="0"/>
              <a:t>Check </a:t>
            </a:r>
            <a:r>
              <a:rPr lang="en-US" dirty="0"/>
              <a:t>the locations 1, 3, 5, 7, 9. There is three 1s in this group, which is wrong for even parity. Hence the bit value for P1 is 1.</a:t>
            </a:r>
          </a:p>
          <a:p>
            <a:r>
              <a:rPr lang="en-US" dirty="0"/>
              <a:t>For P2 : </a:t>
            </a:r>
            <a:endParaRPr lang="en-US" dirty="0" smtClean="0"/>
          </a:p>
          <a:p>
            <a:pPr lvl="1"/>
            <a:r>
              <a:rPr lang="en-US" dirty="0" smtClean="0"/>
              <a:t>Check </a:t>
            </a:r>
            <a:r>
              <a:rPr lang="en-US" dirty="0"/>
              <a:t>the locations 2, 3, 6, 7. There is one 1 in this group, which is wrong for even parity. Hence the bit value for P2 is 1.</a:t>
            </a:r>
          </a:p>
          <a:p>
            <a:r>
              <a:rPr lang="en-US" dirty="0"/>
              <a:t>For P3 : </a:t>
            </a:r>
            <a:endParaRPr lang="en-US" dirty="0" smtClean="0"/>
          </a:p>
          <a:p>
            <a:pPr lvl="1"/>
            <a:r>
              <a:rPr lang="en-US" dirty="0" smtClean="0"/>
              <a:t>Check </a:t>
            </a:r>
            <a:r>
              <a:rPr lang="en-US" dirty="0"/>
              <a:t>the locations 3, 5, 6, 7. There is one 1 in this group, which is wrong for even parity. Hence the bit value for P3 is 1.</a:t>
            </a:r>
          </a:p>
          <a:p>
            <a:r>
              <a:rPr lang="en-US" dirty="0"/>
              <a:t>For P4 : </a:t>
            </a:r>
            <a:endParaRPr lang="en-US" dirty="0" smtClean="0"/>
          </a:p>
          <a:p>
            <a:pPr lvl="1"/>
            <a:r>
              <a:rPr lang="en-US" dirty="0" smtClean="0"/>
              <a:t>Check </a:t>
            </a:r>
            <a:r>
              <a:rPr lang="en-US" dirty="0"/>
              <a:t>the locations 8, 9. There are two 1s in this group, which is correct for even parity. Hence the bit value for P4 is 0.</a:t>
            </a:r>
          </a:p>
          <a:p>
            <a:r>
              <a:rPr lang="en-US" dirty="0"/>
              <a:t>The resultant binary word is 0111. </a:t>
            </a:r>
            <a:r>
              <a:rPr lang="en-US" dirty="0" smtClean="0"/>
              <a:t>It </a:t>
            </a:r>
            <a:r>
              <a:rPr lang="en-US" dirty="0"/>
              <a:t>corresponds to the bit location 7 in the above table. </a:t>
            </a:r>
            <a:endParaRPr lang="en-US" dirty="0" smtClean="0"/>
          </a:p>
          <a:p>
            <a:r>
              <a:rPr lang="en-US" dirty="0" smtClean="0"/>
              <a:t>The </a:t>
            </a:r>
            <a:r>
              <a:rPr lang="en-US" dirty="0"/>
              <a:t>error is detected in the data bit D4. </a:t>
            </a:r>
            <a:endParaRPr lang="en-US" dirty="0" smtClean="0"/>
          </a:p>
          <a:p>
            <a:r>
              <a:rPr lang="en-US" dirty="0" smtClean="0"/>
              <a:t>The </a:t>
            </a:r>
            <a:r>
              <a:rPr lang="en-US" dirty="0"/>
              <a:t>error is 0 and it should be changed to 1. </a:t>
            </a:r>
            <a:endParaRPr lang="en-US" dirty="0" smtClean="0"/>
          </a:p>
          <a:p>
            <a:r>
              <a:rPr lang="en-US" b="1" dirty="0" smtClean="0"/>
              <a:t>Thus </a:t>
            </a:r>
            <a:r>
              <a:rPr lang="en-US" b="1" dirty="0"/>
              <a:t>the corrected code is 111001101</a:t>
            </a:r>
            <a:r>
              <a:rPr lang="en-US" dirty="0" smtClean="0"/>
              <a:t>.</a:t>
            </a:r>
            <a:endParaRPr lang="en-US" dirty="0"/>
          </a:p>
        </p:txBody>
      </p:sp>
    </p:spTree>
    <p:extLst>
      <p:ext uri="{BB962C8B-B14F-4D97-AF65-F5344CB8AC3E}">
        <p14:creationId xmlns:p14="http://schemas.microsoft.com/office/powerpoint/2010/main" val="73838578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3514" y="2312125"/>
            <a:ext cx="10515600" cy="1615747"/>
          </a:xfrm>
        </p:spPr>
        <p:txBody>
          <a:bodyPr>
            <a:normAutofit fontScale="90000"/>
          </a:bodyPr>
          <a:lstStyle/>
          <a:p>
            <a:r>
              <a:rPr lang="en-US" sz="6600" dirty="0" smtClean="0"/>
              <a:t>Channel Allocation </a:t>
            </a:r>
            <a:br>
              <a:rPr lang="en-US" sz="6600" dirty="0" smtClean="0"/>
            </a:br>
            <a:r>
              <a:rPr lang="en-US" sz="6600" dirty="0" smtClean="0"/>
              <a:t>Techniques</a:t>
            </a:r>
            <a:endParaRPr lang="en-US" sz="6600" dirty="0"/>
          </a:p>
        </p:txBody>
      </p:sp>
    </p:spTree>
    <p:extLst>
      <p:ext uri="{BB962C8B-B14F-4D97-AF65-F5344CB8AC3E}">
        <p14:creationId xmlns:p14="http://schemas.microsoft.com/office/powerpoint/2010/main" val="170954025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Channel Allocation Techniques</a:t>
            </a:r>
            <a:endParaRPr lang="en-US" dirty="0"/>
          </a:p>
        </p:txBody>
      </p:sp>
      <p:sp>
        <p:nvSpPr>
          <p:cNvPr id="3" name="Content Placeholder 2"/>
          <p:cNvSpPr>
            <a:spLocks noGrp="1"/>
          </p:cNvSpPr>
          <p:nvPr>
            <p:ph idx="1"/>
          </p:nvPr>
        </p:nvSpPr>
        <p:spPr/>
        <p:txBody>
          <a:bodyPr/>
          <a:lstStyle/>
          <a:p>
            <a:r>
              <a:rPr lang="en-US" dirty="0" smtClean="0"/>
              <a:t>ALOHA</a:t>
            </a:r>
          </a:p>
          <a:p>
            <a:pPr lvl="1"/>
            <a:r>
              <a:rPr lang="en-US" dirty="0" smtClean="0"/>
              <a:t>Pure ALHOA</a:t>
            </a:r>
          </a:p>
          <a:p>
            <a:pPr lvl="1"/>
            <a:r>
              <a:rPr lang="en-US" dirty="0" smtClean="0"/>
              <a:t>Slotted ALOHA</a:t>
            </a:r>
          </a:p>
          <a:p>
            <a:r>
              <a:rPr lang="en-US" dirty="0" smtClean="0"/>
              <a:t>CSMA</a:t>
            </a:r>
          </a:p>
          <a:p>
            <a:r>
              <a:rPr lang="en-US" dirty="0" smtClean="0"/>
              <a:t>CSMA/CD</a:t>
            </a:r>
          </a:p>
          <a:p>
            <a:r>
              <a:rPr lang="en-US" dirty="0" smtClean="0"/>
              <a:t>CSMA/CA</a:t>
            </a:r>
          </a:p>
        </p:txBody>
      </p:sp>
    </p:spTree>
    <p:extLst>
      <p:ext uri="{BB962C8B-B14F-4D97-AF65-F5344CB8AC3E}">
        <p14:creationId xmlns:p14="http://schemas.microsoft.com/office/powerpoint/2010/main" val="242196006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Channel Allocation Techniques</a:t>
            </a:r>
            <a:endParaRPr lang="en-US" dirty="0"/>
          </a:p>
        </p:txBody>
      </p:sp>
      <p:sp>
        <p:nvSpPr>
          <p:cNvPr id="3" name="Content Placeholder 2"/>
          <p:cNvSpPr>
            <a:spLocks noGrp="1"/>
          </p:cNvSpPr>
          <p:nvPr>
            <p:ph idx="1"/>
          </p:nvPr>
        </p:nvSpPr>
        <p:spPr/>
        <p:txBody>
          <a:bodyPr/>
          <a:lstStyle/>
          <a:p>
            <a:r>
              <a:rPr lang="en-US" dirty="0" smtClean="0"/>
              <a:t>It </a:t>
            </a:r>
            <a:r>
              <a:rPr lang="en-US" dirty="0"/>
              <a:t>deals how to determine that who may use the network next when the network consists of a </a:t>
            </a:r>
            <a:r>
              <a:rPr lang="en-US" dirty="0">
                <a:solidFill>
                  <a:srgbClr val="0070C0"/>
                </a:solidFill>
              </a:rPr>
              <a:t>single shared channel</a:t>
            </a:r>
            <a:r>
              <a:rPr lang="en-US" dirty="0"/>
              <a:t>, as in most networks</a:t>
            </a:r>
            <a:r>
              <a:rPr lang="en-US" dirty="0" smtClean="0"/>
              <a:t>.</a:t>
            </a:r>
          </a:p>
          <a:p>
            <a:endParaRPr lang="en-US" dirty="0" smtClean="0"/>
          </a:p>
        </p:txBody>
      </p:sp>
    </p:spTree>
    <p:extLst>
      <p:ext uri="{BB962C8B-B14F-4D97-AF65-F5344CB8AC3E}">
        <p14:creationId xmlns:p14="http://schemas.microsoft.com/office/powerpoint/2010/main" val="200431376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3514" y="1776551"/>
            <a:ext cx="10515600" cy="2255826"/>
          </a:xfrm>
        </p:spPr>
        <p:txBody>
          <a:bodyPr>
            <a:normAutofit fontScale="90000"/>
          </a:bodyPr>
          <a:lstStyle/>
          <a:p>
            <a:r>
              <a:rPr lang="en-US" sz="6600" dirty="0"/>
              <a:t>Ethernet Standards:</a:t>
            </a:r>
            <a:br>
              <a:rPr lang="en-US" sz="6600" dirty="0"/>
            </a:br>
            <a:r>
              <a:rPr lang="en-US" sz="5300" dirty="0"/>
              <a:t>802.3 CSMA/CD, 802.4 Token Bus, 802.5 Token Ring </a:t>
            </a:r>
            <a:endParaRPr lang="en-US" sz="5300" dirty="0"/>
          </a:p>
        </p:txBody>
      </p:sp>
    </p:spTree>
    <p:extLst>
      <p:ext uri="{BB962C8B-B14F-4D97-AF65-F5344CB8AC3E}">
        <p14:creationId xmlns:p14="http://schemas.microsoft.com/office/powerpoint/2010/main" val="153454006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Ethernet (</a:t>
            </a:r>
            <a:r>
              <a:rPr lang="en-US" dirty="0" err="1" smtClean="0"/>
              <a:t>contd</a:t>
            </a:r>
            <a:r>
              <a:rPr lang="en-US" dirty="0" smtClean="0"/>
              <a:t>…)</a:t>
            </a:r>
            <a:endParaRPr lang="en-US" dirty="0"/>
          </a:p>
        </p:txBody>
      </p:sp>
      <p:sp>
        <p:nvSpPr>
          <p:cNvPr id="3" name="Content Placeholder 2"/>
          <p:cNvSpPr>
            <a:spLocks noGrp="1"/>
          </p:cNvSpPr>
          <p:nvPr>
            <p:ph idx="1"/>
          </p:nvPr>
        </p:nvSpPr>
        <p:spPr/>
        <p:txBody>
          <a:bodyPr>
            <a:normAutofit/>
          </a:bodyPr>
          <a:lstStyle/>
          <a:p>
            <a:r>
              <a:rPr lang="en-US" dirty="0" smtClean="0"/>
              <a:t>Ethernet, </a:t>
            </a:r>
            <a:r>
              <a:rPr lang="en-US" dirty="0"/>
              <a:t>a family of wired computer networking </a:t>
            </a:r>
            <a:r>
              <a:rPr lang="en-US" dirty="0" smtClean="0"/>
              <a:t>technologies,  is the most popular physical layer LAN technology in use today. </a:t>
            </a:r>
          </a:p>
          <a:p>
            <a:r>
              <a:rPr lang="en-US" dirty="0" smtClean="0"/>
              <a:t>It </a:t>
            </a:r>
            <a:r>
              <a:rPr lang="en-US" dirty="0"/>
              <a:t>defines the number of conductors that are required for a connection, the performance thresholds that can be expected, and provides the framework for data transmission. </a:t>
            </a:r>
            <a:endParaRPr lang="en-US" dirty="0" smtClean="0"/>
          </a:p>
          <a:p>
            <a:r>
              <a:rPr lang="en-US" dirty="0" smtClean="0"/>
              <a:t>A </a:t>
            </a:r>
            <a:r>
              <a:rPr lang="en-US" dirty="0"/>
              <a:t>standard Ethernet network can transmit data at a rate up to 10 Megabits per second (10 Mbps). </a:t>
            </a:r>
            <a:endParaRPr lang="en-US" dirty="0" smtClean="0"/>
          </a:p>
          <a:p>
            <a:r>
              <a:rPr lang="en-US" dirty="0" smtClean="0"/>
              <a:t>Other </a:t>
            </a:r>
            <a:r>
              <a:rPr lang="en-US" dirty="0"/>
              <a:t>LAN types include Token Ring, Fast Ethernet, Gigabit Ethernet, 10 Gigabit Ethernet, Fiber Distributed Data Interface (FDDI), Asynchronous Transfer Mode (ATM) and </a:t>
            </a:r>
            <a:r>
              <a:rPr lang="en-US" dirty="0" err="1"/>
              <a:t>LocalTalk</a:t>
            </a:r>
            <a:r>
              <a:rPr lang="en-US" dirty="0" smtClean="0"/>
              <a:t>.</a:t>
            </a:r>
            <a:endParaRPr lang="en-US" dirty="0"/>
          </a:p>
        </p:txBody>
      </p:sp>
    </p:spTree>
    <p:extLst>
      <p:ext uri="{BB962C8B-B14F-4D97-AF65-F5344CB8AC3E}">
        <p14:creationId xmlns:p14="http://schemas.microsoft.com/office/powerpoint/2010/main" val="1217797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Ethernet</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Ethernet </a:t>
            </a:r>
            <a:r>
              <a:rPr lang="en-US" dirty="0"/>
              <a:t>is popular because it strikes a good balance between speed, cost and ease of installation. </a:t>
            </a:r>
          </a:p>
          <a:p>
            <a:r>
              <a:rPr lang="en-US" dirty="0"/>
              <a:t>These benefits, combined with wide acceptance in the computer marketplace and the ability to support virtually all popular network protocols, make Ethernet an ideal networking technology for most computer users today.</a:t>
            </a:r>
          </a:p>
          <a:p>
            <a:r>
              <a:rPr lang="en-US" dirty="0"/>
              <a:t>The Institute for Electrical and Electronic Engineers developed an Ethernet standard known as IEEE Standard 802.3. </a:t>
            </a:r>
          </a:p>
          <a:p>
            <a:r>
              <a:rPr lang="en-US" dirty="0"/>
              <a:t>This standard defines rules for configuring an Ethernet network and also specifies how the elements in an Ethernet network interact with one another. </a:t>
            </a:r>
          </a:p>
          <a:p>
            <a:r>
              <a:rPr lang="en-US" dirty="0"/>
              <a:t>By adhering to the IEEE standard, network equipment and network protocols can communicate efficiently.</a:t>
            </a:r>
            <a:endParaRPr lang="en-US" dirty="0"/>
          </a:p>
        </p:txBody>
      </p:sp>
    </p:spTree>
    <p:extLst>
      <p:ext uri="{BB962C8B-B14F-4D97-AF65-F5344CB8AC3E}">
        <p14:creationId xmlns:p14="http://schemas.microsoft.com/office/powerpoint/2010/main" val="1011609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use Ethernet?</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Given </a:t>
            </a:r>
            <a:r>
              <a:rPr lang="en-US" dirty="0"/>
              <a:t>that wireless connectivity is a staple of most devices today, you may wonder why anyone needs to know about Ethernet beyond its role as the backbone of a business network. </a:t>
            </a:r>
            <a:endParaRPr lang="en-US" dirty="0" smtClean="0"/>
          </a:p>
          <a:p>
            <a:r>
              <a:rPr lang="en-US" dirty="0" smtClean="0"/>
              <a:t>The </a:t>
            </a:r>
            <a:r>
              <a:rPr lang="en-US" dirty="0"/>
              <a:t>reality is that Ethernet still occasionally finds a use, largely due to the limitations of wireless technology. </a:t>
            </a:r>
          </a:p>
          <a:p>
            <a:r>
              <a:rPr lang="en-US" dirty="0"/>
              <a:t>A business Wi-Fi network is not always the easiest thing to deploy, especially in larger offices with lots of corridors, walls, and multiple floors that will block or hinder connectivity. </a:t>
            </a:r>
            <a:endParaRPr lang="en-US" dirty="0" smtClean="0"/>
          </a:p>
          <a:p>
            <a:r>
              <a:rPr lang="en-US" dirty="0" smtClean="0"/>
              <a:t>This </a:t>
            </a:r>
            <a:r>
              <a:rPr lang="en-US" dirty="0"/>
              <a:t>is especially noticeable when a business has a </a:t>
            </a:r>
            <a:r>
              <a:rPr lang="en-US" dirty="0" err="1"/>
              <a:t>hotdesking</a:t>
            </a:r>
            <a:r>
              <a:rPr lang="en-US" dirty="0"/>
              <a:t> policy, as the quality of the connection can vary considerably as you move around a building. </a:t>
            </a:r>
            <a:endParaRPr lang="en-US" dirty="0" smtClean="0"/>
          </a:p>
          <a:p>
            <a:r>
              <a:rPr lang="en-US" dirty="0" smtClean="0"/>
              <a:t>To </a:t>
            </a:r>
            <a:r>
              <a:rPr lang="en-US" dirty="0"/>
              <a:t>keep some semblance of a consistent connection, it’s common for office spaces to still offer a wired Ethernet link to the network</a:t>
            </a:r>
            <a:r>
              <a:rPr lang="en-US" dirty="0" smtClean="0"/>
              <a:t>.</a:t>
            </a:r>
            <a:endParaRPr lang="en-US" dirty="0"/>
          </a:p>
          <a:p>
            <a:r>
              <a:rPr lang="en-US" dirty="0"/>
              <a:t>It’s not just the quality of the connection, either. </a:t>
            </a:r>
            <a:endParaRPr lang="en-US" dirty="0" smtClean="0"/>
          </a:p>
          <a:p>
            <a:pPr lvl="1"/>
            <a:r>
              <a:rPr lang="en-US" dirty="0" smtClean="0"/>
              <a:t>Wired </a:t>
            </a:r>
            <a:r>
              <a:rPr lang="en-US" dirty="0"/>
              <a:t>connections generally deliver much faster, and far more consistent, speeds than the typical wireless connection, even if you’re sitting next to the router</a:t>
            </a:r>
            <a:r>
              <a:rPr lang="en-US" dirty="0" smtClean="0"/>
              <a:t>.</a:t>
            </a:r>
            <a:endParaRPr lang="en-US" dirty="0"/>
          </a:p>
          <a:p>
            <a:r>
              <a:rPr lang="en-US" dirty="0"/>
              <a:t>In theory, recent innovations in wireless technology should make wired connections obsolete. </a:t>
            </a:r>
            <a:endParaRPr lang="en-US" dirty="0" smtClean="0"/>
          </a:p>
          <a:p>
            <a:r>
              <a:rPr lang="en-US" dirty="0" smtClean="0"/>
              <a:t>Wi-Fi </a:t>
            </a:r>
            <a:r>
              <a:rPr lang="en-US" dirty="0"/>
              <a:t>6, for example, should be a match for any speed you would get through a wire. </a:t>
            </a:r>
            <a:endParaRPr lang="en-US" dirty="0" smtClean="0"/>
          </a:p>
          <a:p>
            <a:pPr lvl="1"/>
            <a:r>
              <a:rPr lang="en-US" dirty="0" smtClean="0"/>
              <a:t>Yet</a:t>
            </a:r>
            <a:r>
              <a:rPr lang="en-US" dirty="0"/>
              <a:t>, wireless connections are still at the mercy of the environment they’re deployed in, and until thick walls and floors no longer hinder connections, Ethernet will always have a place.</a:t>
            </a:r>
            <a:endParaRPr lang="en-US" dirty="0" smtClean="0"/>
          </a:p>
        </p:txBody>
      </p:sp>
    </p:spTree>
    <p:extLst>
      <p:ext uri="{BB962C8B-B14F-4D97-AF65-F5344CB8AC3E}">
        <p14:creationId xmlns:p14="http://schemas.microsoft.com/office/powerpoint/2010/main" val="3743841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Standard Ethernet Code</a:t>
            </a:r>
            <a:endParaRPr lang="en-US" dirty="0"/>
          </a:p>
        </p:txBody>
      </p:sp>
      <p:sp>
        <p:nvSpPr>
          <p:cNvPr id="3" name="Content Placeholder 2"/>
          <p:cNvSpPr>
            <a:spLocks noGrp="1"/>
          </p:cNvSpPr>
          <p:nvPr>
            <p:ph idx="1"/>
          </p:nvPr>
        </p:nvSpPr>
        <p:spPr/>
        <p:txBody>
          <a:bodyPr>
            <a:normAutofit lnSpcReduction="10000"/>
          </a:bodyPr>
          <a:lstStyle/>
          <a:p>
            <a:r>
              <a:rPr lang="en-US" dirty="0" smtClean="0"/>
              <a:t>In </a:t>
            </a:r>
            <a:r>
              <a:rPr lang="en-US" dirty="0"/>
              <a:t>order to understand standard Ethernet code, one must understand what each digit means. Following is a guide:</a:t>
            </a:r>
          </a:p>
          <a:p>
            <a:r>
              <a:rPr lang="en-US" b="1" dirty="0"/>
              <a:t>Guide to Ethernet </a:t>
            </a:r>
            <a:r>
              <a:rPr lang="en-US" b="1" dirty="0" smtClean="0"/>
              <a:t>Coding</a:t>
            </a:r>
          </a:p>
          <a:p>
            <a:pPr marL="0" indent="0">
              <a:buNone/>
            </a:pPr>
            <a:endParaRPr lang="en-US" b="1" dirty="0"/>
          </a:p>
          <a:p>
            <a:pPr marL="0" indent="0">
              <a:buNone/>
            </a:pPr>
            <a:endParaRPr lang="en-US" b="1" dirty="0" smtClean="0"/>
          </a:p>
          <a:p>
            <a:pPr marL="0" indent="0">
              <a:buNone/>
            </a:pPr>
            <a:endParaRPr lang="en-US" b="1" dirty="0"/>
          </a:p>
          <a:p>
            <a:pPr marL="0" indent="0">
              <a:buNone/>
            </a:pPr>
            <a:endParaRPr lang="en-US" b="1" dirty="0" smtClean="0"/>
          </a:p>
          <a:p>
            <a:pPr marL="0" indent="0">
              <a:buNone/>
            </a:pPr>
            <a:endParaRPr lang="en-US" b="1" i="1" dirty="0" smtClean="0"/>
          </a:p>
          <a:p>
            <a:r>
              <a:rPr lang="en-US" b="1" i="1" dirty="0" smtClean="0"/>
              <a:t>For </a:t>
            </a:r>
            <a:r>
              <a:rPr lang="en-US" b="1" i="1" dirty="0"/>
              <a:t>example:</a:t>
            </a:r>
            <a:r>
              <a:rPr lang="en-US" i="1" dirty="0"/>
              <a:t> </a:t>
            </a:r>
            <a:endParaRPr lang="en-US" i="1" dirty="0" smtClean="0"/>
          </a:p>
          <a:p>
            <a:pPr lvl="1"/>
            <a:r>
              <a:rPr lang="en-US" i="1" dirty="0" smtClean="0"/>
              <a:t>100BASE-TX </a:t>
            </a:r>
            <a:r>
              <a:rPr lang="en-US" i="1" dirty="0"/>
              <a:t>indicates a Fast Ethernet connection (100 Mbps) that uses </a:t>
            </a:r>
            <a:r>
              <a:rPr lang="en-US" i="1" dirty="0" smtClean="0"/>
              <a:t>a twisted </a:t>
            </a:r>
            <a:r>
              <a:rPr lang="en-US" i="1" dirty="0"/>
              <a:t>pair cable capable of full-duplex transmissions.</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1489669311"/>
              </p:ext>
            </p:extLst>
          </p:nvPr>
        </p:nvGraphicFramePr>
        <p:xfrm>
          <a:off x="1813041" y="2547255"/>
          <a:ext cx="8383038" cy="2256048"/>
        </p:xfrm>
        <a:graphic>
          <a:graphicData uri="http://schemas.openxmlformats.org/drawingml/2006/table">
            <a:tbl>
              <a:tblPr/>
              <a:tblGrid>
                <a:gridCol w="1062104">
                  <a:extLst>
                    <a:ext uri="{9D8B030D-6E8A-4147-A177-3AD203B41FA5}">
                      <a16:colId xmlns:a16="http://schemas.microsoft.com/office/drawing/2014/main" val="1340042569"/>
                    </a:ext>
                  </a:extLst>
                </a:gridCol>
                <a:gridCol w="7320934">
                  <a:extLst>
                    <a:ext uri="{9D8B030D-6E8A-4147-A177-3AD203B41FA5}">
                      <a16:colId xmlns:a16="http://schemas.microsoft.com/office/drawing/2014/main" val="524342391"/>
                    </a:ext>
                  </a:extLst>
                </a:gridCol>
              </a:tblGrid>
              <a:tr h="376008">
                <a:tc>
                  <a:txBody>
                    <a:bodyPr/>
                    <a:lstStyle/>
                    <a:p>
                      <a:pPr algn="ctr" fontAlgn="t"/>
                      <a:r>
                        <a:rPr lang="en-US" b="1">
                          <a:effectLst/>
                          <a:latin typeface="Roboto"/>
                        </a:rPr>
                        <a:t>10</a:t>
                      </a:r>
                      <a:endParaRPr lang="en-US">
                        <a:effectLst/>
                        <a:latin typeface="Roboto"/>
                      </a:endParaRP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l" fontAlgn="t"/>
                      <a:r>
                        <a:rPr lang="en-US">
                          <a:effectLst/>
                          <a:latin typeface="Roboto"/>
                        </a:rPr>
                        <a:t>at the beginning means the network operates at 10Mbps.</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extLst>
                  <a:ext uri="{0D108BD9-81ED-4DB2-BD59-A6C34878D82A}">
                    <a16:rowId xmlns:a16="http://schemas.microsoft.com/office/drawing/2014/main" val="1473791263"/>
                  </a:ext>
                </a:extLst>
              </a:tr>
              <a:tr h="376008">
                <a:tc>
                  <a:txBody>
                    <a:bodyPr/>
                    <a:lstStyle/>
                    <a:p>
                      <a:pPr algn="ctr" fontAlgn="t"/>
                      <a:r>
                        <a:rPr lang="en-US" b="1">
                          <a:effectLst/>
                          <a:latin typeface="Roboto"/>
                        </a:rPr>
                        <a:t>BASE</a:t>
                      </a:r>
                      <a:endParaRPr lang="en-US">
                        <a:effectLst/>
                        <a:latin typeface="Roboto"/>
                      </a:endParaRP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tc>
                  <a:txBody>
                    <a:bodyPr/>
                    <a:lstStyle/>
                    <a:p>
                      <a:pPr algn="l" fontAlgn="t"/>
                      <a:r>
                        <a:rPr lang="en-US">
                          <a:effectLst/>
                          <a:latin typeface="Roboto"/>
                        </a:rPr>
                        <a:t>means the type of signaling used is baseband.</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extLst>
                  <a:ext uri="{0D108BD9-81ED-4DB2-BD59-A6C34878D82A}">
                    <a16:rowId xmlns:a16="http://schemas.microsoft.com/office/drawing/2014/main" val="3053268271"/>
                  </a:ext>
                </a:extLst>
              </a:tr>
              <a:tr h="376008">
                <a:tc>
                  <a:txBody>
                    <a:bodyPr/>
                    <a:lstStyle/>
                    <a:p>
                      <a:pPr algn="ctr" fontAlgn="t"/>
                      <a:r>
                        <a:rPr lang="en-US" b="1">
                          <a:effectLst/>
                          <a:latin typeface="Roboto"/>
                        </a:rPr>
                        <a:t>2 or 5</a:t>
                      </a:r>
                      <a:endParaRPr lang="en-US">
                        <a:effectLst/>
                        <a:latin typeface="Roboto"/>
                      </a:endParaRP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l" fontAlgn="t"/>
                      <a:r>
                        <a:rPr lang="en-US" dirty="0">
                          <a:effectLst/>
                          <a:latin typeface="Roboto"/>
                        </a:rPr>
                        <a:t>at the end indicates the maximum cable length in meters.</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extLst>
                  <a:ext uri="{0D108BD9-81ED-4DB2-BD59-A6C34878D82A}">
                    <a16:rowId xmlns:a16="http://schemas.microsoft.com/office/drawing/2014/main" val="3345297097"/>
                  </a:ext>
                </a:extLst>
              </a:tr>
              <a:tr h="376008">
                <a:tc>
                  <a:txBody>
                    <a:bodyPr/>
                    <a:lstStyle/>
                    <a:p>
                      <a:pPr algn="ctr" fontAlgn="t"/>
                      <a:r>
                        <a:rPr lang="en-US" b="1">
                          <a:effectLst/>
                          <a:latin typeface="Roboto"/>
                        </a:rPr>
                        <a:t>T</a:t>
                      </a:r>
                      <a:endParaRPr lang="en-US">
                        <a:effectLst/>
                        <a:latin typeface="Roboto"/>
                      </a:endParaRP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tc>
                  <a:txBody>
                    <a:bodyPr/>
                    <a:lstStyle/>
                    <a:p>
                      <a:pPr algn="l" fontAlgn="t"/>
                      <a:r>
                        <a:rPr lang="en-US" dirty="0">
                          <a:effectLst/>
                          <a:latin typeface="Roboto"/>
                        </a:rPr>
                        <a:t>the end stands for twisted-pair cable.</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extLst>
                  <a:ext uri="{0D108BD9-81ED-4DB2-BD59-A6C34878D82A}">
                    <a16:rowId xmlns:a16="http://schemas.microsoft.com/office/drawing/2014/main" val="2067602157"/>
                  </a:ext>
                </a:extLst>
              </a:tr>
              <a:tr h="376008">
                <a:tc>
                  <a:txBody>
                    <a:bodyPr/>
                    <a:lstStyle/>
                    <a:p>
                      <a:pPr algn="ctr" fontAlgn="t"/>
                      <a:r>
                        <a:rPr lang="en-US" b="1">
                          <a:effectLst/>
                          <a:latin typeface="Roboto"/>
                        </a:rPr>
                        <a:t>X</a:t>
                      </a:r>
                      <a:endParaRPr lang="en-US">
                        <a:effectLst/>
                        <a:latin typeface="Roboto"/>
                      </a:endParaRP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l" fontAlgn="t"/>
                      <a:r>
                        <a:rPr lang="en-US">
                          <a:effectLst/>
                          <a:latin typeface="Roboto"/>
                        </a:rPr>
                        <a:t>at the end stands for full duplex-capable cable.</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extLst>
                  <a:ext uri="{0D108BD9-81ED-4DB2-BD59-A6C34878D82A}">
                    <a16:rowId xmlns:a16="http://schemas.microsoft.com/office/drawing/2014/main" val="3400846826"/>
                  </a:ext>
                </a:extLst>
              </a:tr>
              <a:tr h="376008">
                <a:tc>
                  <a:txBody>
                    <a:bodyPr/>
                    <a:lstStyle/>
                    <a:p>
                      <a:pPr algn="ctr" fontAlgn="t"/>
                      <a:r>
                        <a:rPr lang="en-US" b="1" dirty="0">
                          <a:effectLst/>
                          <a:latin typeface="Roboto"/>
                        </a:rPr>
                        <a:t>FL</a:t>
                      </a:r>
                      <a:endParaRPr lang="en-US" dirty="0">
                        <a:effectLst/>
                        <a:latin typeface="Roboto"/>
                      </a:endParaRP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tc>
                  <a:txBody>
                    <a:bodyPr/>
                    <a:lstStyle/>
                    <a:p>
                      <a:pPr algn="l" fontAlgn="t"/>
                      <a:r>
                        <a:rPr lang="en-US" dirty="0">
                          <a:effectLst/>
                          <a:latin typeface="Roboto"/>
                        </a:rPr>
                        <a:t>at the end stands for fiber optic cable.</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extLst>
                  <a:ext uri="{0D108BD9-81ED-4DB2-BD59-A6C34878D82A}">
                    <a16:rowId xmlns:a16="http://schemas.microsoft.com/office/drawing/2014/main" val="3144474369"/>
                  </a:ext>
                </a:extLst>
              </a:tr>
            </a:tbl>
          </a:graphicData>
        </a:graphic>
      </p:graphicFrame>
    </p:spTree>
    <p:extLst>
      <p:ext uri="{BB962C8B-B14F-4D97-AF65-F5344CB8AC3E}">
        <p14:creationId xmlns:p14="http://schemas.microsoft.com/office/powerpoint/2010/main" val="320858369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Widely </a:t>
            </a:r>
            <a:r>
              <a:rPr lang="en-US" dirty="0"/>
              <a:t>used Ethernet </a:t>
            </a:r>
            <a:r>
              <a:rPr lang="en-US" dirty="0" smtClean="0"/>
              <a:t>cables</a:t>
            </a:r>
            <a:endParaRPr lang="en-US" dirty="0"/>
          </a:p>
        </p:txBody>
      </p:sp>
      <p:sp>
        <p:nvSpPr>
          <p:cNvPr id="3" name="Content Placeholder 2"/>
          <p:cNvSpPr>
            <a:spLocks noGrp="1"/>
          </p:cNvSpPr>
          <p:nvPr>
            <p:ph idx="1"/>
          </p:nvPr>
        </p:nvSpPr>
        <p:spPr/>
        <p:txBody>
          <a:bodyPr>
            <a:normAutofit fontScale="92500"/>
          </a:bodyPr>
          <a:lstStyle/>
          <a:p>
            <a:r>
              <a:rPr lang="en-US" b="1" dirty="0"/>
              <a:t>10Base2</a:t>
            </a:r>
            <a:r>
              <a:rPr lang="en-US" dirty="0"/>
              <a:t>: This is a thin twisted pair coaxial cable.</a:t>
            </a:r>
          </a:p>
          <a:p>
            <a:r>
              <a:rPr lang="en-US" b="1" dirty="0"/>
              <a:t>10Base5</a:t>
            </a:r>
            <a:r>
              <a:rPr lang="en-US" dirty="0"/>
              <a:t>: This is thick twisted pair coaxial cables.</a:t>
            </a:r>
          </a:p>
          <a:p>
            <a:r>
              <a:rPr lang="en-US" b="1" dirty="0"/>
              <a:t>10Base T</a:t>
            </a:r>
            <a:r>
              <a:rPr lang="en-US" dirty="0"/>
              <a:t>: This is a twisted pair cable which offers a speed of around 10 Mbps.</a:t>
            </a:r>
          </a:p>
          <a:p>
            <a:r>
              <a:rPr lang="en-US" b="1" dirty="0"/>
              <a:t>100BaseTX</a:t>
            </a:r>
            <a:r>
              <a:rPr lang="en-US" dirty="0"/>
              <a:t>: This is a twisted pair cable and offer a speed of 100 Mbps.</a:t>
            </a:r>
          </a:p>
          <a:p>
            <a:r>
              <a:rPr lang="en-US" b="1" dirty="0"/>
              <a:t>100Base FX</a:t>
            </a:r>
            <a:r>
              <a:rPr lang="en-US" dirty="0"/>
              <a:t>: Fiber optic protocol which offers a speed of 100 Mbps.</a:t>
            </a:r>
          </a:p>
          <a:p>
            <a:r>
              <a:rPr lang="en-US" b="1" dirty="0"/>
              <a:t>1000Base SX</a:t>
            </a:r>
            <a:r>
              <a:rPr lang="en-US" dirty="0"/>
              <a:t>: Fiber optic protocol which utilizes a wavelength of 850nm for multimode networks.</a:t>
            </a:r>
          </a:p>
          <a:p>
            <a:r>
              <a:rPr lang="en-US" b="1" dirty="0"/>
              <a:t>1000Base LX</a:t>
            </a:r>
            <a:r>
              <a:rPr lang="en-US" dirty="0"/>
              <a:t>: Fiber optic protocol which utilizes a wavelength of 1310 nm, for multimode networks and up to 1550nm for </a:t>
            </a:r>
            <a:r>
              <a:rPr lang="en-US" dirty="0" err="1"/>
              <a:t>singlemode</a:t>
            </a:r>
            <a:r>
              <a:rPr lang="en-US" dirty="0"/>
              <a:t> networks</a:t>
            </a:r>
            <a:r>
              <a:rPr lang="en-US" dirty="0" smtClean="0"/>
              <a:t>.</a:t>
            </a:r>
            <a:endParaRPr lang="en-US" dirty="0"/>
          </a:p>
        </p:txBody>
      </p:sp>
    </p:spTree>
    <p:extLst>
      <p:ext uri="{BB962C8B-B14F-4D97-AF65-F5344CB8AC3E}">
        <p14:creationId xmlns:p14="http://schemas.microsoft.com/office/powerpoint/2010/main" val="393909276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Ethernet</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539258019"/>
              </p:ext>
            </p:extLst>
          </p:nvPr>
        </p:nvGraphicFramePr>
        <p:xfrm>
          <a:off x="1254035" y="1236925"/>
          <a:ext cx="9548947" cy="4928746"/>
        </p:xfrm>
        <a:graphic>
          <a:graphicData uri="http://schemas.openxmlformats.org/drawingml/2006/table">
            <a:tbl>
              <a:tblPr/>
              <a:tblGrid>
                <a:gridCol w="2043549">
                  <a:extLst>
                    <a:ext uri="{9D8B030D-6E8A-4147-A177-3AD203B41FA5}">
                      <a16:colId xmlns:a16="http://schemas.microsoft.com/office/drawing/2014/main" val="1342230995"/>
                    </a:ext>
                  </a:extLst>
                </a:gridCol>
                <a:gridCol w="1666302">
                  <a:extLst>
                    <a:ext uri="{9D8B030D-6E8A-4147-A177-3AD203B41FA5}">
                      <a16:colId xmlns:a16="http://schemas.microsoft.com/office/drawing/2014/main" val="2846990218"/>
                    </a:ext>
                  </a:extLst>
                </a:gridCol>
                <a:gridCol w="1410788">
                  <a:extLst>
                    <a:ext uri="{9D8B030D-6E8A-4147-A177-3AD203B41FA5}">
                      <a16:colId xmlns:a16="http://schemas.microsoft.com/office/drawing/2014/main" val="752770216"/>
                    </a:ext>
                  </a:extLst>
                </a:gridCol>
                <a:gridCol w="1938893">
                  <a:extLst>
                    <a:ext uri="{9D8B030D-6E8A-4147-A177-3AD203B41FA5}">
                      <a16:colId xmlns:a16="http://schemas.microsoft.com/office/drawing/2014/main" val="2995892133"/>
                    </a:ext>
                  </a:extLst>
                </a:gridCol>
                <a:gridCol w="2489415">
                  <a:extLst>
                    <a:ext uri="{9D8B030D-6E8A-4147-A177-3AD203B41FA5}">
                      <a16:colId xmlns:a16="http://schemas.microsoft.com/office/drawing/2014/main" val="2282040234"/>
                    </a:ext>
                  </a:extLst>
                </a:gridCol>
              </a:tblGrid>
              <a:tr h="780226">
                <a:tc>
                  <a:txBody>
                    <a:bodyPr/>
                    <a:lstStyle/>
                    <a:p>
                      <a:pPr algn="l" fontAlgn="t"/>
                      <a:r>
                        <a:rPr lang="en-US" b="1">
                          <a:solidFill>
                            <a:schemeClr val="tx1"/>
                          </a:solidFill>
                          <a:effectLst/>
                          <a:latin typeface="Roboto"/>
                        </a:rPr>
                        <a:t>Name</a:t>
                      </a:r>
                      <a:endParaRPr lang="en-US">
                        <a:solidFill>
                          <a:schemeClr val="tx1"/>
                        </a:solidFill>
                        <a:effectLst/>
                        <a:latin typeface="Roboto"/>
                      </a:endParaRP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l" fontAlgn="t"/>
                      <a:r>
                        <a:rPr lang="en-US" b="1">
                          <a:solidFill>
                            <a:schemeClr val="tx1"/>
                          </a:solidFill>
                          <a:effectLst/>
                          <a:latin typeface="Roboto"/>
                        </a:rPr>
                        <a:t>IEEE Standard</a:t>
                      </a:r>
                      <a:endParaRPr lang="en-US">
                        <a:solidFill>
                          <a:schemeClr val="tx1"/>
                        </a:solidFill>
                        <a:effectLst/>
                        <a:latin typeface="Roboto"/>
                      </a:endParaRP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l" fontAlgn="t"/>
                      <a:r>
                        <a:rPr lang="en-US" b="1">
                          <a:solidFill>
                            <a:schemeClr val="tx1"/>
                          </a:solidFill>
                          <a:effectLst/>
                          <a:latin typeface="Roboto"/>
                        </a:rPr>
                        <a:t>Data Rate</a:t>
                      </a:r>
                      <a:endParaRPr lang="en-US">
                        <a:solidFill>
                          <a:schemeClr val="tx1"/>
                        </a:solidFill>
                        <a:effectLst/>
                        <a:latin typeface="Roboto"/>
                      </a:endParaRP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l" fontAlgn="t"/>
                      <a:r>
                        <a:rPr lang="en-US" b="1">
                          <a:solidFill>
                            <a:schemeClr val="tx1"/>
                          </a:solidFill>
                          <a:effectLst/>
                          <a:latin typeface="Roboto"/>
                        </a:rPr>
                        <a:t>Media Type</a:t>
                      </a:r>
                      <a:endParaRPr lang="en-US">
                        <a:solidFill>
                          <a:schemeClr val="tx1"/>
                        </a:solidFill>
                        <a:effectLst/>
                        <a:latin typeface="Roboto"/>
                      </a:endParaRP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l" fontAlgn="t"/>
                      <a:r>
                        <a:rPr lang="en-US" b="1">
                          <a:solidFill>
                            <a:schemeClr val="tx1"/>
                          </a:solidFill>
                          <a:effectLst/>
                          <a:latin typeface="Roboto"/>
                        </a:rPr>
                        <a:t>Maximum Distance</a:t>
                      </a:r>
                      <a:endParaRPr lang="en-US">
                        <a:solidFill>
                          <a:schemeClr val="tx1"/>
                        </a:solidFill>
                        <a:effectLst/>
                        <a:latin typeface="Roboto"/>
                      </a:endParaRP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extLst>
                  <a:ext uri="{0D108BD9-81ED-4DB2-BD59-A6C34878D82A}">
                    <a16:rowId xmlns:a16="http://schemas.microsoft.com/office/drawing/2014/main" val="3590428474"/>
                  </a:ext>
                </a:extLst>
              </a:tr>
              <a:tr h="437688">
                <a:tc>
                  <a:txBody>
                    <a:bodyPr/>
                    <a:lstStyle/>
                    <a:p>
                      <a:pPr algn="ctr" fontAlgn="t"/>
                      <a:r>
                        <a:rPr lang="en-US">
                          <a:solidFill>
                            <a:schemeClr val="tx1"/>
                          </a:solidFill>
                          <a:effectLst/>
                          <a:latin typeface="Roboto"/>
                        </a:rPr>
                        <a:t>Ethernet</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tc>
                  <a:txBody>
                    <a:bodyPr/>
                    <a:lstStyle/>
                    <a:p>
                      <a:pPr algn="ctr" fontAlgn="t"/>
                      <a:r>
                        <a:rPr lang="en-US">
                          <a:solidFill>
                            <a:schemeClr val="tx1"/>
                          </a:solidFill>
                          <a:effectLst/>
                          <a:latin typeface="Roboto"/>
                        </a:rPr>
                        <a:t>802.3</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tc>
                  <a:txBody>
                    <a:bodyPr/>
                    <a:lstStyle/>
                    <a:p>
                      <a:pPr algn="ctr" fontAlgn="t"/>
                      <a:r>
                        <a:rPr lang="en-US">
                          <a:solidFill>
                            <a:schemeClr val="tx1"/>
                          </a:solidFill>
                          <a:effectLst/>
                          <a:latin typeface="Roboto"/>
                        </a:rPr>
                        <a:t>10 Mbps</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tc>
                  <a:txBody>
                    <a:bodyPr/>
                    <a:lstStyle/>
                    <a:p>
                      <a:pPr algn="ctr" fontAlgn="t"/>
                      <a:r>
                        <a:rPr lang="en-US">
                          <a:solidFill>
                            <a:schemeClr val="tx1"/>
                          </a:solidFill>
                          <a:effectLst/>
                          <a:latin typeface="Roboto"/>
                        </a:rPr>
                        <a:t>10Base-T</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tc>
                  <a:txBody>
                    <a:bodyPr/>
                    <a:lstStyle/>
                    <a:p>
                      <a:pPr algn="ctr" fontAlgn="t"/>
                      <a:r>
                        <a:rPr lang="en-US">
                          <a:solidFill>
                            <a:schemeClr val="tx1"/>
                          </a:solidFill>
                          <a:effectLst/>
                          <a:latin typeface="Roboto"/>
                        </a:rPr>
                        <a:t>100 meters</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extLst>
                  <a:ext uri="{0D108BD9-81ED-4DB2-BD59-A6C34878D82A}">
                    <a16:rowId xmlns:a16="http://schemas.microsoft.com/office/drawing/2014/main" val="1962533351"/>
                  </a:ext>
                </a:extLst>
              </a:tr>
              <a:tr h="780226">
                <a:tc>
                  <a:txBody>
                    <a:bodyPr/>
                    <a:lstStyle/>
                    <a:p>
                      <a:pPr algn="ctr" fontAlgn="t"/>
                      <a:r>
                        <a:rPr lang="en-US">
                          <a:solidFill>
                            <a:schemeClr val="tx1"/>
                          </a:solidFill>
                          <a:effectLst/>
                          <a:latin typeface="Roboto"/>
                        </a:rPr>
                        <a:t>Fast Ethernet/</a:t>
                      </a:r>
                      <a:br>
                        <a:rPr lang="en-US">
                          <a:solidFill>
                            <a:schemeClr val="tx1"/>
                          </a:solidFill>
                          <a:effectLst/>
                          <a:latin typeface="Roboto"/>
                        </a:rPr>
                      </a:br>
                      <a:r>
                        <a:rPr lang="en-US">
                          <a:solidFill>
                            <a:schemeClr val="tx1"/>
                          </a:solidFill>
                          <a:effectLst/>
                          <a:latin typeface="Roboto"/>
                        </a:rPr>
                        <a:t>100Base-T</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ctr" fontAlgn="t"/>
                      <a:r>
                        <a:rPr lang="en-US" dirty="0" smtClean="0">
                          <a:solidFill>
                            <a:schemeClr val="tx1"/>
                          </a:solidFill>
                          <a:effectLst/>
                          <a:latin typeface="Roboto"/>
                        </a:rPr>
                        <a:t>802.3u</a:t>
                      </a:r>
                      <a:endParaRPr lang="en-US" dirty="0">
                        <a:solidFill>
                          <a:schemeClr val="tx1"/>
                        </a:solidFill>
                        <a:effectLst/>
                        <a:latin typeface="Roboto"/>
                      </a:endParaRP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ctr" fontAlgn="t"/>
                      <a:r>
                        <a:rPr lang="en-US">
                          <a:solidFill>
                            <a:schemeClr val="tx1"/>
                          </a:solidFill>
                          <a:effectLst/>
                          <a:latin typeface="Roboto"/>
                        </a:rPr>
                        <a:t>100 Mbps</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ctr" fontAlgn="t"/>
                      <a:r>
                        <a:rPr lang="en-US">
                          <a:solidFill>
                            <a:schemeClr val="tx1"/>
                          </a:solidFill>
                          <a:effectLst/>
                          <a:latin typeface="Roboto"/>
                        </a:rPr>
                        <a:t>100Base-TX</a:t>
                      </a:r>
                      <a:br>
                        <a:rPr lang="en-US">
                          <a:solidFill>
                            <a:schemeClr val="tx1"/>
                          </a:solidFill>
                          <a:effectLst/>
                          <a:latin typeface="Roboto"/>
                        </a:rPr>
                      </a:br>
                      <a:r>
                        <a:rPr lang="en-US">
                          <a:solidFill>
                            <a:schemeClr val="tx1"/>
                          </a:solidFill>
                          <a:effectLst/>
                          <a:latin typeface="Roboto"/>
                        </a:rPr>
                        <a:t>100Base-FX</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ctr" fontAlgn="t"/>
                      <a:r>
                        <a:rPr lang="en-US">
                          <a:solidFill>
                            <a:schemeClr val="tx1"/>
                          </a:solidFill>
                          <a:effectLst/>
                          <a:latin typeface="Roboto"/>
                        </a:rPr>
                        <a:t>100 meters</a:t>
                      </a:r>
                      <a:br>
                        <a:rPr lang="en-US">
                          <a:solidFill>
                            <a:schemeClr val="tx1"/>
                          </a:solidFill>
                          <a:effectLst/>
                          <a:latin typeface="Roboto"/>
                        </a:rPr>
                      </a:br>
                      <a:r>
                        <a:rPr lang="en-US">
                          <a:solidFill>
                            <a:schemeClr val="tx1"/>
                          </a:solidFill>
                          <a:effectLst/>
                          <a:latin typeface="Roboto"/>
                        </a:rPr>
                        <a:t>2000 meters</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extLst>
                  <a:ext uri="{0D108BD9-81ED-4DB2-BD59-A6C34878D82A}">
                    <a16:rowId xmlns:a16="http://schemas.microsoft.com/office/drawing/2014/main" val="2076763937"/>
                  </a:ext>
                </a:extLst>
              </a:tr>
              <a:tr h="1122765">
                <a:tc>
                  <a:txBody>
                    <a:bodyPr/>
                    <a:lstStyle/>
                    <a:p>
                      <a:pPr algn="ctr" fontAlgn="t"/>
                      <a:r>
                        <a:rPr lang="en-US">
                          <a:solidFill>
                            <a:schemeClr val="tx1"/>
                          </a:solidFill>
                          <a:effectLst/>
                          <a:latin typeface="Roboto"/>
                        </a:rPr>
                        <a:t>Gigabit Ethernet/</a:t>
                      </a:r>
                      <a:br>
                        <a:rPr lang="en-US">
                          <a:solidFill>
                            <a:schemeClr val="tx1"/>
                          </a:solidFill>
                          <a:effectLst/>
                          <a:latin typeface="Roboto"/>
                        </a:rPr>
                      </a:br>
                      <a:r>
                        <a:rPr lang="en-US">
                          <a:solidFill>
                            <a:schemeClr val="tx1"/>
                          </a:solidFill>
                          <a:effectLst/>
                          <a:latin typeface="Roboto"/>
                        </a:rPr>
                        <a:t>GigE</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tc>
                  <a:txBody>
                    <a:bodyPr/>
                    <a:lstStyle/>
                    <a:p>
                      <a:pPr algn="ctr" fontAlgn="t"/>
                      <a:r>
                        <a:rPr lang="en-US" dirty="0">
                          <a:solidFill>
                            <a:schemeClr val="tx1"/>
                          </a:solidFill>
                          <a:effectLst/>
                          <a:latin typeface="Roboto"/>
                        </a:rPr>
                        <a:t>802.3z</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tc>
                  <a:txBody>
                    <a:bodyPr/>
                    <a:lstStyle/>
                    <a:p>
                      <a:pPr algn="ctr" fontAlgn="t"/>
                      <a:r>
                        <a:rPr lang="en-US">
                          <a:solidFill>
                            <a:schemeClr val="tx1"/>
                          </a:solidFill>
                          <a:effectLst/>
                          <a:latin typeface="Roboto"/>
                        </a:rPr>
                        <a:t>1000 Mbps</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tc>
                  <a:txBody>
                    <a:bodyPr/>
                    <a:lstStyle/>
                    <a:p>
                      <a:pPr algn="ctr" fontAlgn="t"/>
                      <a:r>
                        <a:rPr lang="en-US">
                          <a:solidFill>
                            <a:schemeClr val="tx1"/>
                          </a:solidFill>
                          <a:effectLst/>
                          <a:latin typeface="Roboto"/>
                        </a:rPr>
                        <a:t>1000Base-T</a:t>
                      </a:r>
                      <a:br>
                        <a:rPr lang="en-US">
                          <a:solidFill>
                            <a:schemeClr val="tx1"/>
                          </a:solidFill>
                          <a:effectLst/>
                          <a:latin typeface="Roboto"/>
                        </a:rPr>
                      </a:br>
                      <a:r>
                        <a:rPr lang="en-US">
                          <a:solidFill>
                            <a:schemeClr val="tx1"/>
                          </a:solidFill>
                          <a:effectLst/>
                          <a:latin typeface="Roboto"/>
                        </a:rPr>
                        <a:t>1000Base-SX</a:t>
                      </a:r>
                      <a:br>
                        <a:rPr lang="en-US">
                          <a:solidFill>
                            <a:schemeClr val="tx1"/>
                          </a:solidFill>
                          <a:effectLst/>
                          <a:latin typeface="Roboto"/>
                        </a:rPr>
                      </a:br>
                      <a:r>
                        <a:rPr lang="en-US">
                          <a:solidFill>
                            <a:schemeClr val="tx1"/>
                          </a:solidFill>
                          <a:effectLst/>
                          <a:latin typeface="Roboto"/>
                        </a:rPr>
                        <a:t>1000Base-LX</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tc>
                  <a:txBody>
                    <a:bodyPr/>
                    <a:lstStyle/>
                    <a:p>
                      <a:pPr algn="ctr" fontAlgn="t"/>
                      <a:r>
                        <a:rPr lang="en-US">
                          <a:solidFill>
                            <a:schemeClr val="tx1"/>
                          </a:solidFill>
                          <a:effectLst/>
                          <a:latin typeface="Roboto"/>
                        </a:rPr>
                        <a:t>100 meters</a:t>
                      </a:r>
                      <a:br>
                        <a:rPr lang="en-US">
                          <a:solidFill>
                            <a:schemeClr val="tx1"/>
                          </a:solidFill>
                          <a:effectLst/>
                          <a:latin typeface="Roboto"/>
                        </a:rPr>
                      </a:br>
                      <a:r>
                        <a:rPr lang="en-US">
                          <a:solidFill>
                            <a:schemeClr val="tx1"/>
                          </a:solidFill>
                          <a:effectLst/>
                          <a:latin typeface="Roboto"/>
                        </a:rPr>
                        <a:t>275/550 meters</a:t>
                      </a:r>
                      <a:br>
                        <a:rPr lang="en-US">
                          <a:solidFill>
                            <a:schemeClr val="tx1"/>
                          </a:solidFill>
                          <a:effectLst/>
                          <a:latin typeface="Roboto"/>
                        </a:rPr>
                      </a:br>
                      <a:r>
                        <a:rPr lang="en-US">
                          <a:solidFill>
                            <a:schemeClr val="tx1"/>
                          </a:solidFill>
                          <a:effectLst/>
                          <a:latin typeface="Roboto"/>
                        </a:rPr>
                        <a:t>550/5000 meters</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extLst>
                  <a:ext uri="{0D108BD9-81ED-4DB2-BD59-A6C34878D82A}">
                    <a16:rowId xmlns:a16="http://schemas.microsoft.com/office/drawing/2014/main" val="3709063137"/>
                  </a:ext>
                </a:extLst>
              </a:tr>
              <a:tr h="1807841">
                <a:tc>
                  <a:txBody>
                    <a:bodyPr/>
                    <a:lstStyle/>
                    <a:p>
                      <a:pPr algn="ctr" fontAlgn="t"/>
                      <a:r>
                        <a:rPr lang="en-US">
                          <a:solidFill>
                            <a:schemeClr val="tx1"/>
                          </a:solidFill>
                          <a:effectLst/>
                          <a:latin typeface="Roboto"/>
                        </a:rPr>
                        <a:t>10 Gigabit Ethernet</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ctr" fontAlgn="t"/>
                      <a:r>
                        <a:rPr lang="en-US" dirty="0" smtClean="0">
                          <a:solidFill>
                            <a:schemeClr val="tx1"/>
                          </a:solidFill>
                          <a:effectLst/>
                          <a:latin typeface="Roboto"/>
                        </a:rPr>
                        <a:t>IEEE 802.3ae</a:t>
                      </a:r>
                      <a:endParaRPr lang="en-US" dirty="0">
                        <a:solidFill>
                          <a:schemeClr val="tx1"/>
                        </a:solidFill>
                        <a:effectLst/>
                        <a:latin typeface="Roboto"/>
                      </a:endParaRP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ctr" fontAlgn="t"/>
                      <a:r>
                        <a:rPr lang="en-US">
                          <a:solidFill>
                            <a:schemeClr val="tx1"/>
                          </a:solidFill>
                          <a:effectLst/>
                          <a:latin typeface="Roboto"/>
                        </a:rPr>
                        <a:t>10 Gbps</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ctr" fontAlgn="t"/>
                      <a:r>
                        <a:rPr lang="en-US">
                          <a:solidFill>
                            <a:schemeClr val="tx1"/>
                          </a:solidFill>
                          <a:effectLst/>
                          <a:latin typeface="Roboto"/>
                        </a:rPr>
                        <a:t>10GBase-SR</a:t>
                      </a:r>
                      <a:br>
                        <a:rPr lang="en-US">
                          <a:solidFill>
                            <a:schemeClr val="tx1"/>
                          </a:solidFill>
                          <a:effectLst/>
                          <a:latin typeface="Roboto"/>
                        </a:rPr>
                      </a:br>
                      <a:r>
                        <a:rPr lang="en-US">
                          <a:solidFill>
                            <a:schemeClr val="tx1"/>
                          </a:solidFill>
                          <a:effectLst/>
                          <a:latin typeface="Roboto"/>
                        </a:rPr>
                        <a:t>10GBase-LX4</a:t>
                      </a:r>
                      <a:br>
                        <a:rPr lang="en-US">
                          <a:solidFill>
                            <a:schemeClr val="tx1"/>
                          </a:solidFill>
                          <a:effectLst/>
                          <a:latin typeface="Roboto"/>
                        </a:rPr>
                      </a:br>
                      <a:r>
                        <a:rPr lang="en-US">
                          <a:solidFill>
                            <a:schemeClr val="tx1"/>
                          </a:solidFill>
                          <a:effectLst/>
                          <a:latin typeface="Roboto"/>
                        </a:rPr>
                        <a:t>10GBase-LR/ER</a:t>
                      </a:r>
                      <a:br>
                        <a:rPr lang="en-US">
                          <a:solidFill>
                            <a:schemeClr val="tx1"/>
                          </a:solidFill>
                          <a:effectLst/>
                          <a:latin typeface="Roboto"/>
                        </a:rPr>
                      </a:br>
                      <a:r>
                        <a:rPr lang="en-US">
                          <a:solidFill>
                            <a:schemeClr val="tx1"/>
                          </a:solidFill>
                          <a:effectLst/>
                          <a:latin typeface="Roboto"/>
                        </a:rPr>
                        <a:t>10GBase-SW/LW/EW</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ctr" fontAlgn="t"/>
                      <a:r>
                        <a:rPr lang="en-US" dirty="0">
                          <a:solidFill>
                            <a:schemeClr val="tx1"/>
                          </a:solidFill>
                          <a:effectLst/>
                          <a:latin typeface="Roboto"/>
                        </a:rPr>
                        <a:t>300 meters</a:t>
                      </a:r>
                      <a:br>
                        <a:rPr lang="en-US" dirty="0">
                          <a:solidFill>
                            <a:schemeClr val="tx1"/>
                          </a:solidFill>
                          <a:effectLst/>
                          <a:latin typeface="Roboto"/>
                        </a:rPr>
                      </a:br>
                      <a:r>
                        <a:rPr lang="en-US" dirty="0">
                          <a:solidFill>
                            <a:schemeClr val="tx1"/>
                          </a:solidFill>
                          <a:effectLst/>
                          <a:latin typeface="Roboto"/>
                        </a:rPr>
                        <a:t>300m MMF/ 10km SMF</a:t>
                      </a:r>
                      <a:br>
                        <a:rPr lang="en-US" dirty="0">
                          <a:solidFill>
                            <a:schemeClr val="tx1"/>
                          </a:solidFill>
                          <a:effectLst/>
                          <a:latin typeface="Roboto"/>
                        </a:rPr>
                      </a:br>
                      <a:r>
                        <a:rPr lang="en-US" dirty="0">
                          <a:solidFill>
                            <a:schemeClr val="tx1"/>
                          </a:solidFill>
                          <a:effectLst/>
                          <a:latin typeface="Roboto"/>
                        </a:rPr>
                        <a:t>10km/40km</a:t>
                      </a:r>
                      <a:br>
                        <a:rPr lang="en-US" dirty="0">
                          <a:solidFill>
                            <a:schemeClr val="tx1"/>
                          </a:solidFill>
                          <a:effectLst/>
                          <a:latin typeface="Roboto"/>
                        </a:rPr>
                      </a:br>
                      <a:r>
                        <a:rPr lang="en-US" dirty="0">
                          <a:solidFill>
                            <a:schemeClr val="tx1"/>
                          </a:solidFill>
                          <a:effectLst/>
                          <a:latin typeface="Roboto"/>
                        </a:rPr>
                        <a:t>300m/10km/40km</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extLst>
                  <a:ext uri="{0D108BD9-81ED-4DB2-BD59-A6C34878D82A}">
                    <a16:rowId xmlns:a16="http://schemas.microsoft.com/office/drawing/2014/main" val="3310036056"/>
                  </a:ext>
                </a:extLst>
              </a:tr>
            </a:tbl>
          </a:graphicData>
        </a:graphic>
      </p:graphicFrame>
    </p:spTree>
    <p:extLst>
      <p:ext uri="{BB962C8B-B14F-4D97-AF65-F5344CB8AC3E}">
        <p14:creationId xmlns:p14="http://schemas.microsoft.com/office/powerpoint/2010/main" val="218358146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Ethernet Network</a:t>
            </a:r>
            <a:endParaRPr lang="en-US" dirty="0"/>
          </a:p>
        </p:txBody>
      </p:sp>
      <p:sp>
        <p:nvSpPr>
          <p:cNvPr id="3" name="Content Placeholder 2"/>
          <p:cNvSpPr>
            <a:spLocks noGrp="1"/>
          </p:cNvSpPr>
          <p:nvPr>
            <p:ph idx="1"/>
          </p:nvPr>
        </p:nvSpPr>
        <p:spPr/>
        <p:txBody>
          <a:bodyPr>
            <a:normAutofit fontScale="85000" lnSpcReduction="20000"/>
          </a:bodyPr>
          <a:lstStyle/>
          <a:p>
            <a:r>
              <a:rPr lang="en-US" b="1" dirty="0"/>
              <a:t>Fast </a:t>
            </a:r>
            <a:r>
              <a:rPr lang="en-US" b="1" dirty="0" smtClean="0"/>
              <a:t>Ethernet</a:t>
            </a:r>
          </a:p>
          <a:p>
            <a:pPr lvl="1"/>
            <a:r>
              <a:rPr lang="en-US" dirty="0" smtClean="0"/>
              <a:t>As </a:t>
            </a:r>
            <a:r>
              <a:rPr lang="en-US" dirty="0"/>
              <a:t>the term suggests, this is quite a high-speed internet, and can transmit or receive data at about 100 Mbps. </a:t>
            </a:r>
            <a:endParaRPr lang="en-US" dirty="0" smtClean="0"/>
          </a:p>
          <a:p>
            <a:pPr lvl="1"/>
            <a:r>
              <a:rPr lang="en-US" dirty="0" smtClean="0"/>
              <a:t>This </a:t>
            </a:r>
            <a:r>
              <a:rPr lang="en-US" dirty="0"/>
              <a:t>type of network is usually supported by a twisted pair or CAT5 cable. </a:t>
            </a:r>
            <a:endParaRPr lang="en-US" dirty="0" smtClean="0"/>
          </a:p>
          <a:p>
            <a:pPr lvl="1"/>
            <a:r>
              <a:rPr lang="en-US" dirty="0" smtClean="0"/>
              <a:t>If </a:t>
            </a:r>
            <a:r>
              <a:rPr lang="en-US" dirty="0"/>
              <a:t>a laptop, camera, or any other device is connected to a network, they operate at 10/100Base Ethernet and 100Base on the fiber side of the link.</a:t>
            </a:r>
          </a:p>
          <a:p>
            <a:r>
              <a:rPr lang="en-US" b="1" dirty="0"/>
              <a:t>Gigabit </a:t>
            </a:r>
            <a:r>
              <a:rPr lang="en-US" b="1" dirty="0" smtClean="0"/>
              <a:t>Ethernet</a:t>
            </a:r>
          </a:p>
          <a:p>
            <a:pPr lvl="1"/>
            <a:r>
              <a:rPr lang="en-US" dirty="0" smtClean="0"/>
              <a:t>This </a:t>
            </a:r>
            <a:r>
              <a:rPr lang="en-US" dirty="0"/>
              <a:t>type of network transfers data at an even higher speed of about 1000 Mbps or 1Gbps. </a:t>
            </a:r>
            <a:endParaRPr lang="en-US" dirty="0" smtClean="0"/>
          </a:p>
          <a:p>
            <a:pPr lvl="1"/>
            <a:r>
              <a:rPr lang="en-US" dirty="0" smtClean="0"/>
              <a:t>Gigabit </a:t>
            </a:r>
            <a:r>
              <a:rPr lang="en-US" dirty="0"/>
              <a:t>speed is an upgrade from Fast Ethernet which is slowly being phased out. </a:t>
            </a:r>
            <a:endParaRPr lang="en-US" dirty="0" smtClean="0"/>
          </a:p>
          <a:p>
            <a:pPr lvl="1"/>
            <a:r>
              <a:rPr lang="en-US" dirty="0" smtClean="0"/>
              <a:t>In </a:t>
            </a:r>
            <a:r>
              <a:rPr lang="en-US" dirty="0"/>
              <a:t>this type of network, all the four pairs in the twisted pair cable contribute to the data transfer speed. </a:t>
            </a:r>
            <a:endParaRPr lang="en-US" dirty="0" smtClean="0"/>
          </a:p>
          <a:p>
            <a:pPr lvl="1"/>
            <a:r>
              <a:rPr lang="en-US" dirty="0" smtClean="0"/>
              <a:t>This </a:t>
            </a:r>
            <a:r>
              <a:rPr lang="en-US" dirty="0"/>
              <a:t>network type finds a large application in video calling systems which use CAT5e or other advanced cables. </a:t>
            </a:r>
            <a:endParaRPr lang="en-US" dirty="0" smtClean="0"/>
          </a:p>
          <a:p>
            <a:pPr lvl="1"/>
            <a:r>
              <a:rPr lang="en-US" dirty="0" smtClean="0"/>
              <a:t>For </a:t>
            </a:r>
            <a:r>
              <a:rPr lang="en-US" dirty="0"/>
              <a:t>extended networks, the distance of up to 500m, 1000Base SX fiber cables may be used for multimode, as well as 1000Base LX for single mode systems. </a:t>
            </a:r>
            <a:endParaRPr lang="en-US" dirty="0" smtClean="0"/>
          </a:p>
          <a:p>
            <a:pPr lvl="1"/>
            <a:r>
              <a:rPr lang="en-US" dirty="0" smtClean="0"/>
              <a:t>VERSITRON </a:t>
            </a:r>
            <a:r>
              <a:rPr lang="en-US" dirty="0"/>
              <a:t>manufactures Gigabit Ethernet Media Converters that can handle 10/100/1000Base speeds on the Ethernet side and 1000Base Gigabit speed on the fiber side by using Fiber SFP modules</a:t>
            </a:r>
            <a:r>
              <a:rPr lang="en-US" dirty="0" smtClean="0"/>
              <a:t>.</a:t>
            </a:r>
            <a:endParaRPr lang="en-US" dirty="0"/>
          </a:p>
        </p:txBody>
      </p:sp>
    </p:spTree>
    <p:extLst>
      <p:ext uri="{BB962C8B-B14F-4D97-AF65-F5344CB8AC3E}">
        <p14:creationId xmlns:p14="http://schemas.microsoft.com/office/powerpoint/2010/main" val="143127929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Ethernet Network</a:t>
            </a:r>
            <a:endParaRPr lang="en-US" dirty="0"/>
          </a:p>
        </p:txBody>
      </p:sp>
      <p:sp>
        <p:nvSpPr>
          <p:cNvPr id="3" name="Content Placeholder 2"/>
          <p:cNvSpPr>
            <a:spLocks noGrp="1"/>
          </p:cNvSpPr>
          <p:nvPr>
            <p:ph idx="1"/>
          </p:nvPr>
        </p:nvSpPr>
        <p:spPr/>
        <p:txBody>
          <a:bodyPr>
            <a:normAutofit lnSpcReduction="10000"/>
          </a:bodyPr>
          <a:lstStyle/>
          <a:p>
            <a:r>
              <a:rPr lang="en-US" b="1" dirty="0"/>
              <a:t>10-Gigabit </a:t>
            </a:r>
            <a:r>
              <a:rPr lang="en-US" b="1" dirty="0" smtClean="0"/>
              <a:t>Ethernet</a:t>
            </a:r>
          </a:p>
          <a:p>
            <a:pPr lvl="1"/>
            <a:r>
              <a:rPr lang="en-US" dirty="0" smtClean="0"/>
              <a:t>This </a:t>
            </a:r>
            <a:r>
              <a:rPr lang="en-US" dirty="0"/>
              <a:t>is an even more advanced and high speed network type with a data transfer rate of 10 Gigabit/second. </a:t>
            </a:r>
            <a:endParaRPr lang="en-US" dirty="0" smtClean="0"/>
          </a:p>
          <a:p>
            <a:pPr lvl="1"/>
            <a:r>
              <a:rPr lang="en-US" dirty="0" smtClean="0"/>
              <a:t>It </a:t>
            </a:r>
            <a:r>
              <a:rPr lang="en-US" dirty="0"/>
              <a:t>is supported by CAT6a or CAT7 twisted pair cables, as well as fiber optic cables. </a:t>
            </a:r>
            <a:endParaRPr lang="en-US" dirty="0" smtClean="0"/>
          </a:p>
          <a:p>
            <a:pPr lvl="1"/>
            <a:r>
              <a:rPr lang="en-US" dirty="0" smtClean="0"/>
              <a:t>By </a:t>
            </a:r>
            <a:r>
              <a:rPr lang="en-US" dirty="0"/>
              <a:t>using a fiber optic cable, this network area can be extended up to around 10,000 meters.</a:t>
            </a:r>
          </a:p>
          <a:p>
            <a:r>
              <a:rPr lang="en-US" b="1" dirty="0"/>
              <a:t>Switch </a:t>
            </a:r>
            <a:r>
              <a:rPr lang="en-US" b="1" dirty="0" smtClean="0"/>
              <a:t>Ethernet</a:t>
            </a:r>
          </a:p>
          <a:p>
            <a:pPr lvl="1"/>
            <a:r>
              <a:rPr lang="en-US" dirty="0" smtClean="0"/>
              <a:t>This </a:t>
            </a:r>
            <a:r>
              <a:rPr lang="en-US" dirty="0"/>
              <a:t>type of network requires a switch or hub. </a:t>
            </a:r>
            <a:endParaRPr lang="en-US" dirty="0" smtClean="0"/>
          </a:p>
          <a:p>
            <a:pPr lvl="1"/>
            <a:r>
              <a:rPr lang="en-US" dirty="0" smtClean="0"/>
              <a:t>Also</a:t>
            </a:r>
            <a:r>
              <a:rPr lang="en-US" dirty="0"/>
              <a:t>, instead of a twisted pair cable, a normal network cable is used in this case. </a:t>
            </a:r>
            <a:endParaRPr lang="en-US" dirty="0" smtClean="0"/>
          </a:p>
          <a:p>
            <a:pPr lvl="1"/>
            <a:r>
              <a:rPr lang="en-US" dirty="0" smtClean="0"/>
              <a:t>Network </a:t>
            </a:r>
            <a:r>
              <a:rPr lang="en-US" dirty="0"/>
              <a:t>switches are used for data transfer from one device to the other, without interrupting any other devices in the network.</a:t>
            </a:r>
            <a:endParaRPr lang="en-US" dirty="0"/>
          </a:p>
        </p:txBody>
      </p:sp>
    </p:spTree>
    <p:extLst>
      <p:ext uri="{BB962C8B-B14F-4D97-AF65-F5344CB8AC3E}">
        <p14:creationId xmlns:p14="http://schemas.microsoft.com/office/powerpoint/2010/main" val="239633247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Cable Grade Capabilities</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70808202"/>
              </p:ext>
            </p:extLst>
          </p:nvPr>
        </p:nvGraphicFramePr>
        <p:xfrm>
          <a:off x="1502229" y="1678623"/>
          <a:ext cx="8785290" cy="4145280"/>
        </p:xfrm>
        <a:graphic>
          <a:graphicData uri="http://schemas.openxmlformats.org/drawingml/2006/table">
            <a:tbl>
              <a:tblPr/>
              <a:tblGrid>
                <a:gridCol w="1418636">
                  <a:extLst>
                    <a:ext uri="{9D8B030D-6E8A-4147-A177-3AD203B41FA5}">
                      <a16:colId xmlns:a16="http://schemas.microsoft.com/office/drawing/2014/main" val="4246328894"/>
                    </a:ext>
                  </a:extLst>
                </a:gridCol>
                <a:gridCol w="2427065">
                  <a:extLst>
                    <a:ext uri="{9D8B030D-6E8A-4147-A177-3AD203B41FA5}">
                      <a16:colId xmlns:a16="http://schemas.microsoft.com/office/drawing/2014/main" val="1899724330"/>
                    </a:ext>
                  </a:extLst>
                </a:gridCol>
                <a:gridCol w="1316085">
                  <a:extLst>
                    <a:ext uri="{9D8B030D-6E8A-4147-A177-3AD203B41FA5}">
                      <a16:colId xmlns:a16="http://schemas.microsoft.com/office/drawing/2014/main" val="1832148618"/>
                    </a:ext>
                  </a:extLst>
                </a:gridCol>
                <a:gridCol w="1709200">
                  <a:extLst>
                    <a:ext uri="{9D8B030D-6E8A-4147-A177-3AD203B41FA5}">
                      <a16:colId xmlns:a16="http://schemas.microsoft.com/office/drawing/2014/main" val="1602407358"/>
                    </a:ext>
                  </a:extLst>
                </a:gridCol>
                <a:gridCol w="1914304">
                  <a:extLst>
                    <a:ext uri="{9D8B030D-6E8A-4147-A177-3AD203B41FA5}">
                      <a16:colId xmlns:a16="http://schemas.microsoft.com/office/drawing/2014/main" val="855607429"/>
                    </a:ext>
                  </a:extLst>
                </a:gridCol>
              </a:tblGrid>
              <a:tr h="0">
                <a:tc>
                  <a:txBody>
                    <a:bodyPr/>
                    <a:lstStyle/>
                    <a:p>
                      <a:pPr algn="ctr" fontAlgn="t"/>
                      <a:r>
                        <a:rPr lang="en-US" b="1">
                          <a:effectLst/>
                          <a:latin typeface="Roboto"/>
                        </a:rPr>
                        <a:t>Cable Name</a:t>
                      </a:r>
                      <a:endParaRPr lang="en-US">
                        <a:effectLst/>
                        <a:latin typeface="Roboto"/>
                      </a:endParaRP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ctr" fontAlgn="t"/>
                      <a:r>
                        <a:rPr lang="en-US" b="1">
                          <a:effectLst/>
                          <a:latin typeface="Roboto"/>
                        </a:rPr>
                        <a:t>Makeup</a:t>
                      </a:r>
                      <a:endParaRPr lang="en-US">
                        <a:effectLst/>
                        <a:latin typeface="Roboto"/>
                      </a:endParaRP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ctr" fontAlgn="t"/>
                      <a:r>
                        <a:rPr lang="en-US" b="1">
                          <a:effectLst/>
                          <a:latin typeface="Roboto"/>
                        </a:rPr>
                        <a:t>Frequency Support</a:t>
                      </a:r>
                      <a:endParaRPr lang="en-US">
                        <a:effectLst/>
                        <a:latin typeface="Roboto"/>
                      </a:endParaRP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ctr" fontAlgn="t"/>
                      <a:r>
                        <a:rPr lang="en-US" b="1">
                          <a:effectLst/>
                          <a:latin typeface="Roboto"/>
                        </a:rPr>
                        <a:t>Data Rate</a:t>
                      </a:r>
                      <a:endParaRPr lang="en-US">
                        <a:effectLst/>
                        <a:latin typeface="Roboto"/>
                      </a:endParaRP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ctr" fontAlgn="t"/>
                      <a:r>
                        <a:rPr lang="en-US" b="1" dirty="0">
                          <a:effectLst/>
                          <a:latin typeface="Roboto"/>
                        </a:rPr>
                        <a:t>Network Compatibility</a:t>
                      </a:r>
                      <a:endParaRPr lang="en-US" dirty="0">
                        <a:effectLst/>
                        <a:latin typeface="Roboto"/>
                      </a:endParaRP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extLst>
                  <a:ext uri="{0D108BD9-81ED-4DB2-BD59-A6C34878D82A}">
                    <a16:rowId xmlns:a16="http://schemas.microsoft.com/office/drawing/2014/main" val="443558870"/>
                  </a:ext>
                </a:extLst>
              </a:tr>
              <a:tr h="0">
                <a:tc>
                  <a:txBody>
                    <a:bodyPr/>
                    <a:lstStyle/>
                    <a:p>
                      <a:pPr algn="ctr" fontAlgn="t"/>
                      <a:r>
                        <a:rPr lang="en-US">
                          <a:effectLst/>
                          <a:latin typeface="Roboto"/>
                        </a:rPr>
                        <a:t>Cat-5</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tc>
                  <a:txBody>
                    <a:bodyPr/>
                    <a:lstStyle/>
                    <a:p>
                      <a:pPr algn="ctr" fontAlgn="t"/>
                      <a:r>
                        <a:rPr lang="en-US">
                          <a:effectLst/>
                          <a:latin typeface="Roboto"/>
                        </a:rPr>
                        <a:t>4 twisted pairs of copper wire — terminated by RJ45 connectors</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tc>
                  <a:txBody>
                    <a:bodyPr/>
                    <a:lstStyle/>
                    <a:p>
                      <a:pPr algn="ctr" fontAlgn="t"/>
                      <a:r>
                        <a:rPr lang="en-US">
                          <a:effectLst/>
                          <a:latin typeface="Roboto"/>
                        </a:rPr>
                        <a:t>100 MHz</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tc>
                  <a:txBody>
                    <a:bodyPr/>
                    <a:lstStyle/>
                    <a:p>
                      <a:pPr algn="ctr" fontAlgn="t"/>
                      <a:r>
                        <a:rPr lang="en-US">
                          <a:effectLst/>
                          <a:latin typeface="Roboto"/>
                        </a:rPr>
                        <a:t>Up to 1000Mbps</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tc>
                  <a:txBody>
                    <a:bodyPr/>
                    <a:lstStyle/>
                    <a:p>
                      <a:pPr algn="ctr" fontAlgn="t"/>
                      <a:r>
                        <a:rPr lang="fr-FR" dirty="0">
                          <a:effectLst/>
                          <a:latin typeface="Roboto"/>
                        </a:rPr>
                        <a:t>ATM, </a:t>
                      </a:r>
                      <a:r>
                        <a:rPr lang="fr-FR" dirty="0" err="1">
                          <a:effectLst/>
                          <a:latin typeface="Roboto"/>
                        </a:rPr>
                        <a:t>Token</a:t>
                      </a:r>
                      <a:r>
                        <a:rPr lang="fr-FR" dirty="0">
                          <a:effectLst/>
                          <a:latin typeface="Roboto"/>
                        </a:rPr>
                        <a:t> Ring,1000Base-T, 100Base-TX, 10Base-T</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extLst>
                  <a:ext uri="{0D108BD9-81ED-4DB2-BD59-A6C34878D82A}">
                    <a16:rowId xmlns:a16="http://schemas.microsoft.com/office/drawing/2014/main" val="1496255956"/>
                  </a:ext>
                </a:extLst>
              </a:tr>
              <a:tr h="0">
                <a:tc>
                  <a:txBody>
                    <a:bodyPr/>
                    <a:lstStyle/>
                    <a:p>
                      <a:pPr algn="ctr" fontAlgn="t"/>
                      <a:r>
                        <a:rPr lang="en-US">
                          <a:effectLst/>
                          <a:latin typeface="Roboto"/>
                        </a:rPr>
                        <a:t>Cat-5e</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ctr" fontAlgn="t"/>
                      <a:r>
                        <a:rPr lang="en-US">
                          <a:effectLst/>
                          <a:latin typeface="Roboto"/>
                        </a:rPr>
                        <a:t>4 twisted pairs of copper wire — terminated by RJ45 connectors</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ctr" fontAlgn="t"/>
                      <a:r>
                        <a:rPr lang="en-US">
                          <a:effectLst/>
                          <a:latin typeface="Roboto"/>
                        </a:rPr>
                        <a:t>100 MHz</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ctr" fontAlgn="t"/>
                      <a:r>
                        <a:rPr lang="en-US">
                          <a:effectLst/>
                          <a:latin typeface="Roboto"/>
                        </a:rPr>
                        <a:t>Up to 1000Mbps</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tc>
                  <a:txBody>
                    <a:bodyPr/>
                    <a:lstStyle/>
                    <a:p>
                      <a:pPr algn="ctr" fontAlgn="t"/>
                      <a:r>
                        <a:rPr lang="en-US">
                          <a:effectLst/>
                          <a:latin typeface="Roboto"/>
                        </a:rPr>
                        <a:t>10Base-T, 100Base-TX, 1000Base-T</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FFFFF"/>
                    </a:solidFill>
                  </a:tcPr>
                </a:tc>
                <a:extLst>
                  <a:ext uri="{0D108BD9-81ED-4DB2-BD59-A6C34878D82A}">
                    <a16:rowId xmlns:a16="http://schemas.microsoft.com/office/drawing/2014/main" val="288532496"/>
                  </a:ext>
                </a:extLst>
              </a:tr>
              <a:tr h="0">
                <a:tc>
                  <a:txBody>
                    <a:bodyPr/>
                    <a:lstStyle/>
                    <a:p>
                      <a:pPr algn="ctr" fontAlgn="t"/>
                      <a:r>
                        <a:rPr lang="en-US" dirty="0">
                          <a:effectLst/>
                          <a:latin typeface="Roboto"/>
                        </a:rPr>
                        <a:t>Cat-6</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tc>
                  <a:txBody>
                    <a:bodyPr/>
                    <a:lstStyle/>
                    <a:p>
                      <a:pPr algn="ctr" fontAlgn="t"/>
                      <a:r>
                        <a:rPr lang="en-US">
                          <a:effectLst/>
                          <a:latin typeface="Roboto"/>
                        </a:rPr>
                        <a:t>4 twisted pairs of copper wire — terminated by RJ45 connectors</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tc>
                  <a:txBody>
                    <a:bodyPr/>
                    <a:lstStyle/>
                    <a:p>
                      <a:pPr algn="ctr" fontAlgn="t"/>
                      <a:r>
                        <a:rPr lang="en-US">
                          <a:effectLst/>
                          <a:latin typeface="Roboto"/>
                        </a:rPr>
                        <a:t>250 MHz</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tc>
                  <a:txBody>
                    <a:bodyPr/>
                    <a:lstStyle/>
                    <a:p>
                      <a:pPr algn="ctr" fontAlgn="t"/>
                      <a:r>
                        <a:rPr lang="en-US" dirty="0">
                          <a:effectLst/>
                          <a:latin typeface="Roboto"/>
                        </a:rPr>
                        <a:t>1000Mbps</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tc>
                  <a:txBody>
                    <a:bodyPr/>
                    <a:lstStyle/>
                    <a:p>
                      <a:pPr algn="ctr" fontAlgn="t"/>
                      <a:r>
                        <a:rPr lang="en-US" dirty="0">
                          <a:effectLst/>
                          <a:latin typeface="Roboto"/>
                        </a:rPr>
                        <a:t>10Base-T, 100Base-TX, 1000Base-T</a:t>
                      </a:r>
                    </a:p>
                  </a:txBody>
                  <a:tcPr marL="38100" marR="38100" marT="38100" marB="38100">
                    <a:lnL w="9525" cap="flat" cmpd="sng" algn="ctr">
                      <a:solidFill>
                        <a:srgbClr val="EFEFEF"/>
                      </a:solidFill>
                      <a:prstDash val="solid"/>
                      <a:round/>
                      <a:headEnd type="none" w="med" len="med"/>
                      <a:tailEnd type="none" w="med" len="med"/>
                    </a:lnL>
                    <a:lnR w="9525" cap="flat" cmpd="sng" algn="ctr">
                      <a:solidFill>
                        <a:srgbClr val="EFEFEF"/>
                      </a:solidFill>
                      <a:prstDash val="solid"/>
                      <a:round/>
                      <a:headEnd type="none" w="med" len="med"/>
                      <a:tailEnd type="none" w="med" len="med"/>
                    </a:lnR>
                    <a:lnT w="9525" cap="flat" cmpd="sng" algn="ctr">
                      <a:solidFill>
                        <a:srgbClr val="EFEFEF"/>
                      </a:solidFill>
                      <a:prstDash val="solid"/>
                      <a:round/>
                      <a:headEnd type="none" w="med" len="med"/>
                      <a:tailEnd type="none" w="med" len="med"/>
                    </a:lnT>
                    <a:lnB w="9525" cap="flat" cmpd="sng" algn="ctr">
                      <a:solidFill>
                        <a:srgbClr val="EFEFEF"/>
                      </a:solidFill>
                      <a:prstDash val="solid"/>
                      <a:round/>
                      <a:headEnd type="none" w="med" len="med"/>
                      <a:tailEnd type="none" w="med" len="med"/>
                    </a:lnB>
                    <a:solidFill>
                      <a:srgbClr val="F9F9F9"/>
                    </a:solidFill>
                  </a:tcPr>
                </a:tc>
                <a:extLst>
                  <a:ext uri="{0D108BD9-81ED-4DB2-BD59-A6C34878D82A}">
                    <a16:rowId xmlns:a16="http://schemas.microsoft.com/office/drawing/2014/main" val="17329118"/>
                  </a:ext>
                </a:extLst>
              </a:tr>
            </a:tbl>
          </a:graphicData>
        </a:graphic>
      </p:graphicFrame>
    </p:spTree>
    <p:extLst>
      <p:ext uri="{BB962C8B-B14F-4D97-AF65-F5344CB8AC3E}">
        <p14:creationId xmlns:p14="http://schemas.microsoft.com/office/powerpoint/2010/main" val="61420339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CSMA/CD Standard</a:t>
            </a:r>
          </a:p>
        </p:txBody>
      </p:sp>
      <p:sp>
        <p:nvSpPr>
          <p:cNvPr id="3" name="Content Placeholder 2"/>
          <p:cNvSpPr>
            <a:spLocks noGrp="1"/>
          </p:cNvSpPr>
          <p:nvPr>
            <p:ph idx="1"/>
          </p:nvPr>
        </p:nvSpPr>
        <p:spPr/>
        <p:txBody>
          <a:bodyPr>
            <a:normAutofit fontScale="77500" lnSpcReduction="20000"/>
          </a:bodyPr>
          <a:lstStyle/>
          <a:p>
            <a:r>
              <a:rPr lang="en-US" dirty="0" smtClean="0"/>
              <a:t>One </a:t>
            </a:r>
            <a:r>
              <a:rPr lang="en-US" dirty="0"/>
              <a:t>of the main standards of the Ethernet technology is the </a:t>
            </a:r>
            <a:r>
              <a:rPr lang="en-US" b="1" dirty="0"/>
              <a:t>Carrier Sense Multiple Access/ Collision Detection</a:t>
            </a:r>
            <a:r>
              <a:rPr lang="en-US" dirty="0"/>
              <a:t> (CSMA/CD). </a:t>
            </a:r>
            <a:endParaRPr lang="en-US" dirty="0" smtClean="0"/>
          </a:p>
          <a:p>
            <a:r>
              <a:rPr lang="en-US" dirty="0" smtClean="0"/>
              <a:t>Ethernet </a:t>
            </a:r>
            <a:r>
              <a:rPr lang="en-US" dirty="0"/>
              <a:t>usually permits each node in the network to transmit data packets at any time without any system of waiting. </a:t>
            </a:r>
            <a:endParaRPr lang="en-US" dirty="0" smtClean="0"/>
          </a:p>
          <a:p>
            <a:r>
              <a:rPr lang="en-US" dirty="0" smtClean="0"/>
              <a:t>This </a:t>
            </a:r>
            <a:r>
              <a:rPr lang="en-US" dirty="0"/>
              <a:t>creates a high possibility for data collisions.</a:t>
            </a:r>
          </a:p>
          <a:p>
            <a:pPr lvl="1"/>
            <a:r>
              <a:rPr lang="en-US" dirty="0"/>
              <a:t>Collisions occur when two or more nodes initiate data transmissions on the same channel simultaneously. </a:t>
            </a:r>
            <a:endParaRPr lang="en-US" dirty="0" smtClean="0"/>
          </a:p>
          <a:p>
            <a:pPr lvl="1"/>
            <a:r>
              <a:rPr lang="en-US" dirty="0" smtClean="0"/>
              <a:t>When </a:t>
            </a:r>
            <a:r>
              <a:rPr lang="en-US" dirty="0"/>
              <a:t>this happens, a packet collision is said to occur. </a:t>
            </a:r>
            <a:endParaRPr lang="en-US" dirty="0" smtClean="0"/>
          </a:p>
          <a:p>
            <a:r>
              <a:rPr lang="en-US" dirty="0" smtClean="0"/>
              <a:t>Think </a:t>
            </a:r>
            <a:r>
              <a:rPr lang="en-US" dirty="0"/>
              <a:t>of a busy road intersection with no traffic lights. </a:t>
            </a:r>
            <a:endParaRPr lang="en-US" dirty="0" smtClean="0"/>
          </a:p>
          <a:p>
            <a:pPr lvl="1"/>
            <a:r>
              <a:rPr lang="en-US" dirty="0" smtClean="0"/>
              <a:t>When </a:t>
            </a:r>
            <a:r>
              <a:rPr lang="en-US" dirty="0"/>
              <a:t>each driver crosses the intersection at will, a collision is likely to occur. </a:t>
            </a:r>
            <a:endParaRPr lang="en-US" dirty="0" smtClean="0"/>
          </a:p>
          <a:p>
            <a:r>
              <a:rPr lang="en-US" dirty="0" smtClean="0"/>
              <a:t>For </a:t>
            </a:r>
            <a:r>
              <a:rPr lang="en-US" dirty="0"/>
              <a:t>Ethernet to efficiently manage these </a:t>
            </a:r>
            <a:r>
              <a:rPr lang="en-US" dirty="0" smtClean="0"/>
              <a:t>collisions, </a:t>
            </a:r>
            <a:r>
              <a:rPr lang="en-US" dirty="0"/>
              <a:t>the protocol CSMA/CD is employed. </a:t>
            </a:r>
            <a:endParaRPr lang="en-US" dirty="0" smtClean="0"/>
          </a:p>
          <a:p>
            <a:r>
              <a:rPr lang="en-US" dirty="0" smtClean="0"/>
              <a:t>CSMA/CD </a:t>
            </a:r>
            <a:r>
              <a:rPr lang="en-US" dirty="0"/>
              <a:t>therefore defines how the devices involved in the collision must respond. </a:t>
            </a:r>
            <a:endParaRPr lang="en-US" dirty="0" smtClean="0"/>
          </a:p>
          <a:p>
            <a:r>
              <a:rPr lang="en-US" dirty="0" smtClean="0"/>
              <a:t>These </a:t>
            </a:r>
            <a:r>
              <a:rPr lang="en-US" dirty="0"/>
              <a:t>definitions dictate how long a device should wait to proceed with data transmission. </a:t>
            </a:r>
            <a:endParaRPr lang="en-US" dirty="0" smtClean="0"/>
          </a:p>
          <a:p>
            <a:r>
              <a:rPr lang="en-US" dirty="0" smtClean="0"/>
              <a:t>If </a:t>
            </a:r>
            <a:r>
              <a:rPr lang="en-US" dirty="0"/>
              <a:t>repeated collisions occur devices may wait twice as long before re-transmitting</a:t>
            </a:r>
            <a:r>
              <a:rPr lang="en-US" dirty="0" smtClean="0"/>
              <a:t>.</a:t>
            </a:r>
            <a:endParaRPr lang="en-US" dirty="0"/>
          </a:p>
        </p:txBody>
      </p:sp>
    </p:spTree>
    <p:extLst>
      <p:ext uri="{BB962C8B-B14F-4D97-AF65-F5344CB8AC3E}">
        <p14:creationId xmlns:p14="http://schemas.microsoft.com/office/powerpoint/2010/main" val="263030066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CSMA/CD </a:t>
            </a:r>
            <a:r>
              <a:rPr lang="en-US" dirty="0" smtClean="0"/>
              <a:t>Standard: Access Modes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1-Persistent</a:t>
            </a:r>
            <a:r>
              <a:rPr lang="en-US" dirty="0"/>
              <a:t> </a:t>
            </a:r>
            <a:endParaRPr lang="en-US" dirty="0" smtClean="0"/>
          </a:p>
          <a:p>
            <a:pPr lvl="1"/>
            <a:r>
              <a:rPr lang="en-US" dirty="0" smtClean="0"/>
              <a:t>Device </a:t>
            </a:r>
            <a:r>
              <a:rPr lang="en-US" dirty="0"/>
              <a:t>waits for the channel to be idle then transmits data. </a:t>
            </a:r>
            <a:endParaRPr lang="en-US" dirty="0" smtClean="0"/>
          </a:p>
          <a:p>
            <a:pPr lvl="1"/>
            <a:r>
              <a:rPr lang="en-US" dirty="0" smtClean="0"/>
              <a:t>Often </a:t>
            </a:r>
            <a:r>
              <a:rPr lang="en-US" dirty="0"/>
              <a:t>used by CSMA/CD systems like Ethernet</a:t>
            </a:r>
          </a:p>
          <a:p>
            <a:r>
              <a:rPr lang="en-US" b="1" dirty="0"/>
              <a:t>P-Persistent</a:t>
            </a:r>
            <a:r>
              <a:rPr lang="en-US" dirty="0"/>
              <a:t> </a:t>
            </a:r>
            <a:endParaRPr lang="en-US" dirty="0" smtClean="0"/>
          </a:p>
          <a:p>
            <a:pPr lvl="1"/>
            <a:r>
              <a:rPr lang="en-US" dirty="0" smtClean="0"/>
              <a:t>Device </a:t>
            </a:r>
            <a:r>
              <a:rPr lang="en-US" dirty="0"/>
              <a:t>waits for the channel to be idle then transmits data with success at probability P. </a:t>
            </a:r>
            <a:endParaRPr lang="en-US" dirty="0" smtClean="0"/>
          </a:p>
          <a:p>
            <a:pPr lvl="1"/>
            <a:r>
              <a:rPr lang="en-US" dirty="0" smtClean="0"/>
              <a:t>If </a:t>
            </a:r>
            <a:r>
              <a:rPr lang="en-US" dirty="0"/>
              <a:t>the transmission fails at probability (1-P) the device waits for the channel to be idle again and re-transmits. </a:t>
            </a:r>
            <a:endParaRPr lang="en-US" dirty="0" smtClean="0"/>
          </a:p>
          <a:p>
            <a:pPr lvl="1"/>
            <a:r>
              <a:rPr lang="en-US" dirty="0" smtClean="0"/>
              <a:t>This </a:t>
            </a:r>
            <a:r>
              <a:rPr lang="en-US" dirty="0"/>
              <a:t>is used by CSMA/CA (Carrier Sense Multiple Access/Collision Avoidance) systems like Wi-Fi.</a:t>
            </a:r>
          </a:p>
          <a:p>
            <a:r>
              <a:rPr lang="en-US" b="1" dirty="0"/>
              <a:t>O-Persistent</a:t>
            </a:r>
            <a:r>
              <a:rPr lang="en-US" dirty="0"/>
              <a:t> </a:t>
            </a:r>
            <a:endParaRPr lang="en-US" dirty="0" smtClean="0"/>
          </a:p>
          <a:p>
            <a:pPr lvl="1"/>
            <a:r>
              <a:rPr lang="en-US" dirty="0" smtClean="0"/>
              <a:t>which </a:t>
            </a:r>
            <a:r>
              <a:rPr lang="en-US" dirty="0"/>
              <a:t>develops a transmission queue called a </a:t>
            </a:r>
            <a:r>
              <a:rPr lang="en-US" b="1" dirty="0"/>
              <a:t>Transmission Order</a:t>
            </a:r>
            <a:r>
              <a:rPr lang="en-US" dirty="0"/>
              <a:t> for each device or node. </a:t>
            </a:r>
            <a:endParaRPr lang="en-US" dirty="0" smtClean="0"/>
          </a:p>
          <a:p>
            <a:pPr lvl="1"/>
            <a:r>
              <a:rPr lang="en-US" dirty="0" smtClean="0"/>
              <a:t>When </a:t>
            </a:r>
            <a:r>
              <a:rPr lang="en-US" dirty="0"/>
              <a:t>the channel is idle the node or device next in line transmits data.</a:t>
            </a:r>
            <a:endParaRPr lang="en-US" dirty="0"/>
          </a:p>
        </p:txBody>
      </p:sp>
    </p:spTree>
    <p:extLst>
      <p:ext uri="{BB962C8B-B14F-4D97-AF65-F5344CB8AC3E}">
        <p14:creationId xmlns:p14="http://schemas.microsoft.com/office/powerpoint/2010/main" val="240947631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 Ring</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Token </a:t>
            </a:r>
            <a:r>
              <a:rPr lang="en-US" dirty="0"/>
              <a:t>Ring is another form of network configuration. </a:t>
            </a:r>
            <a:endParaRPr lang="en-US" dirty="0" smtClean="0"/>
          </a:p>
          <a:p>
            <a:r>
              <a:rPr lang="en-US" dirty="0" smtClean="0"/>
              <a:t>It </a:t>
            </a:r>
            <a:r>
              <a:rPr lang="en-US" dirty="0"/>
              <a:t>differs from Ethernet in that all messages are transferred in one direction along the ring at all times. </a:t>
            </a:r>
            <a:endParaRPr lang="en-US" dirty="0" smtClean="0"/>
          </a:p>
          <a:p>
            <a:r>
              <a:rPr lang="en-US" dirty="0" smtClean="0"/>
              <a:t>Token </a:t>
            </a:r>
            <a:r>
              <a:rPr lang="en-US" dirty="0"/>
              <a:t>Ring networks sequentially pass a “token” to each connected device. </a:t>
            </a:r>
            <a:endParaRPr lang="en-US" dirty="0" smtClean="0"/>
          </a:p>
          <a:p>
            <a:r>
              <a:rPr lang="en-US" dirty="0" smtClean="0"/>
              <a:t>When </a:t>
            </a:r>
            <a:r>
              <a:rPr lang="en-US" dirty="0"/>
              <a:t>the token arrives at a particular computer (or device), the recipient is allowed to transmit data onto the network. </a:t>
            </a:r>
            <a:endParaRPr lang="en-US" dirty="0" smtClean="0"/>
          </a:p>
          <a:p>
            <a:r>
              <a:rPr lang="en-US" dirty="0" smtClean="0"/>
              <a:t>Since </a:t>
            </a:r>
            <a:r>
              <a:rPr lang="en-US" dirty="0"/>
              <a:t>only one device may be transmitting at any given time, no data collisions occur. </a:t>
            </a:r>
            <a:endParaRPr lang="en-US" dirty="0" smtClean="0"/>
          </a:p>
          <a:p>
            <a:r>
              <a:rPr lang="en-US" dirty="0" smtClean="0"/>
              <a:t>Access </a:t>
            </a:r>
            <a:r>
              <a:rPr lang="en-US" dirty="0"/>
              <a:t>to the network is guaranteed, and time-sensitive applications can be supported. </a:t>
            </a:r>
            <a:endParaRPr lang="en-US" dirty="0" smtClean="0"/>
          </a:p>
          <a:p>
            <a:r>
              <a:rPr lang="en-US" dirty="0" smtClean="0"/>
              <a:t>However</a:t>
            </a:r>
            <a:r>
              <a:rPr lang="en-US" dirty="0"/>
              <a:t>, these benefits come at a price. </a:t>
            </a:r>
            <a:endParaRPr lang="en-US" dirty="0" smtClean="0"/>
          </a:p>
          <a:p>
            <a:pPr lvl="1"/>
            <a:r>
              <a:rPr lang="en-US" dirty="0" smtClean="0"/>
              <a:t>Component </a:t>
            </a:r>
            <a:r>
              <a:rPr lang="en-US" dirty="0"/>
              <a:t>costs are usually higher, and the networks themselves are considered to be more complex and difficult to implement. </a:t>
            </a:r>
            <a:endParaRPr lang="en-US" dirty="0" smtClean="0"/>
          </a:p>
          <a:p>
            <a:pPr lvl="1"/>
            <a:r>
              <a:rPr lang="en-US" dirty="0" smtClean="0"/>
              <a:t>Various </a:t>
            </a:r>
            <a:r>
              <a:rPr lang="en-US" dirty="0"/>
              <a:t>PC vendors have been proponents of Token Ring networks.</a:t>
            </a:r>
            <a:endParaRPr lang="en-US" dirty="0"/>
          </a:p>
        </p:txBody>
      </p:sp>
    </p:spTree>
    <p:extLst>
      <p:ext uri="{BB962C8B-B14F-4D97-AF65-F5344CB8AC3E}">
        <p14:creationId xmlns:p14="http://schemas.microsoft.com/office/powerpoint/2010/main" val="223802132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Token Ring</a:t>
            </a:r>
            <a:endParaRPr lang="en-US" dirty="0"/>
          </a:p>
        </p:txBody>
      </p:sp>
      <p:sp>
        <p:nvSpPr>
          <p:cNvPr id="3" name="Content Placeholder 2"/>
          <p:cNvSpPr>
            <a:spLocks noGrp="1"/>
          </p:cNvSpPr>
          <p:nvPr>
            <p:ph idx="1"/>
          </p:nvPr>
        </p:nvSpPr>
        <p:spPr/>
        <p:txBody>
          <a:bodyPr>
            <a:normAutofit/>
          </a:bodyPr>
          <a:lstStyle/>
          <a:p>
            <a:r>
              <a:rPr lang="en-US" dirty="0"/>
              <a:t>A token ring is a data link for a local area network (LAN) in which all devices are connected in a ring or star topology and pass one or more tokens from host to host. </a:t>
            </a:r>
            <a:endParaRPr lang="en-US" dirty="0" smtClean="0"/>
          </a:p>
          <a:p>
            <a:r>
              <a:rPr lang="en-US" dirty="0" smtClean="0"/>
              <a:t>A </a:t>
            </a:r>
            <a:r>
              <a:rPr lang="en-US" dirty="0"/>
              <a:t>token is a frame of data transmitted between network points. </a:t>
            </a:r>
            <a:endParaRPr lang="en-US" dirty="0" smtClean="0"/>
          </a:p>
          <a:p>
            <a:r>
              <a:rPr lang="en-US" dirty="0" smtClean="0"/>
              <a:t>Only </a:t>
            </a:r>
            <a:r>
              <a:rPr lang="en-US" dirty="0"/>
              <a:t>a host that holds a token can send data, and tokens are released when receipt of the data is confirmed. </a:t>
            </a:r>
            <a:endParaRPr lang="en-US" dirty="0" smtClean="0"/>
          </a:p>
          <a:p>
            <a:r>
              <a:rPr lang="en-US" dirty="0"/>
              <a:t>A ring consists of a collection of ring interfaces connected by point-to-point lines i.e. ring interface of one station is connected to the ring interfaces of its left station as well as right station.</a:t>
            </a:r>
          </a:p>
          <a:p>
            <a:r>
              <a:rPr lang="en-US" dirty="0" smtClean="0"/>
              <a:t>IBM </a:t>
            </a:r>
            <a:r>
              <a:rPr lang="en-US" dirty="0"/>
              <a:t>developed token ring technology in the 1980s as an alternative to Ethernet.</a:t>
            </a:r>
            <a:endParaRPr lang="en-US" dirty="0"/>
          </a:p>
        </p:txBody>
      </p:sp>
    </p:spTree>
    <p:extLst>
      <p:ext uri="{BB962C8B-B14F-4D97-AF65-F5344CB8AC3E}">
        <p14:creationId xmlns:p14="http://schemas.microsoft.com/office/powerpoint/2010/main" val="143526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Token Ring: Token Passing</a:t>
            </a:r>
            <a:endParaRPr lang="en-US" dirty="0"/>
          </a:p>
        </p:txBody>
      </p:sp>
      <p:sp>
        <p:nvSpPr>
          <p:cNvPr id="3" name="Content Placeholder 2"/>
          <p:cNvSpPr>
            <a:spLocks noGrp="1"/>
          </p:cNvSpPr>
          <p:nvPr>
            <p:ph idx="1"/>
          </p:nvPr>
        </p:nvSpPr>
        <p:spPr/>
        <p:txBody>
          <a:bodyPr>
            <a:normAutofit lnSpcReduction="10000"/>
          </a:bodyPr>
          <a:lstStyle/>
          <a:p>
            <a:r>
              <a:rPr lang="en-US" dirty="0" smtClean="0"/>
              <a:t>If </a:t>
            </a:r>
            <a:r>
              <a:rPr lang="en-US" dirty="0"/>
              <a:t>a station has a frame to transmit when it receives a token, it sends the frame and then passes the token to the next station; </a:t>
            </a:r>
            <a:endParaRPr lang="en-US" dirty="0" smtClean="0"/>
          </a:p>
          <a:p>
            <a:pPr lvl="1"/>
            <a:r>
              <a:rPr lang="en-US" dirty="0" smtClean="0"/>
              <a:t>otherwise </a:t>
            </a:r>
            <a:r>
              <a:rPr lang="en-US" dirty="0"/>
              <a:t>it simply passes the token to the next station. </a:t>
            </a:r>
            <a:endParaRPr lang="en-US" dirty="0" smtClean="0"/>
          </a:p>
          <a:p>
            <a:r>
              <a:rPr lang="en-US" dirty="0" smtClean="0"/>
              <a:t>Passing </a:t>
            </a:r>
            <a:r>
              <a:rPr lang="en-US" dirty="0"/>
              <a:t>the token means receiving the token from the preceding station and transmitting to the successor station. </a:t>
            </a:r>
            <a:endParaRPr lang="en-US" dirty="0" smtClean="0"/>
          </a:p>
          <a:p>
            <a:r>
              <a:rPr lang="en-US" dirty="0" smtClean="0"/>
              <a:t>The </a:t>
            </a:r>
            <a:r>
              <a:rPr lang="en-US" dirty="0"/>
              <a:t>data flow is unidirectional in the direction of the token passing. </a:t>
            </a:r>
            <a:endParaRPr lang="en-US" dirty="0" smtClean="0"/>
          </a:p>
          <a:p>
            <a:r>
              <a:rPr lang="en-US" dirty="0" smtClean="0"/>
              <a:t>In </a:t>
            </a:r>
            <a:r>
              <a:rPr lang="en-US" dirty="0"/>
              <a:t>order that tokens are not circulated infinitely, they are removed from the network once their purpose is completed. </a:t>
            </a:r>
            <a:endParaRPr lang="en-US" dirty="0" smtClean="0"/>
          </a:p>
          <a:p>
            <a:r>
              <a:rPr lang="en-US" dirty="0"/>
              <a:t>Furthermore, it also makes sure that one token circulates whenever there is no frame transmission. </a:t>
            </a:r>
            <a:endParaRPr lang="en-US" dirty="0" smtClean="0"/>
          </a:p>
          <a:p>
            <a:r>
              <a:rPr lang="en-US" dirty="0" smtClean="0"/>
              <a:t>It </a:t>
            </a:r>
            <a:r>
              <a:rPr lang="en-US" dirty="0"/>
              <a:t>also detects a broken ring and removes circulating frames from the ring. The third field in the token frame is the ending delimiter.</a:t>
            </a:r>
          </a:p>
        </p:txBody>
      </p:sp>
    </p:spTree>
    <p:extLst>
      <p:ext uri="{BB962C8B-B14F-4D97-AF65-F5344CB8AC3E}">
        <p14:creationId xmlns:p14="http://schemas.microsoft.com/office/powerpoint/2010/main" val="1003846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Token Ring: Token Passing</a:t>
            </a:r>
            <a:endParaRPr lang="en-US" dirty="0"/>
          </a:p>
        </p:txBody>
      </p:sp>
      <p:pic>
        <p:nvPicPr>
          <p:cNvPr id="4098" name="Picture 2" descr="Efficiency Of Token Ring - GeeksforGeek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328987" y="1317625"/>
            <a:ext cx="5534025" cy="4867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110836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Token Ring: Advantages &amp; Disadvantages</a:t>
            </a:r>
            <a:endParaRPr lang="en-US" dirty="0"/>
          </a:p>
        </p:txBody>
      </p:sp>
      <p:sp>
        <p:nvSpPr>
          <p:cNvPr id="3" name="Content Placeholder 2"/>
          <p:cNvSpPr>
            <a:spLocks noGrp="1"/>
          </p:cNvSpPr>
          <p:nvPr>
            <p:ph idx="1"/>
          </p:nvPr>
        </p:nvSpPr>
        <p:spPr/>
        <p:txBody>
          <a:bodyPr>
            <a:normAutofit/>
          </a:bodyPr>
          <a:lstStyle/>
          <a:p>
            <a:r>
              <a:rPr lang="en-US" b="1" u="sng" dirty="0"/>
              <a:t>Advantages of token rings</a:t>
            </a:r>
          </a:p>
          <a:p>
            <a:pPr lvl="1"/>
            <a:r>
              <a:rPr lang="en-US" dirty="0"/>
              <a:t>Token rings reduce the chances of data collision.</a:t>
            </a:r>
          </a:p>
          <a:p>
            <a:pPr lvl="1"/>
            <a:r>
              <a:rPr lang="en-US" dirty="0"/>
              <a:t>Token passing performs better than bus topology under heavy traffic.</a:t>
            </a:r>
          </a:p>
          <a:p>
            <a:pPr lvl="1"/>
            <a:r>
              <a:rPr lang="en-US" dirty="0"/>
              <a:t>A server is not needed to control connectivity among the nodes.</a:t>
            </a:r>
          </a:p>
          <a:p>
            <a:pPr marL="457200" lvl="1" indent="0">
              <a:buNone/>
            </a:pPr>
            <a:endParaRPr lang="en-US" dirty="0" smtClean="0"/>
          </a:p>
          <a:p>
            <a:r>
              <a:rPr lang="en-US" b="1" u="sng" dirty="0" smtClean="0"/>
              <a:t>Disadvantages </a:t>
            </a:r>
            <a:r>
              <a:rPr lang="en-US" b="1" u="sng" dirty="0"/>
              <a:t>of token rings</a:t>
            </a:r>
          </a:p>
          <a:p>
            <a:pPr lvl="1"/>
            <a:r>
              <a:rPr lang="en-US" dirty="0"/>
              <a:t>Data packets must pass through all the nodes, slowing routing.</a:t>
            </a:r>
          </a:p>
          <a:p>
            <a:pPr lvl="1"/>
            <a:r>
              <a:rPr lang="en-US" dirty="0"/>
              <a:t>Token ring networks have suffered from network management problems and poor network fault tolerance.</a:t>
            </a:r>
          </a:p>
          <a:p>
            <a:pPr lvl="1"/>
            <a:r>
              <a:rPr lang="en-US" dirty="0"/>
              <a:t>Token ring is considered obsolete, with the dominance of Ethernet and the IEEE working group having been disbanded.</a:t>
            </a:r>
            <a:endParaRPr lang="en-US" dirty="0"/>
          </a:p>
        </p:txBody>
      </p:sp>
    </p:spTree>
    <p:extLst>
      <p:ext uri="{BB962C8B-B14F-4D97-AF65-F5344CB8AC3E}">
        <p14:creationId xmlns:p14="http://schemas.microsoft.com/office/powerpoint/2010/main" val="2426268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Token Bus</a:t>
            </a:r>
            <a:endParaRPr lang="en-US" dirty="0"/>
          </a:p>
        </p:txBody>
      </p:sp>
      <p:sp>
        <p:nvSpPr>
          <p:cNvPr id="3" name="Content Placeholder 2"/>
          <p:cNvSpPr>
            <a:spLocks noGrp="1"/>
          </p:cNvSpPr>
          <p:nvPr>
            <p:ph idx="1"/>
          </p:nvPr>
        </p:nvSpPr>
        <p:spPr/>
        <p:txBody>
          <a:bodyPr>
            <a:normAutofit lnSpcReduction="10000"/>
          </a:bodyPr>
          <a:lstStyle/>
          <a:p>
            <a:r>
              <a:rPr lang="en-US" dirty="0"/>
              <a:t>Token Bus (IEEE 802.4) is a standard for implementing token ring over virtual ring in LANs.</a:t>
            </a:r>
            <a:endParaRPr lang="en-US" dirty="0" smtClean="0"/>
          </a:p>
          <a:p>
            <a:r>
              <a:rPr lang="en-US" dirty="0" smtClean="0"/>
              <a:t>The </a:t>
            </a:r>
            <a:r>
              <a:rPr lang="en-US" dirty="0"/>
              <a:t>token bus network standard passes tokens along a virtual ring.</a:t>
            </a:r>
          </a:p>
          <a:p>
            <a:pPr lvl="1"/>
            <a:r>
              <a:rPr lang="en-US" dirty="0" smtClean="0"/>
              <a:t>The </a:t>
            </a:r>
            <a:r>
              <a:rPr lang="en-US" dirty="0"/>
              <a:t>token ring is an IEEE 802.5 standard and is passed over a physical token ring network and not a virtual ring. </a:t>
            </a:r>
            <a:endParaRPr lang="en-US" dirty="0" smtClean="0"/>
          </a:p>
          <a:p>
            <a:r>
              <a:rPr lang="en-US" dirty="0" smtClean="0"/>
              <a:t>The </a:t>
            </a:r>
            <a:r>
              <a:rPr lang="en-US" dirty="0"/>
              <a:t>virtual ring is made up of stations that pass tokens during a sequence in a virtual ring. </a:t>
            </a:r>
            <a:endParaRPr lang="en-US" dirty="0" smtClean="0"/>
          </a:p>
          <a:p>
            <a:r>
              <a:rPr lang="en-US" dirty="0" smtClean="0"/>
              <a:t>Each </a:t>
            </a:r>
            <a:r>
              <a:rPr lang="en-US" dirty="0"/>
              <a:t>node or station in a token bus network knows both the predecessor station's and successor station's addresses. </a:t>
            </a:r>
            <a:endParaRPr lang="en-US" dirty="0" smtClean="0"/>
          </a:p>
          <a:p>
            <a:r>
              <a:rPr lang="en-US" dirty="0" smtClean="0"/>
              <a:t>In </a:t>
            </a:r>
            <a:r>
              <a:rPr lang="en-US" dirty="0"/>
              <a:t>this scenario, a node transmits the data only if it has a token. </a:t>
            </a:r>
            <a:endParaRPr lang="en-US" dirty="0" smtClean="0"/>
          </a:p>
          <a:p>
            <a:r>
              <a:rPr lang="en-US" dirty="0" smtClean="0"/>
              <a:t>Although </a:t>
            </a:r>
            <a:r>
              <a:rPr lang="en-US" dirty="0"/>
              <a:t>it is a virtual ring, its working rule is analogous.</a:t>
            </a:r>
          </a:p>
        </p:txBody>
      </p:sp>
    </p:spTree>
    <p:extLst>
      <p:ext uri="{BB962C8B-B14F-4D97-AF65-F5344CB8AC3E}">
        <p14:creationId xmlns:p14="http://schemas.microsoft.com/office/powerpoint/2010/main" val="1825031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Token Bus: Token Passing</a:t>
            </a:r>
            <a:endParaRPr lang="en-US" dirty="0"/>
          </a:p>
        </p:txBody>
      </p:sp>
      <p:sp>
        <p:nvSpPr>
          <p:cNvPr id="3" name="Content Placeholder 2"/>
          <p:cNvSpPr>
            <a:spLocks noGrp="1"/>
          </p:cNvSpPr>
          <p:nvPr>
            <p:ph idx="1"/>
          </p:nvPr>
        </p:nvSpPr>
        <p:spPr/>
        <p:txBody>
          <a:bodyPr>
            <a:normAutofit/>
          </a:bodyPr>
          <a:lstStyle/>
          <a:p>
            <a:r>
              <a:rPr lang="en-US" dirty="0"/>
              <a:t>A token is a small message that circulates among the stations of a computer network providing permission to the stations for transmission. </a:t>
            </a:r>
            <a:endParaRPr lang="en-US" dirty="0" smtClean="0"/>
          </a:p>
          <a:p>
            <a:r>
              <a:rPr lang="en-US" dirty="0" smtClean="0"/>
              <a:t>If </a:t>
            </a:r>
            <a:r>
              <a:rPr lang="en-US" dirty="0"/>
              <a:t>a station has data to transmit when it receives a token, it sends the data and then passes the token to the next station; otherwise, it simply passes the token to the next station. </a:t>
            </a:r>
          </a:p>
        </p:txBody>
      </p:sp>
    </p:spTree>
    <p:extLst>
      <p:ext uri="{BB962C8B-B14F-4D97-AF65-F5344CB8AC3E}">
        <p14:creationId xmlns:p14="http://schemas.microsoft.com/office/powerpoint/2010/main" val="3089453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Token Bus: Token Passing</a:t>
            </a:r>
            <a:endParaRPr lang="en-US" dirty="0"/>
          </a:p>
        </p:txBody>
      </p:sp>
      <p:pic>
        <p:nvPicPr>
          <p:cNvPr id="7170" name="Picture 2" descr="Token Bus and Token Ring - Coding Ninjas CodeStudio"/>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90800" y="1701996"/>
            <a:ext cx="7010400" cy="3057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887748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Token Ring Vs Token Bus</a:t>
            </a:r>
            <a:endParaRPr lang="en-US" dirty="0"/>
          </a:p>
        </p:txBody>
      </p:sp>
      <p:sp>
        <p:nvSpPr>
          <p:cNvPr id="3" name="Content Placeholder 2"/>
          <p:cNvSpPr>
            <a:spLocks noGrp="1"/>
          </p:cNvSpPr>
          <p:nvPr>
            <p:ph idx="1"/>
          </p:nvPr>
        </p:nvSpPr>
        <p:spPr/>
        <p:txBody>
          <a:bodyPr>
            <a:normAutofit/>
          </a:bodyPr>
          <a:lstStyle/>
          <a:p>
            <a:r>
              <a:rPr lang="en-US" dirty="0"/>
              <a:t>Token ring networks are intended for offices, while token bus networks are designed for </a:t>
            </a:r>
            <a:r>
              <a:rPr lang="en-US" dirty="0" smtClean="0"/>
              <a:t>large </a:t>
            </a:r>
            <a:r>
              <a:rPr lang="en-US" dirty="0"/>
              <a:t>industries</a:t>
            </a:r>
            <a:r>
              <a:rPr lang="en-US" dirty="0" smtClean="0"/>
              <a:t>.</a:t>
            </a: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057986918"/>
              </p:ext>
            </p:extLst>
          </p:nvPr>
        </p:nvGraphicFramePr>
        <p:xfrm>
          <a:off x="1181686" y="2150931"/>
          <a:ext cx="10172114" cy="3833707"/>
        </p:xfrm>
        <a:graphic>
          <a:graphicData uri="http://schemas.openxmlformats.org/drawingml/2006/table">
            <a:tbl>
              <a:tblPr/>
              <a:tblGrid>
                <a:gridCol w="5045659">
                  <a:extLst>
                    <a:ext uri="{9D8B030D-6E8A-4147-A177-3AD203B41FA5}">
                      <a16:colId xmlns:a16="http://schemas.microsoft.com/office/drawing/2014/main" val="1223900704"/>
                    </a:ext>
                  </a:extLst>
                </a:gridCol>
                <a:gridCol w="5126455">
                  <a:extLst>
                    <a:ext uri="{9D8B030D-6E8A-4147-A177-3AD203B41FA5}">
                      <a16:colId xmlns:a16="http://schemas.microsoft.com/office/drawing/2014/main" val="2340399386"/>
                    </a:ext>
                  </a:extLst>
                </a:gridCol>
              </a:tblGrid>
              <a:tr h="507863">
                <a:tc>
                  <a:txBody>
                    <a:bodyPr/>
                    <a:lstStyle/>
                    <a:p>
                      <a:pPr algn="ctr" fontAlgn="t"/>
                      <a:r>
                        <a:rPr lang="en-US" sz="2000" dirty="0">
                          <a:effectLst/>
                        </a:rPr>
                        <a:t>Token </a:t>
                      </a:r>
                      <a:r>
                        <a:rPr lang="en-US" sz="2000" dirty="0" smtClean="0">
                          <a:effectLst/>
                        </a:rPr>
                        <a:t>Ring</a:t>
                      </a:r>
                      <a:endParaRPr lang="en-US" sz="2000" dirty="0">
                        <a:effectLst/>
                      </a:endParaRPr>
                    </a:p>
                  </a:txBody>
                  <a:tcPr marL="58173" marR="58173" marT="58173" marB="5817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000" dirty="0">
                          <a:effectLst/>
                        </a:rPr>
                        <a:t>Token </a:t>
                      </a:r>
                      <a:r>
                        <a:rPr lang="en-US" sz="2000" dirty="0" smtClean="0">
                          <a:effectLst/>
                        </a:rPr>
                        <a:t>Bus</a:t>
                      </a:r>
                      <a:endParaRPr lang="en-US" sz="2000" dirty="0">
                        <a:effectLst/>
                      </a:endParaRPr>
                    </a:p>
                  </a:txBody>
                  <a:tcPr marL="58173" marR="58173" marT="58173" marB="5817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2361408349"/>
                  </a:ext>
                </a:extLst>
              </a:tr>
              <a:tr h="1007210">
                <a:tc>
                  <a:txBody>
                    <a:bodyPr/>
                    <a:lstStyle/>
                    <a:p>
                      <a:pPr fontAlgn="t"/>
                      <a:r>
                        <a:rPr lang="en-US" sz="2000" dirty="0">
                          <a:effectLst/>
                        </a:rPr>
                        <a:t>The token is passed over the physical ring formed by the stations and the coaxial cable network</a:t>
                      </a:r>
                      <a:r>
                        <a:rPr lang="en-US" sz="2000" dirty="0" smtClean="0">
                          <a:effectLst/>
                        </a:rPr>
                        <a:t>.</a:t>
                      </a:r>
                      <a:endParaRPr lang="en-US" sz="2000" dirty="0">
                        <a:effectLst/>
                      </a:endParaRPr>
                    </a:p>
                  </a:txBody>
                  <a:tcPr marL="58173" marR="58173" marT="58173" marB="5817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000" dirty="0">
                          <a:effectLst/>
                        </a:rPr>
                        <a:t>The token is passed along the virtual ring of stations connected to a LAN</a:t>
                      </a:r>
                      <a:r>
                        <a:rPr lang="en-US" sz="2000" dirty="0" smtClean="0">
                          <a:effectLst/>
                        </a:rPr>
                        <a:t>.</a:t>
                      </a:r>
                      <a:endParaRPr lang="en-US" sz="2000" dirty="0">
                        <a:effectLst/>
                      </a:endParaRPr>
                    </a:p>
                  </a:txBody>
                  <a:tcPr marL="58173" marR="58173" marT="58173" marB="5817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145648645"/>
                  </a:ext>
                </a:extLst>
              </a:tr>
              <a:tr h="825577">
                <a:tc>
                  <a:txBody>
                    <a:bodyPr/>
                    <a:lstStyle/>
                    <a:p>
                      <a:pPr fontAlgn="t"/>
                      <a:r>
                        <a:rPr lang="en-US" sz="2000" dirty="0">
                          <a:effectLst/>
                        </a:rPr>
                        <a:t>The stations are connected by ring topology, or sometimes star topology</a:t>
                      </a:r>
                      <a:r>
                        <a:rPr lang="en-US" sz="2000" dirty="0" smtClean="0">
                          <a:effectLst/>
                        </a:rPr>
                        <a:t>.</a:t>
                      </a:r>
                      <a:endParaRPr lang="en-US" sz="2000" dirty="0">
                        <a:effectLst/>
                      </a:endParaRPr>
                    </a:p>
                  </a:txBody>
                  <a:tcPr marL="58173" marR="58173" marT="58173" marB="5817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000" dirty="0">
                          <a:effectLst/>
                        </a:rPr>
                        <a:t>The underlying topology that connects the stations is either bus or tree topology</a:t>
                      </a:r>
                      <a:r>
                        <a:rPr lang="en-US" sz="2000" dirty="0" smtClean="0">
                          <a:effectLst/>
                        </a:rPr>
                        <a:t>.</a:t>
                      </a:r>
                      <a:endParaRPr lang="en-US" sz="2000" dirty="0">
                        <a:effectLst/>
                      </a:endParaRPr>
                    </a:p>
                  </a:txBody>
                  <a:tcPr marL="58173" marR="58173" marT="58173" marB="5817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596753996"/>
                  </a:ext>
                </a:extLst>
              </a:tr>
              <a:tr h="643944">
                <a:tc>
                  <a:txBody>
                    <a:bodyPr/>
                    <a:lstStyle/>
                    <a:p>
                      <a:pPr fontAlgn="t"/>
                      <a:r>
                        <a:rPr lang="en-US" sz="2000" dirty="0">
                          <a:effectLst/>
                        </a:rPr>
                        <a:t>It is defined by IEEE 802.5 standard</a:t>
                      </a:r>
                      <a:r>
                        <a:rPr lang="en-US" sz="2000" dirty="0" smtClean="0">
                          <a:effectLst/>
                        </a:rPr>
                        <a:t>.</a:t>
                      </a:r>
                      <a:endParaRPr lang="en-US" sz="2000" dirty="0">
                        <a:effectLst/>
                      </a:endParaRPr>
                    </a:p>
                  </a:txBody>
                  <a:tcPr marL="58173" marR="58173" marT="58173" marB="5817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000" dirty="0">
                          <a:effectLst/>
                        </a:rPr>
                        <a:t>It is defined by IEEE 802.4 </a:t>
                      </a:r>
                      <a:r>
                        <a:rPr lang="en-US" sz="2000" dirty="0" smtClean="0">
                          <a:effectLst/>
                        </a:rPr>
                        <a:t>standard.</a:t>
                      </a:r>
                      <a:endParaRPr lang="en-US" sz="2000" dirty="0">
                        <a:effectLst/>
                      </a:endParaRPr>
                    </a:p>
                  </a:txBody>
                  <a:tcPr marL="58173" marR="58173" marT="58173" marB="5817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263531161"/>
                  </a:ext>
                </a:extLst>
              </a:tr>
              <a:tr h="825577">
                <a:tc>
                  <a:txBody>
                    <a:bodyPr/>
                    <a:lstStyle/>
                    <a:p>
                      <a:pPr fontAlgn="t"/>
                      <a:r>
                        <a:rPr lang="en-US" sz="2000" dirty="0">
                          <a:effectLst/>
                        </a:rPr>
                        <a:t>The maximum time for a token to reach a station can be calculated here</a:t>
                      </a:r>
                      <a:r>
                        <a:rPr lang="en-US" sz="2000" dirty="0" smtClean="0">
                          <a:effectLst/>
                        </a:rPr>
                        <a:t>.</a:t>
                      </a:r>
                      <a:endParaRPr lang="en-US" sz="2000" dirty="0">
                        <a:effectLst/>
                      </a:endParaRPr>
                    </a:p>
                  </a:txBody>
                  <a:tcPr marL="58173" marR="58173" marT="58173" marB="5817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000" dirty="0">
                          <a:effectLst/>
                        </a:rPr>
                        <a:t>It is not feasible to calculate the time for token transfer.</a:t>
                      </a:r>
                    </a:p>
                  </a:txBody>
                  <a:tcPr marL="58173" marR="58173" marT="58173" marB="5817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250115498"/>
                  </a:ext>
                </a:extLst>
              </a:tr>
            </a:tbl>
          </a:graphicData>
        </a:graphic>
      </p:graphicFrame>
    </p:spTree>
    <p:extLst>
      <p:ext uri="{BB962C8B-B14F-4D97-AF65-F5344CB8AC3E}">
        <p14:creationId xmlns:p14="http://schemas.microsoft.com/office/powerpoint/2010/main" val="4040209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3514" y="1776551"/>
            <a:ext cx="10515600" cy="2255826"/>
          </a:xfrm>
        </p:spPr>
        <p:txBody>
          <a:bodyPr>
            <a:normAutofit/>
          </a:bodyPr>
          <a:lstStyle/>
          <a:p>
            <a:r>
              <a:rPr lang="en-US" sz="6600" dirty="0"/>
              <a:t>Overview Virtual Circuit Switching, Frame Relay &amp; ATM </a:t>
            </a:r>
            <a:endParaRPr lang="en-US" sz="5300" dirty="0"/>
          </a:p>
        </p:txBody>
      </p:sp>
    </p:spTree>
    <p:extLst>
      <p:ext uri="{BB962C8B-B14F-4D97-AF65-F5344CB8AC3E}">
        <p14:creationId xmlns:p14="http://schemas.microsoft.com/office/powerpoint/2010/main" val="143560227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Virtual Circuit Switching</a:t>
            </a:r>
            <a:endParaRPr lang="en-US" dirty="0"/>
          </a:p>
        </p:txBody>
      </p:sp>
      <p:sp>
        <p:nvSpPr>
          <p:cNvPr id="3" name="Content Placeholder 2"/>
          <p:cNvSpPr>
            <a:spLocks noGrp="1"/>
          </p:cNvSpPr>
          <p:nvPr>
            <p:ph idx="1"/>
          </p:nvPr>
        </p:nvSpPr>
        <p:spPr/>
        <p:txBody>
          <a:bodyPr>
            <a:normAutofit fontScale="77500" lnSpcReduction="20000"/>
          </a:bodyPr>
          <a:lstStyle/>
          <a:p>
            <a:r>
              <a:rPr lang="en-US" dirty="0"/>
              <a:t>Virtual circuit switching is a packet switching methodology whereby a path is established between the source and the final destination through which all the packets will be routed during a call. </a:t>
            </a:r>
            <a:endParaRPr lang="en-US" dirty="0" smtClean="0"/>
          </a:p>
          <a:p>
            <a:pPr lvl="1"/>
            <a:r>
              <a:rPr lang="en-US" dirty="0" smtClean="0"/>
              <a:t>This </a:t>
            </a:r>
            <a:r>
              <a:rPr lang="en-US" dirty="0"/>
              <a:t>path is called a virtual circuit because to the user, the connection appears to be a dedicated physical circuit. </a:t>
            </a:r>
            <a:endParaRPr lang="en-US" dirty="0" smtClean="0"/>
          </a:p>
          <a:p>
            <a:r>
              <a:rPr lang="en-US" dirty="0" smtClean="0"/>
              <a:t>However</a:t>
            </a:r>
            <a:r>
              <a:rPr lang="en-US" dirty="0"/>
              <a:t>, other communications may also be sharing the parts of the same path</a:t>
            </a:r>
            <a:r>
              <a:rPr lang="en-US" dirty="0" smtClean="0"/>
              <a:t>.</a:t>
            </a:r>
            <a:endParaRPr lang="en-US" dirty="0"/>
          </a:p>
          <a:p>
            <a:r>
              <a:rPr lang="en-US" dirty="0"/>
              <a:t>Before the data transfer begins, the source and destination identify a suitable path for the virtual circuit. </a:t>
            </a:r>
            <a:endParaRPr lang="en-US" dirty="0" smtClean="0"/>
          </a:p>
          <a:p>
            <a:r>
              <a:rPr lang="en-US" dirty="0" smtClean="0"/>
              <a:t>All </a:t>
            </a:r>
            <a:r>
              <a:rPr lang="en-US" dirty="0"/>
              <a:t>intermediate nodes between the two points put an entry of the routing in their routing table for the call. </a:t>
            </a:r>
            <a:endParaRPr lang="en-US" dirty="0" smtClean="0"/>
          </a:p>
          <a:p>
            <a:pPr lvl="1"/>
            <a:r>
              <a:rPr lang="en-US" dirty="0" smtClean="0"/>
              <a:t>Additional </a:t>
            </a:r>
            <a:r>
              <a:rPr lang="en-US" dirty="0"/>
              <a:t>parameters, such as the maximum packet size, are also exchanged between the source and the destination during call setup. </a:t>
            </a:r>
            <a:endParaRPr lang="en-US" dirty="0" smtClean="0"/>
          </a:p>
          <a:p>
            <a:r>
              <a:rPr lang="en-US" dirty="0" smtClean="0"/>
              <a:t>The </a:t>
            </a:r>
            <a:r>
              <a:rPr lang="en-US" dirty="0"/>
              <a:t>virtual circuit is cleared after the data transfer is completed</a:t>
            </a:r>
            <a:r>
              <a:rPr lang="en-US" dirty="0" smtClean="0"/>
              <a:t>.</a:t>
            </a:r>
            <a:endParaRPr lang="en-US" dirty="0"/>
          </a:p>
          <a:p>
            <a:r>
              <a:rPr lang="en-US" dirty="0"/>
              <a:t>Virtual circuit packet switching is connection orientated. </a:t>
            </a:r>
            <a:endParaRPr lang="en-US" dirty="0" smtClean="0"/>
          </a:p>
          <a:p>
            <a:pPr lvl="1"/>
            <a:r>
              <a:rPr lang="en-US" dirty="0" smtClean="0"/>
              <a:t>This </a:t>
            </a:r>
            <a:r>
              <a:rPr lang="en-US" dirty="0"/>
              <a:t>is in contrast to datagram switching, which is a connection less packet switching methodology. </a:t>
            </a:r>
            <a:endParaRPr lang="en-US" dirty="0" smtClean="0"/>
          </a:p>
          <a:p>
            <a:r>
              <a:rPr lang="en-US" dirty="0" smtClean="0"/>
              <a:t>Examples </a:t>
            </a:r>
            <a:r>
              <a:rPr lang="en-US" dirty="0"/>
              <a:t>of virtual circuit switching are </a:t>
            </a:r>
            <a:r>
              <a:rPr lang="en-US" b="1" dirty="0">
                <a:solidFill>
                  <a:srgbClr val="00B050"/>
                </a:solidFill>
              </a:rPr>
              <a:t>X.25</a:t>
            </a:r>
            <a:r>
              <a:rPr lang="en-US" b="1" dirty="0"/>
              <a:t> </a:t>
            </a:r>
            <a:r>
              <a:rPr lang="en-US" dirty="0"/>
              <a:t>and </a:t>
            </a:r>
            <a:r>
              <a:rPr lang="en-US" dirty="0">
                <a:solidFill>
                  <a:srgbClr val="0070C0"/>
                </a:solidFill>
              </a:rPr>
              <a:t>Frame Relay</a:t>
            </a:r>
            <a:r>
              <a:rPr lang="en-US" dirty="0"/>
              <a:t>.</a:t>
            </a:r>
            <a:endParaRPr lang="en-US" dirty="0"/>
          </a:p>
        </p:txBody>
      </p:sp>
    </p:spTree>
    <p:extLst>
      <p:ext uri="{BB962C8B-B14F-4D97-AF65-F5344CB8AC3E}">
        <p14:creationId xmlns:p14="http://schemas.microsoft.com/office/powerpoint/2010/main" val="2180412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Virtual Circuit Switching</a:t>
            </a:r>
            <a:endParaRPr lang="en-US" dirty="0"/>
          </a:p>
        </p:txBody>
      </p:sp>
      <p:pic>
        <p:nvPicPr>
          <p:cNvPr id="4" name="Content Placeholder 3"/>
          <p:cNvPicPr>
            <a:picLocks noGrp="1" noChangeAspect="1"/>
          </p:cNvPicPr>
          <p:nvPr>
            <p:ph idx="1"/>
          </p:nvPr>
        </p:nvPicPr>
        <p:blipFill>
          <a:blip r:embed="rId3"/>
          <a:stretch>
            <a:fillRect/>
          </a:stretch>
        </p:blipFill>
        <p:spPr>
          <a:xfrm>
            <a:off x="2452431" y="1197735"/>
            <a:ext cx="7287137" cy="4588197"/>
          </a:xfrm>
          <a:prstGeom prst="rect">
            <a:avLst/>
          </a:prstGeom>
        </p:spPr>
      </p:pic>
    </p:spTree>
    <p:extLst>
      <p:ext uri="{BB962C8B-B14F-4D97-AF65-F5344CB8AC3E}">
        <p14:creationId xmlns:p14="http://schemas.microsoft.com/office/powerpoint/2010/main" val="9902388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Working of Virtual </a:t>
            </a:r>
            <a:r>
              <a:rPr lang="en-US" dirty="0" smtClean="0"/>
              <a:t>Circuit</a:t>
            </a:r>
            <a:endParaRPr lang="en-US" dirty="0"/>
          </a:p>
        </p:txBody>
      </p:sp>
      <p:sp>
        <p:nvSpPr>
          <p:cNvPr id="3" name="Content Placeholder 2"/>
          <p:cNvSpPr>
            <a:spLocks noGrp="1"/>
          </p:cNvSpPr>
          <p:nvPr>
            <p:ph idx="1"/>
          </p:nvPr>
        </p:nvSpPr>
        <p:spPr/>
        <p:txBody>
          <a:bodyPr>
            <a:normAutofit/>
          </a:bodyPr>
          <a:lstStyle/>
          <a:p>
            <a:pPr fontAlgn="base"/>
            <a:r>
              <a:rPr lang="en-US" dirty="0" smtClean="0"/>
              <a:t>In </a:t>
            </a:r>
            <a:r>
              <a:rPr lang="en-US" dirty="0"/>
              <a:t>the first </a:t>
            </a:r>
            <a:r>
              <a:rPr lang="en-US" dirty="0" smtClean="0"/>
              <a:t>step, </a:t>
            </a:r>
            <a:r>
              <a:rPr lang="en-US" dirty="0"/>
              <a:t>a medium is set up between the two end nodes.</a:t>
            </a:r>
          </a:p>
          <a:p>
            <a:pPr fontAlgn="base"/>
            <a:r>
              <a:rPr lang="en-US" dirty="0"/>
              <a:t>Resources are reserved for the transmission of packets.</a:t>
            </a:r>
          </a:p>
          <a:p>
            <a:pPr fontAlgn="base"/>
            <a:r>
              <a:rPr lang="en-US" dirty="0" smtClean="0"/>
              <a:t>Then, </a:t>
            </a:r>
            <a:r>
              <a:rPr lang="en-US" dirty="0"/>
              <a:t>a signal is sent to sender to tell the medium is set up and transmission can be started.</a:t>
            </a:r>
          </a:p>
          <a:p>
            <a:pPr fontAlgn="base"/>
            <a:r>
              <a:rPr lang="en-US" dirty="0"/>
              <a:t>It ensures the transmission of all packets.</a:t>
            </a:r>
          </a:p>
          <a:p>
            <a:pPr fontAlgn="base"/>
            <a:r>
              <a:rPr lang="en-US" dirty="0"/>
              <a:t>A global header is used in the first packet of the connection.</a:t>
            </a:r>
          </a:p>
          <a:p>
            <a:pPr fontAlgn="base"/>
            <a:r>
              <a:rPr lang="en-US" dirty="0"/>
              <a:t>Whenever data is to be transmitted a new connection is set up.</a:t>
            </a:r>
          </a:p>
        </p:txBody>
      </p:sp>
    </p:spTree>
    <p:extLst>
      <p:ext uri="{BB962C8B-B14F-4D97-AF65-F5344CB8AC3E}">
        <p14:creationId xmlns:p14="http://schemas.microsoft.com/office/powerpoint/2010/main" val="1353988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Virtual Circuit Switching</a:t>
            </a:r>
            <a:endParaRPr lang="en-US" dirty="0"/>
          </a:p>
        </p:txBody>
      </p:sp>
      <p:sp>
        <p:nvSpPr>
          <p:cNvPr id="3" name="Content Placeholder 2"/>
          <p:cNvSpPr>
            <a:spLocks noGrp="1"/>
          </p:cNvSpPr>
          <p:nvPr>
            <p:ph idx="1"/>
          </p:nvPr>
        </p:nvSpPr>
        <p:spPr/>
        <p:txBody>
          <a:bodyPr>
            <a:normAutofit fontScale="92500" lnSpcReduction="20000"/>
          </a:bodyPr>
          <a:lstStyle/>
          <a:p>
            <a:r>
              <a:rPr lang="en-US" b="1" u="sng" dirty="0"/>
              <a:t>Advantages of virtual circuit switching are</a:t>
            </a:r>
            <a:r>
              <a:rPr lang="en-US" b="1" u="sng" dirty="0" smtClean="0"/>
              <a:t>:</a:t>
            </a:r>
            <a:endParaRPr lang="en-US" b="1" u="sng" dirty="0"/>
          </a:p>
          <a:p>
            <a:pPr lvl="1"/>
            <a:r>
              <a:rPr lang="en-US" dirty="0"/>
              <a:t>Packets are delivered in </a:t>
            </a:r>
            <a:r>
              <a:rPr lang="en-US" dirty="0" smtClean="0"/>
              <a:t>order, since </a:t>
            </a:r>
            <a:r>
              <a:rPr lang="en-US" dirty="0"/>
              <a:t>they all take the same route;</a:t>
            </a:r>
          </a:p>
          <a:p>
            <a:pPr lvl="1"/>
            <a:r>
              <a:rPr lang="en-US" dirty="0"/>
              <a:t>The overhead in the packets is </a:t>
            </a:r>
            <a:r>
              <a:rPr lang="en-US" dirty="0" smtClean="0"/>
              <a:t>smaller, since </a:t>
            </a:r>
            <a:r>
              <a:rPr lang="en-US" dirty="0"/>
              <a:t>there is no need for each packet to contain the full address;</a:t>
            </a:r>
          </a:p>
          <a:p>
            <a:pPr lvl="1"/>
            <a:r>
              <a:rPr lang="en-US" dirty="0"/>
              <a:t>The connection is more </a:t>
            </a:r>
            <a:r>
              <a:rPr lang="en-US" dirty="0" smtClean="0"/>
              <a:t>reliable, </a:t>
            </a:r>
          </a:p>
          <a:p>
            <a:pPr lvl="2"/>
            <a:r>
              <a:rPr lang="en-US" sz="2400" dirty="0" smtClean="0"/>
              <a:t>network </a:t>
            </a:r>
            <a:r>
              <a:rPr lang="en-US" sz="2400" dirty="0"/>
              <a:t>resources are allocated at call setup so that even during times of congestion, provided that a call has been setup, the subsequent packets should get through;</a:t>
            </a:r>
          </a:p>
          <a:p>
            <a:pPr lvl="1"/>
            <a:r>
              <a:rPr lang="en-US" dirty="0"/>
              <a:t>Billing is </a:t>
            </a:r>
            <a:r>
              <a:rPr lang="en-US" dirty="0" smtClean="0"/>
              <a:t>easier, since </a:t>
            </a:r>
            <a:r>
              <a:rPr lang="en-US" dirty="0"/>
              <a:t>billing records need only be generated per call and not per packet.</a:t>
            </a:r>
          </a:p>
          <a:p>
            <a:r>
              <a:rPr lang="en-US" b="1" u="sng" dirty="0"/>
              <a:t>Disadvantages of a virtual circuit switched network are</a:t>
            </a:r>
            <a:r>
              <a:rPr lang="en-US" b="1" u="sng" dirty="0" smtClean="0"/>
              <a:t>:</a:t>
            </a:r>
            <a:endParaRPr lang="en-US" b="1" u="sng" dirty="0"/>
          </a:p>
          <a:p>
            <a:pPr lvl="1"/>
            <a:r>
              <a:rPr lang="en-US" dirty="0"/>
              <a:t>The switching equipment needs to be more </a:t>
            </a:r>
            <a:r>
              <a:rPr lang="en-US" dirty="0" smtClean="0"/>
              <a:t>powerful,</a:t>
            </a:r>
          </a:p>
          <a:p>
            <a:pPr lvl="2"/>
            <a:r>
              <a:rPr lang="en-US" sz="2400" dirty="0"/>
              <a:t>since each switch needs to store details of all the calls that are passing through it and to allocate capacity for any traffic that each call could generate;</a:t>
            </a:r>
          </a:p>
          <a:p>
            <a:pPr lvl="1"/>
            <a:r>
              <a:rPr lang="en-US" dirty="0" smtClean="0"/>
              <a:t>Resilience </a:t>
            </a:r>
            <a:r>
              <a:rPr lang="en-US" dirty="0"/>
              <a:t>to the loss of a trunk is more difficult,</a:t>
            </a:r>
          </a:p>
          <a:p>
            <a:pPr lvl="2"/>
            <a:r>
              <a:rPr lang="en-US" sz="2400" dirty="0"/>
              <a:t>since if there is a failure all the calls must be dynamically reestablished over a different route.</a:t>
            </a:r>
          </a:p>
        </p:txBody>
      </p:sp>
    </p:spTree>
    <p:extLst>
      <p:ext uri="{BB962C8B-B14F-4D97-AF65-F5344CB8AC3E}">
        <p14:creationId xmlns:p14="http://schemas.microsoft.com/office/powerpoint/2010/main" val="3991962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Frame Relay</a:t>
            </a:r>
            <a:endParaRPr lang="en-US" dirty="0"/>
          </a:p>
        </p:txBody>
      </p:sp>
      <p:sp>
        <p:nvSpPr>
          <p:cNvPr id="3" name="Content Placeholder 2"/>
          <p:cNvSpPr>
            <a:spLocks noGrp="1"/>
          </p:cNvSpPr>
          <p:nvPr>
            <p:ph idx="1"/>
          </p:nvPr>
        </p:nvSpPr>
        <p:spPr/>
        <p:txBody>
          <a:bodyPr>
            <a:normAutofit/>
          </a:bodyPr>
          <a:lstStyle/>
          <a:p>
            <a:r>
              <a:rPr lang="en-US" dirty="0"/>
              <a:t>Frame relay is a type of telecommunications technology that can be used to connect local area networks (LANs) and to transmit data between endpoints in wide area networks (WANs). </a:t>
            </a:r>
            <a:endParaRPr lang="en-US" dirty="0" smtClean="0"/>
          </a:p>
          <a:p>
            <a:pPr lvl="1"/>
            <a:r>
              <a:rPr lang="en-US" dirty="0" smtClean="0"/>
              <a:t>It is </a:t>
            </a:r>
            <a:r>
              <a:rPr lang="en-US" dirty="0"/>
              <a:t>a packet switched communication service from LANs (Local Area Network) to backbone networks and WANs.</a:t>
            </a:r>
            <a:endParaRPr lang="en-US" dirty="0" smtClean="0"/>
          </a:p>
          <a:p>
            <a:r>
              <a:rPr lang="en-US" dirty="0" smtClean="0"/>
              <a:t>Frame </a:t>
            </a:r>
            <a:r>
              <a:rPr lang="en-US" dirty="0"/>
              <a:t>Relay is a high-performance WAN protocol that operates at the physical and data link layers </a:t>
            </a:r>
            <a:r>
              <a:rPr lang="en-US" dirty="0" smtClean="0"/>
              <a:t>of the </a:t>
            </a:r>
            <a:r>
              <a:rPr lang="en-US" dirty="0"/>
              <a:t>OSI reference model. </a:t>
            </a:r>
            <a:endParaRPr lang="en-US" dirty="0" smtClean="0"/>
          </a:p>
          <a:p>
            <a:r>
              <a:rPr lang="en-US" dirty="0" smtClean="0"/>
              <a:t>Frame </a:t>
            </a:r>
            <a:r>
              <a:rPr lang="en-US" dirty="0"/>
              <a:t>Relay originally was designed for use across Integrated Services Digital</a:t>
            </a:r>
          </a:p>
          <a:p>
            <a:r>
              <a:rPr lang="en-US" dirty="0"/>
              <a:t>Network (ISDN) interfaces. Today, it is used over a variety of other network interfaces as well</a:t>
            </a:r>
            <a:r>
              <a:rPr lang="en-US" dirty="0" smtClean="0"/>
              <a:t>.</a:t>
            </a:r>
            <a:endParaRPr lang="en-US" sz="2400" dirty="0"/>
          </a:p>
        </p:txBody>
      </p:sp>
    </p:spTree>
    <p:extLst>
      <p:ext uri="{BB962C8B-B14F-4D97-AF65-F5344CB8AC3E}">
        <p14:creationId xmlns:p14="http://schemas.microsoft.com/office/powerpoint/2010/main" val="1687293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Frame Relay</a:t>
            </a:r>
            <a:endParaRPr lang="en-US" dirty="0"/>
          </a:p>
        </p:txBody>
      </p:sp>
      <p:sp>
        <p:nvSpPr>
          <p:cNvPr id="3" name="Content Placeholder 2"/>
          <p:cNvSpPr>
            <a:spLocks noGrp="1"/>
          </p:cNvSpPr>
          <p:nvPr>
            <p:ph idx="1"/>
          </p:nvPr>
        </p:nvSpPr>
        <p:spPr/>
        <p:txBody>
          <a:bodyPr>
            <a:normAutofit fontScale="92500" lnSpcReduction="10000"/>
          </a:bodyPr>
          <a:lstStyle/>
          <a:p>
            <a:r>
              <a:rPr lang="en-US" dirty="0"/>
              <a:t>Frame Relay uses virtual circuits to connect a single router to multiple remote sites. </a:t>
            </a:r>
            <a:endParaRPr lang="en-US" dirty="0" smtClean="0"/>
          </a:p>
          <a:p>
            <a:r>
              <a:rPr lang="en-US" dirty="0" smtClean="0"/>
              <a:t>In </a:t>
            </a:r>
            <a:r>
              <a:rPr lang="en-US" dirty="0"/>
              <a:t>most cases, permanent virtual circuits are used, i.e. a fixed network-assigned circuit is used through which the user sees a continuous uninterrupted line. </a:t>
            </a:r>
            <a:endParaRPr lang="en-US" dirty="0" smtClean="0"/>
          </a:p>
          <a:p>
            <a:r>
              <a:rPr lang="en-US" dirty="0" smtClean="0"/>
              <a:t>However</a:t>
            </a:r>
            <a:r>
              <a:rPr lang="en-US" dirty="0"/>
              <a:t>, switched virtual circuits may also be used.</a:t>
            </a:r>
          </a:p>
          <a:p>
            <a:r>
              <a:rPr lang="en-US" dirty="0" smtClean="0"/>
              <a:t>Data </a:t>
            </a:r>
            <a:r>
              <a:rPr lang="en-US" dirty="0"/>
              <a:t>is transmitted by encapsulating them in multiple sized frames. </a:t>
            </a:r>
            <a:endParaRPr lang="en-US" dirty="0" smtClean="0"/>
          </a:p>
          <a:p>
            <a:r>
              <a:rPr lang="en-US" dirty="0"/>
              <a:t>Frame relay forwards data elements between source and destination without applying any internal error detection or correction. </a:t>
            </a:r>
            <a:endParaRPr lang="en-US" dirty="0" smtClean="0"/>
          </a:p>
          <a:p>
            <a:pPr lvl="1"/>
            <a:r>
              <a:rPr lang="en-US" dirty="0" smtClean="0"/>
              <a:t>Error correction is handled by the endpoints, which are responsible for retransmission of dropped frames</a:t>
            </a:r>
            <a:endParaRPr lang="en-US" sz="2000" dirty="0" smtClean="0"/>
          </a:p>
          <a:p>
            <a:pPr lvl="1"/>
            <a:r>
              <a:rPr lang="en-US" dirty="0"/>
              <a:t>Error correction is done on an end-to-end basis rather than a link -to-link basis as in X.25 switching. </a:t>
            </a:r>
          </a:p>
        </p:txBody>
      </p:sp>
    </p:spTree>
    <p:extLst>
      <p:ext uri="{BB962C8B-B14F-4D97-AF65-F5344CB8AC3E}">
        <p14:creationId xmlns:p14="http://schemas.microsoft.com/office/powerpoint/2010/main" val="131528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Frame Relay</a:t>
            </a:r>
            <a:endParaRPr lang="en-US" dirty="0"/>
          </a:p>
        </p:txBody>
      </p:sp>
      <p:sp>
        <p:nvSpPr>
          <p:cNvPr id="3" name="Content Placeholder 2"/>
          <p:cNvSpPr>
            <a:spLocks noGrp="1"/>
          </p:cNvSpPr>
          <p:nvPr>
            <p:ph idx="1"/>
          </p:nvPr>
        </p:nvSpPr>
        <p:spPr/>
        <p:txBody>
          <a:bodyPr>
            <a:normAutofit/>
          </a:bodyPr>
          <a:lstStyle/>
          <a:p>
            <a:r>
              <a:rPr lang="en-US" dirty="0"/>
              <a:t>Frame relay has evolved from X.25 packet switching and objective is to reduce network delays, protocol overheads and equipment cost</a:t>
            </a:r>
            <a:r>
              <a:rPr lang="en-US" dirty="0" smtClean="0"/>
              <a:t>.</a:t>
            </a:r>
          </a:p>
          <a:p>
            <a:r>
              <a:rPr lang="en-US" dirty="0" smtClean="0"/>
              <a:t>Frame </a:t>
            </a:r>
            <a:r>
              <a:rPr lang="en-US" dirty="0"/>
              <a:t>relay can support multiple users over the same line and can establish a permanent virtual circuit or a switched virtual circuit</a:t>
            </a:r>
            <a:r>
              <a:rPr lang="en-US" dirty="0" smtClean="0"/>
              <a:t>.</a:t>
            </a:r>
            <a:endParaRPr lang="en-US" dirty="0"/>
          </a:p>
          <a:p>
            <a:r>
              <a:rPr lang="en-US" dirty="0"/>
              <a:t>Frame relay is considered to be a protocol, which must be carried over a physical link. </a:t>
            </a:r>
            <a:endParaRPr lang="en-US" dirty="0" smtClean="0"/>
          </a:p>
          <a:p>
            <a:r>
              <a:rPr lang="en-US" dirty="0" smtClean="0"/>
              <a:t>While </a:t>
            </a:r>
            <a:r>
              <a:rPr lang="en-US" dirty="0"/>
              <a:t>useful for connection of LANs, the combination of low throughput, delay variation and frame discard when the link is congested will limit its usefulness to multimedia.</a:t>
            </a:r>
            <a:endParaRPr lang="en-US" sz="2000" dirty="0"/>
          </a:p>
        </p:txBody>
      </p:sp>
    </p:spTree>
    <p:extLst>
      <p:ext uri="{BB962C8B-B14F-4D97-AF65-F5344CB8AC3E}">
        <p14:creationId xmlns:p14="http://schemas.microsoft.com/office/powerpoint/2010/main" val="3282624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Characteristics of Frame Relay</a:t>
            </a:r>
            <a:endParaRPr lang="en-US" dirty="0"/>
          </a:p>
        </p:txBody>
      </p:sp>
      <p:sp>
        <p:nvSpPr>
          <p:cNvPr id="3" name="Content Placeholder 2"/>
          <p:cNvSpPr>
            <a:spLocks noGrp="1"/>
          </p:cNvSpPr>
          <p:nvPr>
            <p:ph idx="1"/>
          </p:nvPr>
        </p:nvSpPr>
        <p:spPr/>
        <p:txBody>
          <a:bodyPr>
            <a:normAutofit lnSpcReduction="10000"/>
          </a:bodyPr>
          <a:lstStyle/>
          <a:p>
            <a:r>
              <a:rPr lang="en-US" dirty="0" smtClean="0"/>
              <a:t>Frame </a:t>
            </a:r>
            <a:r>
              <a:rPr lang="en-US" dirty="0"/>
              <a:t>Relay service is a service that supports the transport of data</a:t>
            </a:r>
          </a:p>
          <a:p>
            <a:r>
              <a:rPr lang="en-US" dirty="0"/>
              <a:t>Frame relay is a connectionless service, meaning that each data packet passing through the network contains -address information</a:t>
            </a:r>
          </a:p>
          <a:p>
            <a:r>
              <a:rPr lang="en-US" dirty="0"/>
              <a:t>Frame relay is a service that is provided with a variety of speeds from 56 </a:t>
            </a:r>
            <a:r>
              <a:rPr lang="en-US" dirty="0" err="1"/>
              <a:t>Kbs</a:t>
            </a:r>
            <a:r>
              <a:rPr lang="en-US" dirty="0"/>
              <a:t> up to 25 </a:t>
            </a:r>
            <a:r>
              <a:rPr lang="en-US" dirty="0" err="1"/>
              <a:t>Mbs</a:t>
            </a:r>
            <a:r>
              <a:rPr lang="en-US" dirty="0"/>
              <a:t>.</a:t>
            </a:r>
          </a:p>
          <a:p>
            <a:r>
              <a:rPr lang="en-US" dirty="0"/>
              <a:t>Even though the most used speeds for the service are currently 56 </a:t>
            </a:r>
            <a:r>
              <a:rPr lang="en-US" dirty="0" err="1"/>
              <a:t>Kbs</a:t>
            </a:r>
            <a:r>
              <a:rPr lang="en-US" dirty="0"/>
              <a:t> and 1.544 </a:t>
            </a:r>
            <a:r>
              <a:rPr lang="en-US" dirty="0" err="1"/>
              <a:t>Mbs</a:t>
            </a:r>
            <a:endParaRPr lang="en-US" dirty="0"/>
          </a:p>
          <a:p>
            <a:r>
              <a:rPr lang="en-US" dirty="0"/>
              <a:t>Frames are variable in length and goes up to 4,096 bytes</a:t>
            </a:r>
          </a:p>
          <a:p>
            <a:r>
              <a:rPr lang="en-US" dirty="0"/>
              <a:t>Frame Relay is considered to be a Broadband ISDN service</a:t>
            </a:r>
          </a:p>
          <a:p>
            <a:r>
              <a:rPr lang="en-US" dirty="0"/>
              <a:t>One of the unique facets of frame relay service is that the service supports variable size data packets.</a:t>
            </a:r>
            <a:endParaRPr lang="en-US" sz="2000" dirty="0"/>
          </a:p>
        </p:txBody>
      </p:sp>
    </p:spTree>
    <p:extLst>
      <p:ext uri="{BB962C8B-B14F-4D97-AF65-F5344CB8AC3E}">
        <p14:creationId xmlns:p14="http://schemas.microsoft.com/office/powerpoint/2010/main" val="3227852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Various key features of this </a:t>
            </a:r>
            <a:r>
              <a:rPr lang="en-US" dirty="0" smtClean="0"/>
              <a:t>protocol</a:t>
            </a:r>
            <a:endParaRPr lang="en-US" dirty="0"/>
          </a:p>
        </p:txBody>
      </p:sp>
      <p:sp>
        <p:nvSpPr>
          <p:cNvPr id="3" name="Content Placeholder 2"/>
          <p:cNvSpPr>
            <a:spLocks noGrp="1"/>
          </p:cNvSpPr>
          <p:nvPr>
            <p:ph idx="1"/>
          </p:nvPr>
        </p:nvSpPr>
        <p:spPr/>
        <p:txBody>
          <a:bodyPr>
            <a:normAutofit/>
          </a:bodyPr>
          <a:lstStyle/>
          <a:p>
            <a:r>
              <a:rPr lang="en-US" dirty="0" smtClean="0"/>
              <a:t>The </a:t>
            </a:r>
            <a:r>
              <a:rPr lang="en-US" dirty="0"/>
              <a:t>call control packets are used for setting up and clearing virtual circuits.</a:t>
            </a:r>
          </a:p>
          <a:p>
            <a:r>
              <a:rPr lang="en-US" dirty="0" smtClean="0"/>
              <a:t>In </a:t>
            </a:r>
            <a:r>
              <a:rPr lang="en-US" dirty="0"/>
              <a:t>band signaling is used.</a:t>
            </a:r>
          </a:p>
          <a:p>
            <a:r>
              <a:rPr lang="en-US" dirty="0" smtClean="0"/>
              <a:t>Multiplexing </a:t>
            </a:r>
            <a:r>
              <a:rPr lang="en-US" dirty="0"/>
              <a:t>of virtual circuits takes place at layer 3.</a:t>
            </a:r>
          </a:p>
          <a:p>
            <a:r>
              <a:rPr lang="en-US" dirty="0" smtClean="0"/>
              <a:t>Layer </a:t>
            </a:r>
            <a:r>
              <a:rPr lang="en-US" dirty="0"/>
              <a:t>2 and 3 include flow control and error control.</a:t>
            </a:r>
          </a:p>
        </p:txBody>
      </p:sp>
    </p:spTree>
    <p:extLst>
      <p:ext uri="{BB962C8B-B14F-4D97-AF65-F5344CB8AC3E}">
        <p14:creationId xmlns:p14="http://schemas.microsoft.com/office/powerpoint/2010/main" val="1751747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Important features </a:t>
            </a:r>
            <a:r>
              <a:rPr lang="en-US" dirty="0"/>
              <a:t>of </a:t>
            </a:r>
            <a:r>
              <a:rPr lang="en-US" dirty="0" smtClean="0"/>
              <a:t>Frame Relay</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Frame </a:t>
            </a:r>
            <a:r>
              <a:rPr lang="en-US" dirty="0"/>
              <a:t>relay operates at a high speed (1.544 Mbps to 44.376 Mbps</a:t>
            </a:r>
            <a:r>
              <a:rPr lang="en-US" dirty="0" smtClean="0"/>
              <a:t>).</a:t>
            </a:r>
            <a:endParaRPr lang="en-US" dirty="0"/>
          </a:p>
          <a:p>
            <a:r>
              <a:rPr lang="en-US" dirty="0" smtClean="0"/>
              <a:t>Frame </a:t>
            </a:r>
            <a:r>
              <a:rPr lang="en-US" dirty="0"/>
              <a:t>relay operates only in the physical and data link layers. So it can be easily used in Internet</a:t>
            </a:r>
            <a:r>
              <a:rPr lang="en-US" dirty="0" smtClean="0"/>
              <a:t>.</a:t>
            </a:r>
            <a:endParaRPr lang="en-US" dirty="0"/>
          </a:p>
          <a:p>
            <a:r>
              <a:rPr lang="en-US" dirty="0" smtClean="0"/>
              <a:t>It </a:t>
            </a:r>
            <a:r>
              <a:rPr lang="en-US" dirty="0"/>
              <a:t>allows the </a:t>
            </a:r>
            <a:r>
              <a:rPr lang="en-US" dirty="0" err="1"/>
              <a:t>bursty</a:t>
            </a:r>
            <a:r>
              <a:rPr lang="en-US" dirty="0"/>
              <a:t> data</a:t>
            </a:r>
            <a:r>
              <a:rPr lang="en-US" dirty="0" smtClean="0"/>
              <a:t>.</a:t>
            </a:r>
            <a:endParaRPr lang="en-US" dirty="0"/>
          </a:p>
          <a:p>
            <a:r>
              <a:rPr lang="en-US" dirty="0" smtClean="0"/>
              <a:t>It </a:t>
            </a:r>
            <a:r>
              <a:rPr lang="en-US" dirty="0"/>
              <a:t>has a large frame size of 9000 bytes. </a:t>
            </a:r>
            <a:endParaRPr lang="en-US" dirty="0" smtClean="0"/>
          </a:p>
          <a:p>
            <a:pPr lvl="1"/>
            <a:r>
              <a:rPr lang="en-US" dirty="0" smtClean="0"/>
              <a:t>So </a:t>
            </a:r>
            <a:r>
              <a:rPr lang="en-US" dirty="0"/>
              <a:t>it can accommodate all local area network frame sizes</a:t>
            </a:r>
            <a:r>
              <a:rPr lang="en-US" dirty="0" smtClean="0"/>
              <a:t>.</a:t>
            </a:r>
            <a:endParaRPr lang="en-US" dirty="0"/>
          </a:p>
          <a:p>
            <a:r>
              <a:rPr lang="en-US" dirty="0" smtClean="0"/>
              <a:t>Frame </a:t>
            </a:r>
            <a:r>
              <a:rPr lang="en-US" dirty="0"/>
              <a:t>relay can only detect errors (at the data link layer). But there is no flow control or error control</a:t>
            </a:r>
            <a:r>
              <a:rPr lang="en-US" dirty="0" smtClean="0"/>
              <a:t>.</a:t>
            </a:r>
          </a:p>
          <a:p>
            <a:r>
              <a:rPr lang="en-US" dirty="0"/>
              <a:t>The damaged frame is simply dropped. </a:t>
            </a:r>
            <a:endParaRPr lang="en-US" dirty="0" smtClean="0"/>
          </a:p>
          <a:p>
            <a:pPr lvl="1"/>
            <a:r>
              <a:rPr lang="en-US" dirty="0" smtClean="0"/>
              <a:t>There </a:t>
            </a:r>
            <a:r>
              <a:rPr lang="en-US" dirty="0"/>
              <a:t>is no retransmission. </a:t>
            </a:r>
            <a:endParaRPr lang="en-US" dirty="0" smtClean="0"/>
          </a:p>
          <a:p>
            <a:pPr lvl="1"/>
            <a:r>
              <a:rPr lang="en-US" dirty="0" smtClean="0"/>
              <a:t>This </a:t>
            </a:r>
            <a:r>
              <a:rPr lang="en-US" dirty="0"/>
              <a:t>is to increase the speed. </a:t>
            </a:r>
            <a:endParaRPr lang="en-US" dirty="0" smtClean="0"/>
          </a:p>
          <a:p>
            <a:pPr lvl="1"/>
            <a:r>
              <a:rPr lang="en-US" dirty="0" smtClean="0"/>
              <a:t>So </a:t>
            </a:r>
            <a:r>
              <a:rPr lang="en-US" dirty="0"/>
              <a:t>frame relay needs a reliable medium and protocols having flow and error control.</a:t>
            </a:r>
          </a:p>
        </p:txBody>
      </p:sp>
    </p:spTree>
    <p:extLst>
      <p:ext uri="{BB962C8B-B14F-4D97-AF65-F5344CB8AC3E}">
        <p14:creationId xmlns:p14="http://schemas.microsoft.com/office/powerpoint/2010/main" val="1204148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Frame Relay: Benefits</a:t>
            </a:r>
            <a:endParaRPr lang="en-US" dirty="0"/>
          </a:p>
        </p:txBody>
      </p:sp>
      <p:sp>
        <p:nvSpPr>
          <p:cNvPr id="3" name="Content Placeholder 2"/>
          <p:cNvSpPr>
            <a:spLocks noGrp="1"/>
          </p:cNvSpPr>
          <p:nvPr>
            <p:ph idx="1"/>
          </p:nvPr>
        </p:nvSpPr>
        <p:spPr/>
        <p:txBody>
          <a:bodyPr>
            <a:normAutofit/>
          </a:bodyPr>
          <a:lstStyle/>
          <a:p>
            <a:r>
              <a:rPr lang="en-US" dirty="0" smtClean="0"/>
              <a:t>It </a:t>
            </a:r>
            <a:r>
              <a:rPr lang="en-US" dirty="0"/>
              <a:t>helps in reducing the cost of internetworking, as there is considerable reduction in the </a:t>
            </a:r>
            <a:r>
              <a:rPr lang="en-US" dirty="0" smtClean="0"/>
              <a:t>number of </a:t>
            </a:r>
            <a:r>
              <a:rPr lang="en-US" dirty="0"/>
              <a:t>circuits required and the associated bandwidths.</a:t>
            </a:r>
          </a:p>
          <a:p>
            <a:r>
              <a:rPr lang="en-US" dirty="0" smtClean="0"/>
              <a:t>It </a:t>
            </a:r>
            <a:r>
              <a:rPr lang="en-US" dirty="0"/>
              <a:t>helps in increasing the performance due to reduced network complexity.</a:t>
            </a:r>
          </a:p>
          <a:p>
            <a:r>
              <a:rPr lang="en-US" dirty="0" smtClean="0"/>
              <a:t>It </a:t>
            </a:r>
            <a:r>
              <a:rPr lang="en-US" dirty="0"/>
              <a:t>increases the interoperability with the help of international standards.</a:t>
            </a:r>
          </a:p>
          <a:p>
            <a:r>
              <a:rPr lang="en-US" dirty="0" smtClean="0"/>
              <a:t>Frame </a:t>
            </a:r>
            <a:r>
              <a:rPr lang="en-US" dirty="0"/>
              <a:t>Relay is protocol independent and can easily be used to combine traffic from </a:t>
            </a:r>
            <a:r>
              <a:rPr lang="en-US" dirty="0" smtClean="0"/>
              <a:t>other networking </a:t>
            </a:r>
            <a:r>
              <a:rPr lang="en-US" dirty="0"/>
              <a:t>protocols.</a:t>
            </a:r>
            <a:endParaRPr lang="en-US" dirty="0"/>
          </a:p>
        </p:txBody>
      </p:sp>
    </p:spTree>
    <p:extLst>
      <p:ext uri="{BB962C8B-B14F-4D97-AF65-F5344CB8AC3E}">
        <p14:creationId xmlns:p14="http://schemas.microsoft.com/office/powerpoint/2010/main" val="823436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Frame Relay: Advantages and Disadvantages</a:t>
            </a:r>
            <a:endParaRPr lang="en-US" dirty="0"/>
          </a:p>
        </p:txBody>
      </p:sp>
      <p:sp>
        <p:nvSpPr>
          <p:cNvPr id="3" name="Content Placeholder 2"/>
          <p:cNvSpPr>
            <a:spLocks noGrp="1"/>
          </p:cNvSpPr>
          <p:nvPr>
            <p:ph idx="1"/>
          </p:nvPr>
        </p:nvSpPr>
        <p:spPr/>
        <p:txBody>
          <a:bodyPr>
            <a:normAutofit/>
          </a:bodyPr>
          <a:lstStyle/>
          <a:p>
            <a:pPr fontAlgn="base"/>
            <a:r>
              <a:rPr lang="en-US" b="1" u="sng" dirty="0"/>
              <a:t>Advantages:</a:t>
            </a:r>
          </a:p>
          <a:p>
            <a:pPr lvl="1" fontAlgn="base"/>
            <a:r>
              <a:rPr lang="en-US" dirty="0"/>
              <a:t>High speed</a:t>
            </a:r>
          </a:p>
          <a:p>
            <a:pPr lvl="1" fontAlgn="base"/>
            <a:r>
              <a:rPr lang="en-US" dirty="0"/>
              <a:t>Scalable</a:t>
            </a:r>
          </a:p>
          <a:p>
            <a:pPr lvl="1" fontAlgn="base"/>
            <a:r>
              <a:rPr lang="en-US" dirty="0"/>
              <a:t>Reduced network congestion</a:t>
            </a:r>
          </a:p>
          <a:p>
            <a:pPr lvl="1" fontAlgn="base"/>
            <a:r>
              <a:rPr lang="en-US" dirty="0"/>
              <a:t>Cost-efficient</a:t>
            </a:r>
          </a:p>
          <a:p>
            <a:pPr lvl="1" fontAlgn="base"/>
            <a:r>
              <a:rPr lang="en-US" dirty="0"/>
              <a:t>Secured connection</a:t>
            </a:r>
          </a:p>
          <a:p>
            <a:pPr fontAlgn="base"/>
            <a:r>
              <a:rPr lang="en-US" b="1" u="sng" dirty="0"/>
              <a:t>Disadvantages:</a:t>
            </a:r>
          </a:p>
          <a:p>
            <a:pPr lvl="1" fontAlgn="base"/>
            <a:r>
              <a:rPr lang="en-US" dirty="0"/>
              <a:t>Lacks error control mechanism</a:t>
            </a:r>
          </a:p>
          <a:p>
            <a:pPr lvl="1" fontAlgn="base"/>
            <a:r>
              <a:rPr lang="en-US" dirty="0"/>
              <a:t>Delay in packet transfer</a:t>
            </a:r>
          </a:p>
          <a:p>
            <a:pPr lvl="1" fontAlgn="base"/>
            <a:r>
              <a:rPr lang="en-US" dirty="0"/>
              <a:t>Less reliable</a:t>
            </a:r>
          </a:p>
        </p:txBody>
      </p:sp>
    </p:spTree>
    <p:extLst>
      <p:ext uri="{BB962C8B-B14F-4D97-AF65-F5344CB8AC3E}">
        <p14:creationId xmlns:p14="http://schemas.microsoft.com/office/powerpoint/2010/main" val="751965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Frame Relay: Advantages</a:t>
            </a:r>
            <a:endParaRPr lang="en-US" dirty="0"/>
          </a:p>
        </p:txBody>
      </p:sp>
      <p:sp>
        <p:nvSpPr>
          <p:cNvPr id="3" name="Content Placeholder 2"/>
          <p:cNvSpPr>
            <a:spLocks noGrp="1"/>
          </p:cNvSpPr>
          <p:nvPr>
            <p:ph idx="1"/>
          </p:nvPr>
        </p:nvSpPr>
        <p:spPr/>
        <p:txBody>
          <a:bodyPr>
            <a:normAutofit fontScale="92500" lnSpcReduction="20000"/>
          </a:bodyPr>
          <a:lstStyle/>
          <a:p>
            <a:r>
              <a:rPr lang="en-US" dirty="0"/>
              <a:t>Streamlined communication process.</a:t>
            </a:r>
          </a:p>
          <a:p>
            <a:r>
              <a:rPr lang="en-US" dirty="0" smtClean="0"/>
              <a:t>The </a:t>
            </a:r>
            <a:r>
              <a:rPr lang="en-US" dirty="0"/>
              <a:t>number of functions of a protocol at the user-network interface is reduced.</a:t>
            </a:r>
          </a:p>
          <a:p>
            <a:r>
              <a:rPr lang="en-US" dirty="0" smtClean="0"/>
              <a:t>Lower </a:t>
            </a:r>
            <a:r>
              <a:rPr lang="en-US" dirty="0"/>
              <a:t>delay.</a:t>
            </a:r>
          </a:p>
          <a:p>
            <a:r>
              <a:rPr lang="en-US" dirty="0" smtClean="0"/>
              <a:t>Higher </a:t>
            </a:r>
            <a:r>
              <a:rPr lang="en-US" dirty="0"/>
              <a:t>throughput.</a:t>
            </a:r>
          </a:p>
          <a:p>
            <a:r>
              <a:rPr lang="en-US" dirty="0" smtClean="0"/>
              <a:t>Frame </a:t>
            </a:r>
            <a:r>
              <a:rPr lang="en-US" dirty="0"/>
              <a:t>relay can be used at access speeds </a:t>
            </a:r>
            <a:r>
              <a:rPr lang="en-US" dirty="0" err="1"/>
              <a:t>upto</a:t>
            </a:r>
            <a:r>
              <a:rPr lang="en-US" dirty="0"/>
              <a:t> 2 Mbps.</a:t>
            </a:r>
          </a:p>
          <a:p>
            <a:r>
              <a:rPr lang="en-US" dirty="0" smtClean="0"/>
              <a:t>Frame </a:t>
            </a:r>
            <a:r>
              <a:rPr lang="en-US" dirty="0"/>
              <a:t>Relay is cost- effective, partly due to the fact that the network buffering requirements are carefully optimized.</a:t>
            </a:r>
          </a:p>
          <a:p>
            <a:r>
              <a:rPr lang="en-US" dirty="0" smtClean="0"/>
              <a:t>Compared </a:t>
            </a:r>
            <a:r>
              <a:rPr lang="en-US" dirty="0"/>
              <a:t>to X.25, with its store and forward mechanism and full error correction, network buffering is minimal.</a:t>
            </a:r>
          </a:p>
          <a:p>
            <a:r>
              <a:rPr lang="en-US" dirty="0" smtClean="0"/>
              <a:t>Frame </a:t>
            </a:r>
            <a:r>
              <a:rPr lang="en-US" dirty="0"/>
              <a:t>Relay is also much faster than X.25: the frames are switched to their destination with only a few byte times delay, as opposed to several hundred milliseconds delay on X.25.</a:t>
            </a:r>
          </a:p>
        </p:txBody>
      </p:sp>
    </p:spTree>
    <p:extLst>
      <p:ext uri="{BB962C8B-B14F-4D97-AF65-F5344CB8AC3E}">
        <p14:creationId xmlns:p14="http://schemas.microsoft.com/office/powerpoint/2010/main" val="2376387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Frame Relay: Disadvantages</a:t>
            </a:r>
            <a:endParaRPr lang="en-US" dirty="0"/>
          </a:p>
        </p:txBody>
      </p:sp>
      <p:sp>
        <p:nvSpPr>
          <p:cNvPr id="3" name="Content Placeholder 2"/>
          <p:cNvSpPr>
            <a:spLocks noGrp="1"/>
          </p:cNvSpPr>
          <p:nvPr>
            <p:ph idx="1"/>
          </p:nvPr>
        </p:nvSpPr>
        <p:spPr/>
        <p:txBody>
          <a:bodyPr>
            <a:normAutofit/>
          </a:bodyPr>
          <a:lstStyle/>
          <a:p>
            <a:r>
              <a:rPr lang="en-US" dirty="0" smtClean="0"/>
              <a:t>Frames </a:t>
            </a:r>
            <a:r>
              <a:rPr lang="en-US" dirty="0"/>
              <a:t>are delivered unreliably.</a:t>
            </a:r>
          </a:p>
          <a:p>
            <a:r>
              <a:rPr lang="en-US" dirty="0" smtClean="0"/>
              <a:t>Packets </a:t>
            </a:r>
            <a:r>
              <a:rPr lang="en-US" dirty="0"/>
              <a:t>may not be delivered in the same sequence as that at the sending end.</a:t>
            </a:r>
          </a:p>
          <a:p>
            <a:r>
              <a:rPr lang="en-US" dirty="0" smtClean="0"/>
              <a:t>Packets </a:t>
            </a:r>
            <a:r>
              <a:rPr lang="en-US" dirty="0"/>
              <a:t>having errors are simply discarded.</a:t>
            </a:r>
          </a:p>
          <a:p>
            <a:r>
              <a:rPr lang="en-US" dirty="0" smtClean="0"/>
              <a:t>Frame </a:t>
            </a:r>
            <a:r>
              <a:rPr lang="en-US" dirty="0"/>
              <a:t>relay does not provide flow control.</a:t>
            </a:r>
          </a:p>
          <a:p>
            <a:r>
              <a:rPr lang="en-US" dirty="0" smtClean="0"/>
              <a:t>It </a:t>
            </a:r>
            <a:r>
              <a:rPr lang="en-US" dirty="0"/>
              <a:t>does not provide the acknowledgement of received packets.</a:t>
            </a:r>
          </a:p>
          <a:p>
            <a:r>
              <a:rPr lang="en-US" dirty="0" smtClean="0"/>
              <a:t>Frame </a:t>
            </a:r>
            <a:r>
              <a:rPr lang="en-US" dirty="0"/>
              <a:t>discarded in case of network congestion. If congestion occurs in the network, frame (data) is discarded within the network without re-transmission of this frame. The sender must perform re-transmission control at his own responsibility.</a:t>
            </a:r>
          </a:p>
          <a:p>
            <a:pPr fontAlgn="base"/>
            <a:endParaRPr lang="en-US" dirty="0"/>
          </a:p>
        </p:txBody>
      </p:sp>
    </p:spTree>
    <p:extLst>
      <p:ext uri="{BB962C8B-B14F-4D97-AF65-F5344CB8AC3E}">
        <p14:creationId xmlns:p14="http://schemas.microsoft.com/office/powerpoint/2010/main" val="2506790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Asynchronous Transfer Mode (ATM)</a:t>
            </a:r>
          </a:p>
        </p:txBody>
      </p:sp>
      <p:sp>
        <p:nvSpPr>
          <p:cNvPr id="3" name="Content Placeholder 2"/>
          <p:cNvSpPr>
            <a:spLocks noGrp="1"/>
          </p:cNvSpPr>
          <p:nvPr>
            <p:ph idx="1"/>
          </p:nvPr>
        </p:nvSpPr>
        <p:spPr/>
        <p:txBody>
          <a:bodyPr>
            <a:normAutofit/>
          </a:bodyPr>
          <a:lstStyle/>
          <a:p>
            <a:r>
              <a:rPr lang="en-US" dirty="0"/>
              <a:t>ATM stands for Asynchronous transfer mode. </a:t>
            </a:r>
            <a:endParaRPr lang="en-US" dirty="0" smtClean="0"/>
          </a:p>
          <a:p>
            <a:r>
              <a:rPr lang="en-US" dirty="0" smtClean="0"/>
              <a:t>It </a:t>
            </a:r>
            <a:r>
              <a:rPr lang="en-US" dirty="0"/>
              <a:t>is a switching technique used by telecommunication networks that uses asynchronous time-division multiplexing to encode data into small, fixed-sized cells. </a:t>
            </a:r>
            <a:endParaRPr lang="en-US" dirty="0" smtClean="0"/>
          </a:p>
          <a:p>
            <a:r>
              <a:rPr lang="en-US" dirty="0" smtClean="0"/>
              <a:t>ATMs </a:t>
            </a:r>
            <a:r>
              <a:rPr lang="en-US" dirty="0"/>
              <a:t>can be used for efficient data transfer over </a:t>
            </a:r>
            <a:r>
              <a:rPr lang="en-US" dirty="0" err="1"/>
              <a:t>highspeed</a:t>
            </a:r>
            <a:r>
              <a:rPr lang="en-US" dirty="0"/>
              <a:t> data networks. </a:t>
            </a:r>
            <a:endParaRPr lang="en-US" dirty="0" smtClean="0"/>
          </a:p>
          <a:p>
            <a:r>
              <a:rPr lang="en-US" dirty="0" smtClean="0"/>
              <a:t>ATM </a:t>
            </a:r>
            <a:r>
              <a:rPr lang="en-US" dirty="0"/>
              <a:t>provides real-time and non-real-time services</a:t>
            </a:r>
            <a:r>
              <a:rPr lang="en-US" dirty="0" smtClean="0"/>
              <a:t>.</a:t>
            </a:r>
          </a:p>
          <a:p>
            <a:r>
              <a:rPr lang="en-US" dirty="0"/>
              <a:t>ATM networks are connection oriented networks for cell relay that supports voice, video and data communications. It encodes data into small fixed - size cells so that they are suitable for TDM and transmits them over a physical medium.</a:t>
            </a:r>
          </a:p>
        </p:txBody>
      </p:sp>
    </p:spTree>
    <p:extLst>
      <p:ext uri="{BB962C8B-B14F-4D97-AF65-F5344CB8AC3E}">
        <p14:creationId xmlns:p14="http://schemas.microsoft.com/office/powerpoint/2010/main" val="334656745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Asynchronous Transfer Mode (ATM)</a:t>
            </a:r>
          </a:p>
        </p:txBody>
      </p:sp>
      <p:sp>
        <p:nvSpPr>
          <p:cNvPr id="3" name="Content Placeholder 2"/>
          <p:cNvSpPr>
            <a:spLocks noGrp="1"/>
          </p:cNvSpPr>
          <p:nvPr>
            <p:ph idx="1"/>
          </p:nvPr>
        </p:nvSpPr>
        <p:spPr/>
        <p:txBody>
          <a:bodyPr>
            <a:normAutofit/>
          </a:bodyPr>
          <a:lstStyle/>
          <a:p>
            <a:r>
              <a:rPr lang="en-US" dirty="0"/>
              <a:t>ATM is a connection-oriented protocol that can work with either permanent virtual circuits (PVCs) or switched virtual circuits (SVCs), depending on your wide area network (WAN) traffic needs. </a:t>
            </a:r>
            <a:endParaRPr lang="en-US" dirty="0" smtClean="0"/>
          </a:p>
          <a:p>
            <a:r>
              <a:rPr lang="en-US" dirty="0" smtClean="0"/>
              <a:t>ATM </a:t>
            </a:r>
            <a:r>
              <a:rPr lang="en-US" dirty="0"/>
              <a:t>networks use bandwidth at maximum efficiency while maintaining a guaranteed quality of service (</a:t>
            </a:r>
            <a:r>
              <a:rPr lang="en-US" dirty="0" err="1"/>
              <a:t>QoS</a:t>
            </a:r>
            <a:r>
              <a:rPr lang="en-US" dirty="0"/>
              <a:t>) for users and applications that require it. </a:t>
            </a:r>
            <a:endParaRPr lang="en-US" dirty="0" smtClean="0"/>
          </a:p>
          <a:p>
            <a:r>
              <a:rPr lang="en-US" dirty="0" smtClean="0"/>
              <a:t>The </a:t>
            </a:r>
            <a:r>
              <a:rPr lang="en-US" dirty="0"/>
              <a:t>two main benefits of ATM are </a:t>
            </a:r>
            <a:endParaRPr lang="en-US" dirty="0" smtClean="0"/>
          </a:p>
          <a:p>
            <a:pPr lvl="1"/>
            <a:r>
              <a:rPr lang="en-US" dirty="0" smtClean="0"/>
              <a:t>its </a:t>
            </a:r>
            <a:r>
              <a:rPr lang="en-US" dirty="0"/>
              <a:t>high transmission speeds and </a:t>
            </a:r>
            <a:endParaRPr lang="en-US" dirty="0" smtClean="0"/>
          </a:p>
          <a:p>
            <a:pPr lvl="1"/>
            <a:r>
              <a:rPr lang="en-US" dirty="0" smtClean="0"/>
              <a:t>its </a:t>
            </a:r>
            <a:r>
              <a:rPr lang="en-US" dirty="0"/>
              <a:t>flexible bandwidth-on-demand capability.</a:t>
            </a:r>
          </a:p>
          <a:p>
            <a:endParaRPr lang="en-US" dirty="0"/>
          </a:p>
        </p:txBody>
      </p:sp>
    </p:spTree>
    <p:extLst>
      <p:ext uri="{BB962C8B-B14F-4D97-AF65-F5344CB8AC3E}">
        <p14:creationId xmlns:p14="http://schemas.microsoft.com/office/powerpoint/2010/main" val="954178491"/>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Asynchronous Transfer Mode (ATM)</a:t>
            </a:r>
          </a:p>
        </p:txBody>
      </p:sp>
      <p:sp>
        <p:nvSpPr>
          <p:cNvPr id="3" name="Content Placeholder 2"/>
          <p:cNvSpPr>
            <a:spLocks noGrp="1"/>
          </p:cNvSpPr>
          <p:nvPr>
            <p:ph idx="1"/>
          </p:nvPr>
        </p:nvSpPr>
        <p:spPr/>
        <p:txBody>
          <a:bodyPr>
            <a:normAutofit fontScale="92500"/>
          </a:bodyPr>
          <a:lstStyle/>
          <a:p>
            <a:r>
              <a:rPr lang="en-US" dirty="0"/>
              <a:t>ATM is a cell-based fast-packet communication technique that can support data-transfer rates from sub-T1 speeds to 10 </a:t>
            </a:r>
            <a:r>
              <a:rPr lang="en-US" dirty="0" err="1"/>
              <a:t>Gbps</a:t>
            </a:r>
            <a:r>
              <a:rPr lang="en-US" dirty="0"/>
              <a:t>. </a:t>
            </a:r>
            <a:endParaRPr lang="en-US" dirty="0" smtClean="0"/>
          </a:p>
          <a:p>
            <a:r>
              <a:rPr lang="en-US" dirty="0" smtClean="0"/>
              <a:t>ATM </a:t>
            </a:r>
            <a:r>
              <a:rPr lang="en-US" dirty="0"/>
              <a:t>achieves its high speeds in part by transmitting data in fixed-size cells and dispensing with error-correction protocols. </a:t>
            </a:r>
            <a:endParaRPr lang="en-US" dirty="0" smtClean="0"/>
          </a:p>
          <a:p>
            <a:r>
              <a:rPr lang="en-US" dirty="0" smtClean="0"/>
              <a:t>It </a:t>
            </a:r>
            <a:r>
              <a:rPr lang="en-US" dirty="0"/>
              <a:t>relies on the inherent integrity of digital lines to ensure data integrity.</a:t>
            </a:r>
          </a:p>
          <a:p>
            <a:r>
              <a:rPr lang="en-US" dirty="0"/>
              <a:t>ATM can be integrated into an existing network as needed without having to update the entire network. </a:t>
            </a:r>
            <a:endParaRPr lang="en-US" dirty="0" smtClean="0"/>
          </a:p>
          <a:p>
            <a:r>
              <a:rPr lang="en-US" dirty="0" smtClean="0"/>
              <a:t>Its </a:t>
            </a:r>
            <a:r>
              <a:rPr lang="en-US" dirty="0"/>
              <a:t>fixed-length cell-relay operation is the signaling technology of the future and offers more predictable performance than variable length frames. </a:t>
            </a:r>
            <a:endParaRPr lang="en-US" dirty="0" smtClean="0"/>
          </a:p>
          <a:p>
            <a:r>
              <a:rPr lang="en-US" dirty="0" smtClean="0"/>
              <a:t>Networks </a:t>
            </a:r>
            <a:r>
              <a:rPr lang="en-US" dirty="0"/>
              <a:t>are extremely versatile and an ATM network can connect points in a building, or across the country, and still be treated as a single network.</a:t>
            </a:r>
          </a:p>
        </p:txBody>
      </p:sp>
    </p:spTree>
    <p:extLst>
      <p:ext uri="{BB962C8B-B14F-4D97-AF65-F5344CB8AC3E}">
        <p14:creationId xmlns:p14="http://schemas.microsoft.com/office/powerpoint/2010/main" val="14436674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1873</TotalTime>
  <Words>8258</Words>
  <Application>Microsoft Office PowerPoint</Application>
  <PresentationFormat>Widescreen</PresentationFormat>
  <Paragraphs>703</Paragraphs>
  <Slides>90</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90</vt:i4>
      </vt:variant>
    </vt:vector>
  </HeadingPairs>
  <TitlesOfParts>
    <vt:vector size="95" baseType="lpstr">
      <vt:lpstr>Arial</vt:lpstr>
      <vt:lpstr>Calibri</vt:lpstr>
      <vt:lpstr>Calibri Light</vt:lpstr>
      <vt:lpstr>Roboto</vt:lpstr>
      <vt:lpstr>Office Theme</vt:lpstr>
      <vt:lpstr>Unit 3 Data Link Layer [8 hrs] </vt:lpstr>
      <vt:lpstr>PowerPoint Presentation</vt:lpstr>
      <vt:lpstr>Link Layer Services</vt:lpstr>
      <vt:lpstr>Flow Control</vt:lpstr>
      <vt:lpstr>Flow Control</vt:lpstr>
      <vt:lpstr>Flow Control</vt:lpstr>
      <vt:lpstr>A simple stop and wait Protocol </vt:lpstr>
      <vt:lpstr>A simple stop and wait Protocol </vt:lpstr>
      <vt:lpstr>A simple stop and wait Protocol </vt:lpstr>
      <vt:lpstr>A simple stop and wait Protocol: Problem</vt:lpstr>
      <vt:lpstr>Stop and wait ARQ</vt:lpstr>
      <vt:lpstr>Stop and wait ARQ</vt:lpstr>
      <vt:lpstr>Sliding Window Protocol</vt:lpstr>
      <vt:lpstr>Sliding Window Protocol</vt:lpstr>
      <vt:lpstr>Error Detection and Correction techniques</vt:lpstr>
      <vt:lpstr>Error</vt:lpstr>
      <vt:lpstr>Single Bit Error</vt:lpstr>
      <vt:lpstr>Multiple Bit Error</vt:lpstr>
      <vt:lpstr>Burst Bit Error</vt:lpstr>
      <vt:lpstr>Redundancy</vt:lpstr>
      <vt:lpstr>Types of Error Detection Techniques</vt:lpstr>
      <vt:lpstr>Parity Checking</vt:lpstr>
      <vt:lpstr>Parity Checking: EVEN Parity</vt:lpstr>
      <vt:lpstr>Parity Checking: ODD Parity</vt:lpstr>
      <vt:lpstr>Parity Checking</vt:lpstr>
      <vt:lpstr>Parity Checking</vt:lpstr>
      <vt:lpstr>Parity Checking</vt:lpstr>
      <vt:lpstr>Checksum</vt:lpstr>
      <vt:lpstr>Checksum</vt:lpstr>
      <vt:lpstr>Checksum: Process</vt:lpstr>
      <vt:lpstr>Checksum: Example</vt:lpstr>
      <vt:lpstr>Redundancy</vt:lpstr>
      <vt:lpstr>Cyclic Redundancy Check</vt:lpstr>
      <vt:lpstr>CRC</vt:lpstr>
      <vt:lpstr>CRC</vt:lpstr>
      <vt:lpstr>CRC</vt:lpstr>
      <vt:lpstr>Hamming Code</vt:lpstr>
      <vt:lpstr>Hamming Code</vt:lpstr>
      <vt:lpstr>Selecting the number of redundant bits</vt:lpstr>
      <vt:lpstr>Selecting the number of redundant bits</vt:lpstr>
      <vt:lpstr>Choosing the location of redundant bits</vt:lpstr>
      <vt:lpstr>Assigning the values to redundant bits</vt:lpstr>
      <vt:lpstr>Assigning the values to redundant bits</vt:lpstr>
      <vt:lpstr>Example</vt:lpstr>
      <vt:lpstr>Example</vt:lpstr>
      <vt:lpstr>How to detect and correct the error in the hamming code?</vt:lpstr>
      <vt:lpstr>Example 2</vt:lpstr>
      <vt:lpstr>Checking the parity bits</vt:lpstr>
      <vt:lpstr>Channel Allocation  Techniques</vt:lpstr>
      <vt:lpstr>Channel Allocation Techniques</vt:lpstr>
      <vt:lpstr>Channel Allocation Techniques</vt:lpstr>
      <vt:lpstr>Ethernet Standards: 802.3 CSMA/CD, 802.4 Token Bus, 802.5 Token Ring </vt:lpstr>
      <vt:lpstr>Ethernet (contd…)</vt:lpstr>
      <vt:lpstr>Ethernet</vt:lpstr>
      <vt:lpstr>Why use Ethernet?</vt:lpstr>
      <vt:lpstr>Standard Ethernet Code</vt:lpstr>
      <vt:lpstr>Widely used Ethernet cables</vt:lpstr>
      <vt:lpstr>Ethernet</vt:lpstr>
      <vt:lpstr>Ethernet Network</vt:lpstr>
      <vt:lpstr>Ethernet Network</vt:lpstr>
      <vt:lpstr>Cable Grade Capabilities</vt:lpstr>
      <vt:lpstr>CSMA/CD Standard</vt:lpstr>
      <vt:lpstr>CSMA/CD Standard: Access Modes</vt:lpstr>
      <vt:lpstr>Token Ring</vt:lpstr>
      <vt:lpstr>Token Ring</vt:lpstr>
      <vt:lpstr>Token Ring: Token Passing</vt:lpstr>
      <vt:lpstr>Token Ring: Token Passing</vt:lpstr>
      <vt:lpstr>Token Ring: Advantages &amp; Disadvantages</vt:lpstr>
      <vt:lpstr>Token Bus</vt:lpstr>
      <vt:lpstr>Token Bus: Token Passing</vt:lpstr>
      <vt:lpstr>Token Bus: Token Passing</vt:lpstr>
      <vt:lpstr>Token Ring Vs Token Bus</vt:lpstr>
      <vt:lpstr>Overview Virtual Circuit Switching, Frame Relay &amp; ATM </vt:lpstr>
      <vt:lpstr>Virtual Circuit Switching</vt:lpstr>
      <vt:lpstr>Virtual Circuit Switching</vt:lpstr>
      <vt:lpstr>Working of Virtual Circuit</vt:lpstr>
      <vt:lpstr>Virtual Circuit Switching</vt:lpstr>
      <vt:lpstr>Frame Relay</vt:lpstr>
      <vt:lpstr>Frame Relay</vt:lpstr>
      <vt:lpstr>Frame Relay</vt:lpstr>
      <vt:lpstr>Characteristics of Frame Relay</vt:lpstr>
      <vt:lpstr>Various key features of this protocol</vt:lpstr>
      <vt:lpstr>Important features of Frame Relay</vt:lpstr>
      <vt:lpstr>Frame Relay: Benefits</vt:lpstr>
      <vt:lpstr>Frame Relay: Advantages and Disadvantages</vt:lpstr>
      <vt:lpstr>Frame Relay: Advantages</vt:lpstr>
      <vt:lpstr>Frame Relay: Disadvantages</vt:lpstr>
      <vt:lpstr>Asynchronous Transfer Mode (ATM)</vt:lpstr>
      <vt:lpstr>Asynchronous Transfer Mode (ATM)</vt:lpstr>
      <vt:lpstr>Asynchronous Transfer Mode (ATM)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Magar Kompany</dc:creator>
  <cp:lastModifiedBy>Magar Kompany</cp:lastModifiedBy>
  <cp:revision>286</cp:revision>
  <dcterms:created xsi:type="dcterms:W3CDTF">2022-05-01T18:27:32Z</dcterms:created>
  <dcterms:modified xsi:type="dcterms:W3CDTF">2022-07-22T00:36:55Z</dcterms:modified>
</cp:coreProperties>
</file>