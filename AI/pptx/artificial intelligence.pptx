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57" r:id="rId4"/>
    <p:sldId id="258" r:id="rId5"/>
    <p:sldId id="259" r:id="rId6"/>
    <p:sldId id="261" r:id="rId7"/>
    <p:sldId id="262" r:id="rId8"/>
    <p:sldId id="264" r:id="rId9"/>
    <p:sldId id="265" r:id="rId10"/>
    <p:sldId id="266" r:id="rId11"/>
    <p:sldId id="267" r:id="rId12"/>
    <p:sldId id="269" r:id="rId13"/>
    <p:sldId id="270" r:id="rId14"/>
    <p:sldId id="271" r:id="rId15"/>
    <p:sldId id="272"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00" autoAdjust="0"/>
    <p:restoredTop sz="94660"/>
  </p:normalViewPr>
  <p:slideViewPr>
    <p:cSldViewPr snapToGrid="0">
      <p:cViewPr varScale="1">
        <p:scale>
          <a:sx n="73" d="100"/>
          <a:sy n="73" d="100"/>
        </p:scale>
        <p:origin x="-624" y="-10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CA5EA4D-7843-4BFF-AC70-F10D8F86E1C9}" type="datetimeFigureOut">
              <a:rPr lang="en-US" smtClean="0"/>
              <a:pPr/>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0E222-D5D8-45ED-9397-5CE1A768A1AF}" type="slidenum">
              <a:rPr lang="en-US" smtClean="0"/>
              <a:pPr/>
              <a:t>‹#›</a:t>
            </a:fld>
            <a:endParaRPr lang="en-US"/>
          </a:p>
        </p:txBody>
      </p:sp>
    </p:spTree>
    <p:extLst>
      <p:ext uri="{BB962C8B-B14F-4D97-AF65-F5344CB8AC3E}">
        <p14:creationId xmlns:p14="http://schemas.microsoft.com/office/powerpoint/2010/main" xmlns="" val="3409786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CA5EA4D-7843-4BFF-AC70-F10D8F86E1C9}" type="datetimeFigureOut">
              <a:rPr lang="en-US" smtClean="0"/>
              <a:pPr/>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0E222-D5D8-45ED-9397-5CE1A768A1AF}" type="slidenum">
              <a:rPr lang="en-US" smtClean="0"/>
              <a:pPr/>
              <a:t>‹#›</a:t>
            </a:fld>
            <a:endParaRPr lang="en-US"/>
          </a:p>
        </p:txBody>
      </p:sp>
    </p:spTree>
    <p:extLst>
      <p:ext uri="{BB962C8B-B14F-4D97-AF65-F5344CB8AC3E}">
        <p14:creationId xmlns:p14="http://schemas.microsoft.com/office/powerpoint/2010/main" xmlns="" val="1541795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CA5EA4D-7843-4BFF-AC70-F10D8F86E1C9}" type="datetimeFigureOut">
              <a:rPr lang="en-US" smtClean="0"/>
              <a:pPr/>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0E222-D5D8-45ED-9397-5CE1A768A1AF}" type="slidenum">
              <a:rPr lang="en-US" smtClean="0"/>
              <a:pPr/>
              <a:t>‹#›</a:t>
            </a:fld>
            <a:endParaRPr lang="en-US"/>
          </a:p>
        </p:txBody>
      </p:sp>
    </p:spTree>
    <p:extLst>
      <p:ext uri="{BB962C8B-B14F-4D97-AF65-F5344CB8AC3E}">
        <p14:creationId xmlns:p14="http://schemas.microsoft.com/office/powerpoint/2010/main" xmlns="" val="1009863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CA5EA4D-7843-4BFF-AC70-F10D8F86E1C9}" type="datetimeFigureOut">
              <a:rPr lang="en-US" smtClean="0"/>
              <a:pPr/>
              <a:t>8/27/2025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0E222-D5D8-45ED-9397-5CE1A768A1AF}" type="slidenum">
              <a:rPr lang="en-US" smtClean="0"/>
              <a:pPr/>
              <a:t>‹#›</a:t>
            </a:fld>
            <a:endParaRPr lang="en-US"/>
          </a:p>
        </p:txBody>
      </p:sp>
    </p:spTree>
    <p:extLst>
      <p:ext uri="{BB962C8B-B14F-4D97-AF65-F5344CB8AC3E}">
        <p14:creationId xmlns:p14="http://schemas.microsoft.com/office/powerpoint/2010/main" xmlns="" val="2120553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CA5EA4D-7843-4BFF-AC70-F10D8F86E1C9}" type="datetimeFigureOut">
              <a:rPr lang="en-US" smtClean="0"/>
              <a:pPr/>
              <a:t>8/27/2025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10E222-D5D8-45ED-9397-5CE1A768A1AF}" type="slidenum">
              <a:rPr lang="en-US" smtClean="0"/>
              <a:pPr/>
              <a:t>‹#›</a:t>
            </a:fld>
            <a:endParaRPr lang="en-US"/>
          </a:p>
        </p:txBody>
      </p:sp>
    </p:spTree>
    <p:extLst>
      <p:ext uri="{BB962C8B-B14F-4D97-AF65-F5344CB8AC3E}">
        <p14:creationId xmlns:p14="http://schemas.microsoft.com/office/powerpoint/2010/main" xmlns="" val="3542244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CA5EA4D-7843-4BFF-AC70-F10D8F86E1C9}" type="datetimeFigureOut">
              <a:rPr lang="en-US" smtClean="0"/>
              <a:pPr/>
              <a:t>8/27/2025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10E222-D5D8-45ED-9397-5CE1A768A1AF}" type="slidenum">
              <a:rPr lang="en-US" smtClean="0"/>
              <a:pPr/>
              <a:t>‹#›</a:t>
            </a:fld>
            <a:endParaRPr lang="en-US"/>
          </a:p>
        </p:txBody>
      </p:sp>
    </p:spTree>
    <p:extLst>
      <p:ext uri="{BB962C8B-B14F-4D97-AF65-F5344CB8AC3E}">
        <p14:creationId xmlns:p14="http://schemas.microsoft.com/office/powerpoint/2010/main" xmlns="" val="1265111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A5EA4D-7843-4BFF-AC70-F10D8F86E1C9}" type="datetimeFigureOut">
              <a:rPr lang="en-US" smtClean="0"/>
              <a:pPr/>
              <a:t>8/27/2025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10E222-D5D8-45ED-9397-5CE1A768A1AF}" type="slidenum">
              <a:rPr lang="en-US" smtClean="0"/>
              <a:pPr/>
              <a:t>‹#›</a:t>
            </a:fld>
            <a:endParaRPr lang="en-US"/>
          </a:p>
        </p:txBody>
      </p:sp>
    </p:spTree>
    <p:extLst>
      <p:ext uri="{BB962C8B-B14F-4D97-AF65-F5344CB8AC3E}">
        <p14:creationId xmlns:p14="http://schemas.microsoft.com/office/powerpoint/2010/main" xmlns="" val="2706557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CA5EA4D-7843-4BFF-AC70-F10D8F86E1C9}" type="datetimeFigureOut">
              <a:rPr lang="en-US" smtClean="0"/>
              <a:pPr/>
              <a:t>8/27/2025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0E222-D5D8-45ED-9397-5CE1A768A1AF}" type="slidenum">
              <a:rPr lang="en-US" smtClean="0"/>
              <a:pPr/>
              <a:t>‹#›</a:t>
            </a:fld>
            <a:endParaRPr lang="en-US"/>
          </a:p>
        </p:txBody>
      </p:sp>
    </p:spTree>
    <p:extLst>
      <p:ext uri="{BB962C8B-B14F-4D97-AF65-F5344CB8AC3E}">
        <p14:creationId xmlns:p14="http://schemas.microsoft.com/office/powerpoint/2010/main" xmlns="" val="2056525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CA5EA4D-7843-4BFF-AC70-F10D8F86E1C9}" type="datetimeFigureOut">
              <a:rPr lang="en-US" smtClean="0"/>
              <a:pPr/>
              <a:t>8/27/2025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0E222-D5D8-45ED-9397-5CE1A768A1AF}" type="slidenum">
              <a:rPr lang="en-US" smtClean="0"/>
              <a:pPr/>
              <a:t>‹#›</a:t>
            </a:fld>
            <a:endParaRPr lang="en-US"/>
          </a:p>
        </p:txBody>
      </p:sp>
    </p:spTree>
    <p:extLst>
      <p:ext uri="{BB962C8B-B14F-4D97-AF65-F5344CB8AC3E}">
        <p14:creationId xmlns:p14="http://schemas.microsoft.com/office/powerpoint/2010/main" xmlns="" val="2962677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CA5EA4D-7843-4BFF-AC70-F10D8F86E1C9}" type="datetimeFigureOut">
              <a:rPr lang="en-US" smtClean="0"/>
              <a:pPr/>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0E222-D5D8-45ED-9397-5CE1A768A1AF}" type="slidenum">
              <a:rPr lang="en-US" smtClean="0"/>
              <a:pPr/>
              <a:t>‹#›</a:t>
            </a:fld>
            <a:endParaRPr lang="en-US"/>
          </a:p>
        </p:txBody>
      </p:sp>
    </p:spTree>
    <p:extLst>
      <p:ext uri="{BB962C8B-B14F-4D97-AF65-F5344CB8AC3E}">
        <p14:creationId xmlns:p14="http://schemas.microsoft.com/office/powerpoint/2010/main" xmlns="" val="2427949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CA5EA4D-7843-4BFF-AC70-F10D8F86E1C9}" type="datetimeFigureOut">
              <a:rPr lang="en-US" smtClean="0"/>
              <a:pPr/>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0E222-D5D8-45ED-9397-5CE1A768A1AF}" type="slidenum">
              <a:rPr lang="en-US" smtClean="0"/>
              <a:pPr/>
              <a:t>‹#›</a:t>
            </a:fld>
            <a:endParaRPr lang="en-US"/>
          </a:p>
        </p:txBody>
      </p:sp>
    </p:spTree>
    <p:extLst>
      <p:ext uri="{BB962C8B-B14F-4D97-AF65-F5344CB8AC3E}">
        <p14:creationId xmlns:p14="http://schemas.microsoft.com/office/powerpoint/2010/main" xmlns="" val="3601697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A5EA4D-7843-4BFF-AC70-F10D8F86E1C9}" type="datetimeFigureOut">
              <a:rPr lang="en-US" smtClean="0"/>
              <a:pPr/>
              <a:t>8/27/2025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10E222-D5D8-45ED-9397-5CE1A768A1AF}" type="slidenum">
              <a:rPr lang="en-US" smtClean="0"/>
              <a:pPr/>
              <a:t>‹#›</a:t>
            </a:fld>
            <a:endParaRPr lang="en-US"/>
          </a:p>
        </p:txBody>
      </p:sp>
    </p:spTree>
    <p:extLst>
      <p:ext uri="{BB962C8B-B14F-4D97-AF65-F5344CB8AC3E}">
        <p14:creationId xmlns:p14="http://schemas.microsoft.com/office/powerpoint/2010/main" xmlns="" val="603428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xmlns="" val="1999320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xmlns="" val="14068670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Simple reflex agent</a:t>
            </a:r>
          </a:p>
        </p:txBody>
      </p:sp>
      <p:sp>
        <p:nvSpPr>
          <p:cNvPr id="3" name="Content Placeholder 2"/>
          <p:cNvSpPr>
            <a:spLocks noGrp="1"/>
          </p:cNvSpPr>
          <p:nvPr>
            <p:ph idx="1"/>
          </p:nvPr>
        </p:nvSpPr>
        <p:spPr/>
        <p:txBody>
          <a:bodyPr>
            <a:normAutofit lnSpcReduction="10000"/>
          </a:bodyPr>
          <a:lstStyle/>
          <a:p>
            <a:r>
              <a:rPr lang="en-US" dirty="0" smtClean="0"/>
              <a:t>The simple reflex agent is the simples agent.</a:t>
            </a:r>
          </a:p>
          <a:p>
            <a:r>
              <a:rPr lang="en-US" dirty="0" smtClean="0"/>
              <a:t>These agents take decision on the basis of the current percepts and ignore the rest of the percept history.</a:t>
            </a:r>
          </a:p>
          <a:p>
            <a:r>
              <a:rPr lang="en-US" dirty="0" smtClean="0"/>
              <a:t>These agents only succeed in the fully observable environment.</a:t>
            </a:r>
          </a:p>
          <a:p>
            <a:r>
              <a:rPr lang="en-US" dirty="0" smtClean="0"/>
              <a:t>The simple reflex agent works on condition-action rule, which means to maps the current state to action.</a:t>
            </a:r>
          </a:p>
          <a:p>
            <a:r>
              <a:rPr lang="en-US" dirty="0" err="1" smtClean="0"/>
              <a:t>Ie</a:t>
            </a:r>
            <a:r>
              <a:rPr lang="en-US" dirty="0" smtClean="0"/>
              <a:t> if the condition is true, then action is taken else not.</a:t>
            </a:r>
          </a:p>
          <a:p>
            <a:r>
              <a:rPr lang="en-US" dirty="0" smtClean="0"/>
              <a:t>Such as room </a:t>
            </a:r>
            <a:r>
              <a:rPr lang="en-US" dirty="0" err="1" smtClean="0"/>
              <a:t>cleaener</a:t>
            </a:r>
            <a:r>
              <a:rPr lang="en-US" dirty="0" smtClean="0"/>
              <a:t> agent, it works only if there is dirt in the room.</a:t>
            </a:r>
          </a:p>
          <a:p>
            <a:r>
              <a:rPr lang="en-US" dirty="0" smtClean="0"/>
              <a:t>The problem with simple reflex agent is that they have very limited intelligence and they are not adaptive to changes in environment.</a:t>
            </a:r>
          </a:p>
        </p:txBody>
      </p:sp>
    </p:spTree>
    <p:extLst>
      <p:ext uri="{BB962C8B-B14F-4D97-AF65-F5344CB8AC3E}">
        <p14:creationId xmlns:p14="http://schemas.microsoft.com/office/powerpoint/2010/main" xmlns="" val="12195820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613954" y="1881051"/>
            <a:ext cx="5421086" cy="48724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Rounded Rectangle 4"/>
          <p:cNvSpPr/>
          <p:nvPr/>
        </p:nvSpPr>
        <p:spPr>
          <a:xfrm>
            <a:off x="979715" y="3683726"/>
            <a:ext cx="1319348" cy="189411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Condition-action rules</a:t>
            </a:r>
            <a:endParaRPr lang="en-US" dirty="0"/>
          </a:p>
        </p:txBody>
      </p:sp>
      <p:sp>
        <p:nvSpPr>
          <p:cNvPr id="6" name="Rectangle 5"/>
          <p:cNvSpPr/>
          <p:nvPr/>
        </p:nvSpPr>
        <p:spPr>
          <a:xfrm>
            <a:off x="3239588" y="2939143"/>
            <a:ext cx="2312125" cy="10972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the world is like now</a:t>
            </a:r>
            <a:endParaRPr lang="en-US" dirty="0"/>
          </a:p>
        </p:txBody>
      </p:sp>
      <p:sp>
        <p:nvSpPr>
          <p:cNvPr id="7" name="Rectangle 6"/>
          <p:cNvSpPr/>
          <p:nvPr/>
        </p:nvSpPr>
        <p:spPr>
          <a:xfrm>
            <a:off x="3239588" y="4369526"/>
            <a:ext cx="2312126" cy="11168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a:t>
            </a:r>
            <a:r>
              <a:rPr lang="en-US" dirty="0" err="1" smtClean="0"/>
              <a:t>acton</a:t>
            </a:r>
            <a:r>
              <a:rPr lang="en-US" dirty="0" smtClean="0"/>
              <a:t> I should do now</a:t>
            </a:r>
            <a:endParaRPr lang="en-US" dirty="0"/>
          </a:p>
        </p:txBody>
      </p:sp>
      <p:sp>
        <p:nvSpPr>
          <p:cNvPr id="8" name="Rounded Rectangle 7"/>
          <p:cNvSpPr/>
          <p:nvPr/>
        </p:nvSpPr>
        <p:spPr>
          <a:xfrm>
            <a:off x="1045029" y="2004197"/>
            <a:ext cx="1293223"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AGENT</a:t>
            </a:r>
            <a:endParaRPr lang="en-US" dirty="0"/>
          </a:p>
        </p:txBody>
      </p:sp>
      <p:sp>
        <p:nvSpPr>
          <p:cNvPr id="9" name="Rounded Rectangle 8"/>
          <p:cNvSpPr/>
          <p:nvPr/>
        </p:nvSpPr>
        <p:spPr>
          <a:xfrm>
            <a:off x="3966754" y="2067199"/>
            <a:ext cx="1293223"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SENSOR</a:t>
            </a:r>
            <a:endParaRPr lang="en-US" dirty="0"/>
          </a:p>
        </p:txBody>
      </p:sp>
      <p:sp>
        <p:nvSpPr>
          <p:cNvPr id="10" name="Rounded Rectangle 9"/>
          <p:cNvSpPr/>
          <p:nvPr/>
        </p:nvSpPr>
        <p:spPr>
          <a:xfrm>
            <a:off x="3762103" y="5884817"/>
            <a:ext cx="1497874"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ACTUATORS</a:t>
            </a:r>
            <a:endParaRPr lang="en-US" dirty="0"/>
          </a:p>
        </p:txBody>
      </p:sp>
      <p:cxnSp>
        <p:nvCxnSpPr>
          <p:cNvPr id="12" name="Straight Arrow Connector 11"/>
          <p:cNvCxnSpPr/>
          <p:nvPr/>
        </p:nvCxnSpPr>
        <p:spPr>
          <a:xfrm>
            <a:off x="4613365" y="2537461"/>
            <a:ext cx="0" cy="401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4495799" y="4036423"/>
            <a:ext cx="15241" cy="3331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4395650" y="5456532"/>
            <a:ext cx="1" cy="428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7" idx="1"/>
          </p:cNvCxnSpPr>
          <p:nvPr/>
        </p:nvCxnSpPr>
        <p:spPr>
          <a:xfrm>
            <a:off x="2299063" y="4927963"/>
            <a:ext cx="940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Left Arrow 18"/>
          <p:cNvSpPr/>
          <p:nvPr/>
        </p:nvSpPr>
        <p:spPr>
          <a:xfrm>
            <a:off x="6035040" y="2474459"/>
            <a:ext cx="2233749" cy="46468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6035040" y="4630783"/>
            <a:ext cx="2717074" cy="8257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8752114" y="2239328"/>
            <a:ext cx="2090057" cy="42878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EVIRONMENT</a:t>
            </a:r>
            <a:endParaRPr lang="en-US" dirty="0"/>
          </a:p>
        </p:txBody>
      </p:sp>
    </p:spTree>
    <p:extLst>
      <p:ext uri="{BB962C8B-B14F-4D97-AF65-F5344CB8AC3E}">
        <p14:creationId xmlns:p14="http://schemas.microsoft.com/office/powerpoint/2010/main" xmlns="" val="15521201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Model-based Agents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 model-based agent can work in a partially observable environment, and track the situation. </a:t>
            </a:r>
          </a:p>
          <a:p>
            <a:r>
              <a:rPr lang="en-US" dirty="0" smtClean="0"/>
              <a:t>A model based agent has two important factor:</a:t>
            </a:r>
          </a:p>
          <a:p>
            <a:r>
              <a:rPr lang="en-US" dirty="0" smtClean="0"/>
              <a:t>Model: it is knowledge about “how things happen in the world”, so it is called a model-based agent.</a:t>
            </a:r>
          </a:p>
          <a:p>
            <a:r>
              <a:rPr lang="en-US" dirty="0" smtClean="0"/>
              <a:t>Internal state: it is representation of the current state based on percept history.</a:t>
            </a:r>
          </a:p>
          <a:p>
            <a:r>
              <a:rPr lang="en-US" dirty="0" smtClean="0"/>
              <a:t>These agents have the model “which is knowledge of the world” and based on the model they perform actions.</a:t>
            </a:r>
          </a:p>
          <a:p>
            <a:r>
              <a:rPr lang="en-US" dirty="0" smtClean="0"/>
              <a:t>Updating the agent state requires information about:</a:t>
            </a:r>
          </a:p>
          <a:p>
            <a:pPr lvl="1"/>
            <a:r>
              <a:rPr lang="en-US" dirty="0" smtClean="0"/>
              <a:t>How the world gradually evolves.</a:t>
            </a:r>
          </a:p>
          <a:p>
            <a:pPr lvl="1"/>
            <a:r>
              <a:rPr lang="en-US" dirty="0" smtClean="0"/>
              <a:t>How the agents action affects the world.</a:t>
            </a:r>
          </a:p>
        </p:txBody>
      </p:sp>
    </p:spTree>
    <p:extLst>
      <p:ext uri="{BB962C8B-B14F-4D97-AF65-F5344CB8AC3E}">
        <p14:creationId xmlns:p14="http://schemas.microsoft.com/office/powerpoint/2010/main" xmlns="" val="625375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613954" y="1881051"/>
            <a:ext cx="5421086" cy="48724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Rounded Rectangle 4"/>
          <p:cNvSpPr/>
          <p:nvPr/>
        </p:nvSpPr>
        <p:spPr>
          <a:xfrm>
            <a:off x="979715" y="4718718"/>
            <a:ext cx="1358536" cy="64987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Condition-action rules</a:t>
            </a:r>
            <a:endParaRPr lang="en-US" dirty="0"/>
          </a:p>
        </p:txBody>
      </p:sp>
      <p:sp>
        <p:nvSpPr>
          <p:cNvPr id="6" name="Rectangle 5"/>
          <p:cNvSpPr/>
          <p:nvPr/>
        </p:nvSpPr>
        <p:spPr>
          <a:xfrm>
            <a:off x="3239588" y="2939143"/>
            <a:ext cx="2312125" cy="10972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the world is like now</a:t>
            </a:r>
            <a:endParaRPr lang="en-US" dirty="0"/>
          </a:p>
        </p:txBody>
      </p:sp>
      <p:sp>
        <p:nvSpPr>
          <p:cNvPr id="7" name="Rectangle 6"/>
          <p:cNvSpPr/>
          <p:nvPr/>
        </p:nvSpPr>
        <p:spPr>
          <a:xfrm>
            <a:off x="3239588" y="4369526"/>
            <a:ext cx="2312126" cy="11168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action I should do now</a:t>
            </a:r>
            <a:endParaRPr lang="en-US" dirty="0"/>
          </a:p>
        </p:txBody>
      </p:sp>
      <p:sp>
        <p:nvSpPr>
          <p:cNvPr id="8" name="Rounded Rectangle 7"/>
          <p:cNvSpPr/>
          <p:nvPr/>
        </p:nvSpPr>
        <p:spPr>
          <a:xfrm>
            <a:off x="1058092" y="2079412"/>
            <a:ext cx="1293223" cy="4702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state</a:t>
            </a:r>
            <a:endParaRPr lang="en-US" dirty="0"/>
          </a:p>
        </p:txBody>
      </p:sp>
      <p:sp>
        <p:nvSpPr>
          <p:cNvPr id="9" name="Rounded Rectangle 8"/>
          <p:cNvSpPr/>
          <p:nvPr/>
        </p:nvSpPr>
        <p:spPr>
          <a:xfrm>
            <a:off x="3966754" y="2067199"/>
            <a:ext cx="1293223"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SENSOR</a:t>
            </a:r>
            <a:endParaRPr lang="en-US" dirty="0"/>
          </a:p>
        </p:txBody>
      </p:sp>
      <p:sp>
        <p:nvSpPr>
          <p:cNvPr id="10" name="Rounded Rectangle 9"/>
          <p:cNvSpPr/>
          <p:nvPr/>
        </p:nvSpPr>
        <p:spPr>
          <a:xfrm>
            <a:off x="3762103" y="5884817"/>
            <a:ext cx="1497874"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ACTUATORS</a:t>
            </a:r>
            <a:endParaRPr lang="en-US" dirty="0"/>
          </a:p>
        </p:txBody>
      </p:sp>
      <p:cxnSp>
        <p:nvCxnSpPr>
          <p:cNvPr id="12" name="Straight Arrow Connector 11"/>
          <p:cNvCxnSpPr/>
          <p:nvPr/>
        </p:nvCxnSpPr>
        <p:spPr>
          <a:xfrm>
            <a:off x="4613365" y="2537461"/>
            <a:ext cx="0" cy="401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4495799" y="4036423"/>
            <a:ext cx="15241" cy="3331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4395650" y="5456532"/>
            <a:ext cx="1" cy="428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7" idx="1"/>
          </p:cNvCxnSpPr>
          <p:nvPr/>
        </p:nvCxnSpPr>
        <p:spPr>
          <a:xfrm>
            <a:off x="2299063" y="4927963"/>
            <a:ext cx="940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Left Arrow 18"/>
          <p:cNvSpPr/>
          <p:nvPr/>
        </p:nvSpPr>
        <p:spPr>
          <a:xfrm>
            <a:off x="6198324" y="2696051"/>
            <a:ext cx="2233749" cy="46468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6035040" y="4630783"/>
            <a:ext cx="2717074" cy="8257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8752114" y="2239328"/>
            <a:ext cx="2090057" cy="42878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EVIRONMENT</a:t>
            </a:r>
            <a:endParaRPr lang="en-US" dirty="0"/>
          </a:p>
        </p:txBody>
      </p:sp>
      <p:sp>
        <p:nvSpPr>
          <p:cNvPr id="3" name="TextBox 2"/>
          <p:cNvSpPr txBox="1"/>
          <p:nvPr/>
        </p:nvSpPr>
        <p:spPr>
          <a:xfrm>
            <a:off x="6792686" y="2474459"/>
            <a:ext cx="999376" cy="369332"/>
          </a:xfrm>
          <a:prstGeom prst="rect">
            <a:avLst/>
          </a:prstGeom>
          <a:noFill/>
        </p:spPr>
        <p:txBody>
          <a:bodyPr wrap="none" rtlCol="0">
            <a:spAutoFit/>
          </a:bodyPr>
          <a:lstStyle/>
          <a:p>
            <a:r>
              <a:rPr lang="en-US" dirty="0" smtClean="0"/>
              <a:t>percepts</a:t>
            </a:r>
            <a:endParaRPr lang="en-US" dirty="0"/>
          </a:p>
        </p:txBody>
      </p:sp>
      <p:sp>
        <p:nvSpPr>
          <p:cNvPr id="23" name="TextBox 22"/>
          <p:cNvSpPr txBox="1"/>
          <p:nvPr/>
        </p:nvSpPr>
        <p:spPr>
          <a:xfrm>
            <a:off x="6815510" y="4128442"/>
            <a:ext cx="766557" cy="369332"/>
          </a:xfrm>
          <a:prstGeom prst="rect">
            <a:avLst/>
          </a:prstGeom>
          <a:noFill/>
        </p:spPr>
        <p:txBody>
          <a:bodyPr wrap="none" rtlCol="0">
            <a:spAutoFit/>
          </a:bodyPr>
          <a:lstStyle/>
          <a:p>
            <a:r>
              <a:rPr lang="en-US" dirty="0" smtClean="0"/>
              <a:t>action</a:t>
            </a:r>
            <a:endParaRPr lang="en-US" dirty="0"/>
          </a:p>
        </p:txBody>
      </p:sp>
      <p:sp>
        <p:nvSpPr>
          <p:cNvPr id="24" name="Rectangle 23"/>
          <p:cNvSpPr/>
          <p:nvPr/>
        </p:nvSpPr>
        <p:spPr>
          <a:xfrm>
            <a:off x="767442" y="2879646"/>
            <a:ext cx="2312125" cy="6995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How the world evolves</a:t>
            </a:r>
            <a:endParaRPr lang="en-US" dirty="0"/>
          </a:p>
        </p:txBody>
      </p:sp>
      <p:sp>
        <p:nvSpPr>
          <p:cNvPr id="25" name="Rectangle 24"/>
          <p:cNvSpPr/>
          <p:nvPr/>
        </p:nvSpPr>
        <p:spPr>
          <a:xfrm>
            <a:off x="764179" y="3739922"/>
            <a:ext cx="2312125" cy="6995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my actions do</a:t>
            </a:r>
            <a:endParaRPr lang="en-US" dirty="0"/>
          </a:p>
        </p:txBody>
      </p:sp>
      <p:cxnSp>
        <p:nvCxnSpPr>
          <p:cNvPr id="17" name="Straight Arrow Connector 16"/>
          <p:cNvCxnSpPr>
            <a:endCxn id="9" idx="1"/>
          </p:cNvCxnSpPr>
          <p:nvPr/>
        </p:nvCxnSpPr>
        <p:spPr>
          <a:xfrm flipV="1">
            <a:off x="2351315" y="2302330"/>
            <a:ext cx="1615439" cy="1221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603405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Goal-Based Agents</a:t>
            </a:r>
            <a:endParaRPr lang="en-US" dirty="0"/>
          </a:p>
        </p:txBody>
      </p:sp>
      <p:sp>
        <p:nvSpPr>
          <p:cNvPr id="3" name="Content Placeholder 2"/>
          <p:cNvSpPr>
            <a:spLocks noGrp="1"/>
          </p:cNvSpPr>
          <p:nvPr>
            <p:ph idx="1"/>
          </p:nvPr>
        </p:nvSpPr>
        <p:spPr/>
        <p:txBody>
          <a:bodyPr>
            <a:normAutofit fontScale="92500"/>
          </a:bodyPr>
          <a:lstStyle/>
          <a:p>
            <a:r>
              <a:rPr lang="en-US" dirty="0" smtClean="0"/>
              <a:t>The knowledge of current state environment is not always sufficient to decide for an agent what to do.</a:t>
            </a:r>
          </a:p>
          <a:p>
            <a:r>
              <a:rPr lang="en-US" dirty="0" smtClean="0"/>
              <a:t>The agent needs to know its goals which describes desirable situations.</a:t>
            </a:r>
          </a:p>
          <a:p>
            <a:r>
              <a:rPr lang="en-US" dirty="0" smtClean="0"/>
              <a:t>Goal-based agents expand the capabilities of the model-based agent by having the “goal” information.</a:t>
            </a:r>
          </a:p>
          <a:p>
            <a:r>
              <a:rPr lang="en-US" dirty="0" smtClean="0"/>
              <a:t>They choose an action, so that they can achieve the goal.</a:t>
            </a:r>
          </a:p>
          <a:p>
            <a:r>
              <a:rPr lang="en-US" dirty="0" smtClean="0"/>
              <a:t>These agents may have to consider a long sequence of possible actions before deciding whether the goal is achieved or not.</a:t>
            </a:r>
          </a:p>
          <a:p>
            <a:r>
              <a:rPr lang="en-US" dirty="0" smtClean="0"/>
              <a:t>Such considerations of different scenario are called searching and planning, which makes an agent proactive.</a:t>
            </a:r>
            <a:endParaRPr lang="en-US" dirty="0"/>
          </a:p>
        </p:txBody>
      </p:sp>
    </p:spTree>
    <p:extLst>
      <p:ext uri="{BB962C8B-B14F-4D97-AF65-F5344CB8AC3E}">
        <p14:creationId xmlns:p14="http://schemas.microsoft.com/office/powerpoint/2010/main" xmlns="" val="26198994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613954" y="1881051"/>
            <a:ext cx="5421086" cy="48724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Rounded Rectangle 4"/>
          <p:cNvSpPr/>
          <p:nvPr/>
        </p:nvSpPr>
        <p:spPr>
          <a:xfrm>
            <a:off x="979715" y="4718718"/>
            <a:ext cx="1358536" cy="64987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goals</a:t>
            </a:r>
            <a:endParaRPr lang="en-US" dirty="0"/>
          </a:p>
        </p:txBody>
      </p:sp>
      <p:sp>
        <p:nvSpPr>
          <p:cNvPr id="6" name="Rectangle 5"/>
          <p:cNvSpPr/>
          <p:nvPr/>
        </p:nvSpPr>
        <p:spPr>
          <a:xfrm>
            <a:off x="3239588" y="2939143"/>
            <a:ext cx="2312125" cy="10972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the world is like now</a:t>
            </a:r>
            <a:endParaRPr lang="en-US" dirty="0"/>
          </a:p>
        </p:txBody>
      </p:sp>
      <p:sp>
        <p:nvSpPr>
          <p:cNvPr id="7" name="Rectangle 6"/>
          <p:cNvSpPr/>
          <p:nvPr/>
        </p:nvSpPr>
        <p:spPr>
          <a:xfrm>
            <a:off x="3239588" y="4369526"/>
            <a:ext cx="2312126" cy="11168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action I should do now</a:t>
            </a:r>
            <a:endParaRPr lang="en-US" dirty="0"/>
          </a:p>
        </p:txBody>
      </p:sp>
      <p:sp>
        <p:nvSpPr>
          <p:cNvPr id="8" name="Rounded Rectangle 7"/>
          <p:cNvSpPr/>
          <p:nvPr/>
        </p:nvSpPr>
        <p:spPr>
          <a:xfrm>
            <a:off x="1058092" y="2079412"/>
            <a:ext cx="1293223" cy="4702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state</a:t>
            </a:r>
            <a:endParaRPr lang="en-US" dirty="0"/>
          </a:p>
        </p:txBody>
      </p:sp>
      <p:sp>
        <p:nvSpPr>
          <p:cNvPr id="9" name="Rounded Rectangle 8"/>
          <p:cNvSpPr/>
          <p:nvPr/>
        </p:nvSpPr>
        <p:spPr>
          <a:xfrm>
            <a:off x="3966754" y="2067199"/>
            <a:ext cx="1293223"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SENSOR</a:t>
            </a:r>
            <a:endParaRPr lang="en-US" dirty="0"/>
          </a:p>
        </p:txBody>
      </p:sp>
      <p:sp>
        <p:nvSpPr>
          <p:cNvPr id="10" name="Rounded Rectangle 9"/>
          <p:cNvSpPr/>
          <p:nvPr/>
        </p:nvSpPr>
        <p:spPr>
          <a:xfrm>
            <a:off x="3762103" y="5884817"/>
            <a:ext cx="1497874"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ACTUATORS</a:t>
            </a:r>
            <a:endParaRPr lang="en-US" dirty="0"/>
          </a:p>
        </p:txBody>
      </p:sp>
      <p:cxnSp>
        <p:nvCxnSpPr>
          <p:cNvPr id="12" name="Straight Arrow Connector 11"/>
          <p:cNvCxnSpPr/>
          <p:nvPr/>
        </p:nvCxnSpPr>
        <p:spPr>
          <a:xfrm>
            <a:off x="4613365" y="2537461"/>
            <a:ext cx="0" cy="401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4495799" y="4036423"/>
            <a:ext cx="15241" cy="3331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4395650" y="5456532"/>
            <a:ext cx="1" cy="428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7" idx="1"/>
          </p:cNvCxnSpPr>
          <p:nvPr/>
        </p:nvCxnSpPr>
        <p:spPr>
          <a:xfrm>
            <a:off x="2299063" y="4927963"/>
            <a:ext cx="940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Left Arrow 18"/>
          <p:cNvSpPr/>
          <p:nvPr/>
        </p:nvSpPr>
        <p:spPr>
          <a:xfrm>
            <a:off x="6198324" y="2696051"/>
            <a:ext cx="2233749" cy="46468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6035040" y="4630783"/>
            <a:ext cx="2717074" cy="8257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8752114" y="2239328"/>
            <a:ext cx="2090057" cy="42878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EVIRONMENT</a:t>
            </a:r>
            <a:endParaRPr lang="en-US" dirty="0"/>
          </a:p>
        </p:txBody>
      </p:sp>
      <p:sp>
        <p:nvSpPr>
          <p:cNvPr id="3" name="TextBox 2"/>
          <p:cNvSpPr txBox="1"/>
          <p:nvPr/>
        </p:nvSpPr>
        <p:spPr>
          <a:xfrm>
            <a:off x="6792686" y="2474459"/>
            <a:ext cx="999376" cy="369332"/>
          </a:xfrm>
          <a:prstGeom prst="rect">
            <a:avLst/>
          </a:prstGeom>
          <a:noFill/>
        </p:spPr>
        <p:txBody>
          <a:bodyPr wrap="none" rtlCol="0">
            <a:spAutoFit/>
          </a:bodyPr>
          <a:lstStyle/>
          <a:p>
            <a:r>
              <a:rPr lang="en-US" dirty="0" smtClean="0"/>
              <a:t>percepts</a:t>
            </a:r>
            <a:endParaRPr lang="en-US" dirty="0"/>
          </a:p>
        </p:txBody>
      </p:sp>
      <p:sp>
        <p:nvSpPr>
          <p:cNvPr id="23" name="TextBox 22"/>
          <p:cNvSpPr txBox="1"/>
          <p:nvPr/>
        </p:nvSpPr>
        <p:spPr>
          <a:xfrm>
            <a:off x="6815510" y="4128442"/>
            <a:ext cx="766557" cy="369332"/>
          </a:xfrm>
          <a:prstGeom prst="rect">
            <a:avLst/>
          </a:prstGeom>
          <a:noFill/>
        </p:spPr>
        <p:txBody>
          <a:bodyPr wrap="none" rtlCol="0">
            <a:spAutoFit/>
          </a:bodyPr>
          <a:lstStyle/>
          <a:p>
            <a:r>
              <a:rPr lang="en-US" dirty="0" smtClean="0"/>
              <a:t>action</a:t>
            </a:r>
            <a:endParaRPr lang="en-US" dirty="0"/>
          </a:p>
        </p:txBody>
      </p:sp>
      <p:sp>
        <p:nvSpPr>
          <p:cNvPr id="24" name="Rectangle 23"/>
          <p:cNvSpPr/>
          <p:nvPr/>
        </p:nvSpPr>
        <p:spPr>
          <a:xfrm>
            <a:off x="767442" y="2879646"/>
            <a:ext cx="2312125" cy="6995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How the world evolves</a:t>
            </a:r>
            <a:endParaRPr lang="en-US" dirty="0"/>
          </a:p>
        </p:txBody>
      </p:sp>
      <p:sp>
        <p:nvSpPr>
          <p:cNvPr id="25" name="Rectangle 24"/>
          <p:cNvSpPr/>
          <p:nvPr/>
        </p:nvSpPr>
        <p:spPr>
          <a:xfrm>
            <a:off x="764179" y="3739922"/>
            <a:ext cx="2312125" cy="6995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What my actions do</a:t>
            </a:r>
            <a:endParaRPr lang="en-US" dirty="0"/>
          </a:p>
        </p:txBody>
      </p:sp>
      <p:cxnSp>
        <p:nvCxnSpPr>
          <p:cNvPr id="17" name="Straight Arrow Connector 16"/>
          <p:cNvCxnSpPr>
            <a:endCxn id="9" idx="1"/>
          </p:cNvCxnSpPr>
          <p:nvPr/>
        </p:nvCxnSpPr>
        <p:spPr>
          <a:xfrm flipV="1">
            <a:off x="2351315" y="2302330"/>
            <a:ext cx="1615439" cy="1221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5657959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Utility based agents</a:t>
            </a:r>
            <a:endParaRPr lang="en-US" dirty="0"/>
          </a:p>
        </p:txBody>
      </p:sp>
      <p:sp>
        <p:nvSpPr>
          <p:cNvPr id="3" name="Content Placeholder 2"/>
          <p:cNvSpPr>
            <a:spLocks noGrp="1"/>
          </p:cNvSpPr>
          <p:nvPr>
            <p:ph idx="1"/>
          </p:nvPr>
        </p:nvSpPr>
        <p:spPr/>
        <p:txBody>
          <a:bodyPr/>
          <a:lstStyle/>
          <a:p>
            <a:r>
              <a:rPr lang="en-US" dirty="0" smtClean="0"/>
              <a:t>These agents are similar to the goal based agent but provide an extra component of </a:t>
            </a:r>
            <a:r>
              <a:rPr lang="en-US" dirty="0" err="1" smtClean="0"/>
              <a:t>utlity</a:t>
            </a:r>
            <a:r>
              <a:rPr lang="en-US" dirty="0" smtClean="0"/>
              <a:t> measurement which makes them different by </a:t>
            </a:r>
            <a:r>
              <a:rPr lang="en-US" dirty="0" err="1" smtClean="0"/>
              <a:t>provding</a:t>
            </a:r>
            <a:r>
              <a:rPr lang="en-US" dirty="0" smtClean="0"/>
              <a:t> a measure of success at a given state.</a:t>
            </a:r>
          </a:p>
          <a:p>
            <a:r>
              <a:rPr lang="en-US" dirty="0" smtClean="0"/>
              <a:t>Utility-based agent act bases not only goals also the best way to achieve goal.</a:t>
            </a:r>
          </a:p>
          <a:p>
            <a:r>
              <a:rPr lang="en-US" dirty="0" smtClean="0"/>
              <a:t>Utility based agent is useful when there are multiple possible alternatives and an agent has to choose in order to perform the best action.</a:t>
            </a:r>
          </a:p>
          <a:p>
            <a:r>
              <a:rPr lang="en-US" dirty="0" smtClean="0"/>
              <a:t>The utility function maps each state to real number to check how efficiently each action achieves the goals.</a:t>
            </a:r>
            <a:endParaRPr lang="en-US" dirty="0"/>
          </a:p>
        </p:txBody>
      </p:sp>
    </p:spTree>
    <p:extLst>
      <p:ext uri="{BB962C8B-B14F-4D97-AF65-F5344CB8AC3E}">
        <p14:creationId xmlns:p14="http://schemas.microsoft.com/office/powerpoint/2010/main" xmlns="" val="39301630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agents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 learning agents in AI is the type of agent which can learn from its past experiences, or it has learning capabilities.</a:t>
            </a:r>
          </a:p>
          <a:p>
            <a:r>
              <a:rPr lang="en-US" dirty="0" smtClean="0"/>
              <a:t>It starts to act with basic knowledge and then able to act and adopt automatically through learning.</a:t>
            </a:r>
          </a:p>
          <a:p>
            <a:r>
              <a:rPr lang="en-US" dirty="0" smtClean="0"/>
              <a:t>Hence, learning agents are able to learn, analyze performance and look for new ways to improve the performance.</a:t>
            </a:r>
          </a:p>
          <a:p>
            <a:r>
              <a:rPr lang="en-US" dirty="0" smtClean="0"/>
              <a:t>A learning agent has mainly four conceptual components, which are:</a:t>
            </a:r>
          </a:p>
          <a:p>
            <a:pPr lvl="1"/>
            <a:r>
              <a:rPr lang="en-US" dirty="0" smtClean="0"/>
              <a:t>Learning element: it is responsible for making improvements by learning from environment.</a:t>
            </a:r>
          </a:p>
          <a:p>
            <a:pPr lvl="1"/>
            <a:r>
              <a:rPr lang="en-US" dirty="0" smtClean="0"/>
              <a:t>Critic: it describes how well that agent is doing with respect to a fixed performance standard.</a:t>
            </a:r>
          </a:p>
          <a:p>
            <a:pPr lvl="1"/>
            <a:r>
              <a:rPr lang="en-US" dirty="0" smtClean="0"/>
              <a:t>Performance element: it is responsible for selecting external actions.</a:t>
            </a:r>
          </a:p>
          <a:p>
            <a:pPr lvl="1"/>
            <a:r>
              <a:rPr lang="en-US" dirty="0" smtClean="0"/>
              <a:t>Problem generator: it is responsible for suggesting actions that will lead to new and informative experiences.</a:t>
            </a:r>
            <a:endParaRPr lang="en-US" dirty="0"/>
          </a:p>
        </p:txBody>
      </p:sp>
    </p:spTree>
    <p:extLst>
      <p:ext uri="{BB962C8B-B14F-4D97-AF65-F5344CB8AC3E}">
        <p14:creationId xmlns:p14="http://schemas.microsoft.com/office/powerpoint/2010/main" xmlns="" val="154451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918755" y="5238206"/>
            <a:ext cx="1358536" cy="64987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Problem generator</a:t>
            </a:r>
            <a:endParaRPr lang="en-US" dirty="0"/>
          </a:p>
        </p:txBody>
      </p:sp>
      <p:sp>
        <p:nvSpPr>
          <p:cNvPr id="6" name="Rectangle 5"/>
          <p:cNvSpPr/>
          <p:nvPr/>
        </p:nvSpPr>
        <p:spPr>
          <a:xfrm>
            <a:off x="4656909" y="3400494"/>
            <a:ext cx="2312125" cy="10972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smtClean="0"/>
              <a:t>Perfromance</a:t>
            </a:r>
            <a:r>
              <a:rPr lang="en-US" dirty="0" smtClean="0"/>
              <a:t> element</a:t>
            </a:r>
            <a:endParaRPr lang="en-US" dirty="0"/>
          </a:p>
        </p:txBody>
      </p:sp>
      <p:sp>
        <p:nvSpPr>
          <p:cNvPr id="8" name="Rounded Rectangle 7"/>
          <p:cNvSpPr/>
          <p:nvPr/>
        </p:nvSpPr>
        <p:spPr>
          <a:xfrm>
            <a:off x="1273629" y="1689294"/>
            <a:ext cx="1293223" cy="4702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Critic </a:t>
            </a:r>
            <a:endParaRPr lang="en-US" dirty="0"/>
          </a:p>
        </p:txBody>
      </p:sp>
      <p:sp>
        <p:nvSpPr>
          <p:cNvPr id="9" name="Rounded Rectangle 8"/>
          <p:cNvSpPr/>
          <p:nvPr/>
        </p:nvSpPr>
        <p:spPr>
          <a:xfrm>
            <a:off x="5645330" y="1726520"/>
            <a:ext cx="1293223"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SENSORS</a:t>
            </a:r>
            <a:endParaRPr lang="en-US" dirty="0"/>
          </a:p>
        </p:txBody>
      </p:sp>
      <p:sp>
        <p:nvSpPr>
          <p:cNvPr id="10" name="Rounded Rectangle 9"/>
          <p:cNvSpPr/>
          <p:nvPr/>
        </p:nvSpPr>
        <p:spPr>
          <a:xfrm>
            <a:off x="4794068" y="5863977"/>
            <a:ext cx="1497874"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ACTUATORS</a:t>
            </a:r>
            <a:endParaRPr lang="en-US" dirty="0"/>
          </a:p>
        </p:txBody>
      </p:sp>
      <p:cxnSp>
        <p:nvCxnSpPr>
          <p:cNvPr id="12" name="Straight Arrow Connector 11"/>
          <p:cNvCxnSpPr/>
          <p:nvPr/>
        </p:nvCxnSpPr>
        <p:spPr>
          <a:xfrm flipH="1">
            <a:off x="6026494" y="2196782"/>
            <a:ext cx="21609" cy="12303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5353594" y="4476934"/>
            <a:ext cx="39188" cy="13870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Left Arrow 18"/>
          <p:cNvSpPr/>
          <p:nvPr/>
        </p:nvSpPr>
        <p:spPr>
          <a:xfrm>
            <a:off x="7582067" y="2696051"/>
            <a:ext cx="850006" cy="46468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7393576" y="4630783"/>
            <a:ext cx="1358538" cy="8257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8752114" y="2239328"/>
            <a:ext cx="2090057" cy="42878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EVIRONMENT</a:t>
            </a:r>
            <a:endParaRPr lang="en-US" dirty="0"/>
          </a:p>
        </p:txBody>
      </p:sp>
      <p:sp>
        <p:nvSpPr>
          <p:cNvPr id="3" name="TextBox 2"/>
          <p:cNvSpPr txBox="1"/>
          <p:nvPr/>
        </p:nvSpPr>
        <p:spPr>
          <a:xfrm>
            <a:off x="7456644" y="2383124"/>
            <a:ext cx="999376" cy="369332"/>
          </a:xfrm>
          <a:prstGeom prst="rect">
            <a:avLst/>
          </a:prstGeom>
          <a:noFill/>
        </p:spPr>
        <p:txBody>
          <a:bodyPr wrap="none" rtlCol="0">
            <a:spAutoFit/>
          </a:bodyPr>
          <a:lstStyle/>
          <a:p>
            <a:r>
              <a:rPr lang="en-US" dirty="0" smtClean="0"/>
              <a:t>percepts</a:t>
            </a:r>
            <a:endParaRPr lang="en-US" dirty="0"/>
          </a:p>
        </p:txBody>
      </p:sp>
      <p:sp>
        <p:nvSpPr>
          <p:cNvPr id="23" name="TextBox 22"/>
          <p:cNvSpPr txBox="1"/>
          <p:nvPr/>
        </p:nvSpPr>
        <p:spPr>
          <a:xfrm>
            <a:off x="7548152" y="4323806"/>
            <a:ext cx="766557" cy="369332"/>
          </a:xfrm>
          <a:prstGeom prst="rect">
            <a:avLst/>
          </a:prstGeom>
          <a:noFill/>
        </p:spPr>
        <p:txBody>
          <a:bodyPr wrap="none" rtlCol="0">
            <a:spAutoFit/>
          </a:bodyPr>
          <a:lstStyle/>
          <a:p>
            <a:r>
              <a:rPr lang="en-US" dirty="0" smtClean="0"/>
              <a:t>action</a:t>
            </a:r>
            <a:endParaRPr lang="en-US" dirty="0"/>
          </a:p>
        </p:txBody>
      </p:sp>
      <p:sp>
        <p:nvSpPr>
          <p:cNvPr id="25" name="Rectangle 24"/>
          <p:cNvSpPr/>
          <p:nvPr/>
        </p:nvSpPr>
        <p:spPr>
          <a:xfrm>
            <a:off x="764179" y="3739922"/>
            <a:ext cx="2312125" cy="6995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smtClean="0"/>
              <a:t>Leraning</a:t>
            </a:r>
            <a:r>
              <a:rPr lang="en-US" dirty="0" smtClean="0"/>
              <a:t> Element</a:t>
            </a:r>
            <a:endParaRPr lang="en-US" dirty="0"/>
          </a:p>
        </p:txBody>
      </p:sp>
      <p:cxnSp>
        <p:nvCxnSpPr>
          <p:cNvPr id="26" name="Straight Arrow Connector 25"/>
          <p:cNvCxnSpPr/>
          <p:nvPr/>
        </p:nvCxnSpPr>
        <p:spPr>
          <a:xfrm flipV="1">
            <a:off x="2277291" y="4508472"/>
            <a:ext cx="2444931" cy="1054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2902758" y="5043657"/>
            <a:ext cx="1425402" cy="369332"/>
          </a:xfrm>
          <a:prstGeom prst="rect">
            <a:avLst/>
          </a:prstGeom>
          <a:noFill/>
        </p:spPr>
        <p:txBody>
          <a:bodyPr wrap="square" rtlCol="0">
            <a:spAutoFit/>
          </a:bodyPr>
          <a:lstStyle/>
          <a:p>
            <a:r>
              <a:rPr lang="en-US" dirty="0" smtClean="0"/>
              <a:t>experiments</a:t>
            </a:r>
            <a:endParaRPr lang="en-US" dirty="0"/>
          </a:p>
        </p:txBody>
      </p:sp>
      <p:cxnSp>
        <p:nvCxnSpPr>
          <p:cNvPr id="29" name="Straight Arrow Connector 28"/>
          <p:cNvCxnSpPr>
            <a:endCxn id="6" idx="1"/>
          </p:cNvCxnSpPr>
          <p:nvPr/>
        </p:nvCxnSpPr>
        <p:spPr>
          <a:xfrm>
            <a:off x="3076304" y="3931920"/>
            <a:ext cx="1580605" cy="17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H="1" flipV="1">
            <a:off x="3076305" y="4217227"/>
            <a:ext cx="1577341" cy="4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3396345" y="3549559"/>
            <a:ext cx="1170047" cy="369332"/>
          </a:xfrm>
          <a:prstGeom prst="rect">
            <a:avLst/>
          </a:prstGeom>
          <a:noFill/>
        </p:spPr>
        <p:txBody>
          <a:bodyPr wrap="square" rtlCol="0">
            <a:spAutoFit/>
          </a:bodyPr>
          <a:lstStyle/>
          <a:p>
            <a:r>
              <a:rPr lang="en-US" dirty="0" smtClean="0"/>
              <a:t>changes</a:t>
            </a:r>
            <a:endParaRPr lang="en-US" dirty="0"/>
          </a:p>
        </p:txBody>
      </p:sp>
      <p:cxnSp>
        <p:nvCxnSpPr>
          <p:cNvPr id="38" name="Straight Arrow Connector 37"/>
          <p:cNvCxnSpPr>
            <a:stCxn id="9" idx="1"/>
          </p:cNvCxnSpPr>
          <p:nvPr/>
        </p:nvCxnSpPr>
        <p:spPr>
          <a:xfrm flipH="1" flipV="1">
            <a:off x="2644770" y="1941924"/>
            <a:ext cx="3000560" cy="197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8" idx="2"/>
            <a:endCxn id="25" idx="0"/>
          </p:cNvCxnSpPr>
          <p:nvPr/>
        </p:nvCxnSpPr>
        <p:spPr>
          <a:xfrm>
            <a:off x="1920241" y="2159556"/>
            <a:ext cx="1" cy="1580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539305" y="2752456"/>
            <a:ext cx="1240972" cy="369332"/>
          </a:xfrm>
          <a:prstGeom prst="rect">
            <a:avLst/>
          </a:prstGeom>
          <a:noFill/>
        </p:spPr>
        <p:txBody>
          <a:bodyPr wrap="square" rtlCol="0">
            <a:spAutoFit/>
          </a:bodyPr>
          <a:lstStyle/>
          <a:p>
            <a:r>
              <a:rPr lang="en-US" dirty="0" smtClean="0"/>
              <a:t>feedback</a:t>
            </a:r>
            <a:endParaRPr lang="en-US" dirty="0"/>
          </a:p>
        </p:txBody>
      </p:sp>
      <p:sp>
        <p:nvSpPr>
          <p:cNvPr id="47" name="TextBox 46"/>
          <p:cNvSpPr txBox="1"/>
          <p:nvPr/>
        </p:nvSpPr>
        <p:spPr>
          <a:xfrm>
            <a:off x="918755" y="940526"/>
            <a:ext cx="2477590" cy="369332"/>
          </a:xfrm>
          <a:prstGeom prst="rect">
            <a:avLst/>
          </a:prstGeom>
          <a:noFill/>
        </p:spPr>
        <p:txBody>
          <a:bodyPr wrap="square" rtlCol="0">
            <a:spAutoFit/>
          </a:bodyPr>
          <a:lstStyle/>
          <a:p>
            <a:r>
              <a:rPr lang="en-US" dirty="0" smtClean="0"/>
              <a:t>Performance standard </a:t>
            </a:r>
            <a:endParaRPr lang="en-US" dirty="0"/>
          </a:p>
        </p:txBody>
      </p:sp>
      <p:sp>
        <p:nvSpPr>
          <p:cNvPr id="48" name="Rounded Rectangle 47"/>
          <p:cNvSpPr/>
          <p:nvPr/>
        </p:nvSpPr>
        <p:spPr>
          <a:xfrm>
            <a:off x="1273629" y="267950"/>
            <a:ext cx="1293223" cy="470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AGENT</a:t>
            </a:r>
            <a:endParaRPr lang="en-US" dirty="0"/>
          </a:p>
        </p:txBody>
      </p:sp>
      <p:cxnSp>
        <p:nvCxnSpPr>
          <p:cNvPr id="50" name="Straight Connector 49"/>
          <p:cNvCxnSpPr/>
          <p:nvPr/>
        </p:nvCxnSpPr>
        <p:spPr>
          <a:xfrm>
            <a:off x="260169" y="156754"/>
            <a:ext cx="14151" cy="6370454"/>
          </a:xfrm>
          <a:prstGeom prst="line">
            <a:avLst/>
          </a:prstGeom>
        </p:spPr>
        <p:style>
          <a:lnRef idx="1">
            <a:schemeClr val="dk1"/>
          </a:lnRef>
          <a:fillRef idx="0">
            <a:schemeClr val="dk1"/>
          </a:fillRef>
          <a:effectRef idx="0">
            <a:schemeClr val="dk1"/>
          </a:effectRef>
          <a:fontRef idx="minor">
            <a:schemeClr val="tx1"/>
          </a:fontRef>
        </p:style>
      </p:cxnSp>
      <p:cxnSp>
        <p:nvCxnSpPr>
          <p:cNvPr id="53" name="Straight Connector 52"/>
          <p:cNvCxnSpPr/>
          <p:nvPr/>
        </p:nvCxnSpPr>
        <p:spPr>
          <a:xfrm>
            <a:off x="252467" y="117566"/>
            <a:ext cx="6884136" cy="13063"/>
          </a:xfrm>
          <a:prstGeom prst="line">
            <a:avLst/>
          </a:prstGeom>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a:off x="7132320" y="153717"/>
            <a:ext cx="4283" cy="6373491"/>
          </a:xfrm>
          <a:prstGeom prst="line">
            <a:avLst/>
          </a:prstGeom>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a:off x="236222" y="6527208"/>
            <a:ext cx="6984271"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xmlns="" val="12768454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Environment types</a:t>
            </a:r>
            <a:endParaRPr lang="en-US" dirty="0"/>
          </a:p>
        </p:txBody>
      </p:sp>
      <p:sp>
        <p:nvSpPr>
          <p:cNvPr id="3" name="Content Placeholder 2"/>
          <p:cNvSpPr>
            <a:spLocks noGrp="1"/>
          </p:cNvSpPr>
          <p:nvPr>
            <p:ph idx="1"/>
          </p:nvPr>
        </p:nvSpPr>
        <p:spPr/>
        <p:txBody>
          <a:bodyPr>
            <a:normAutofit lnSpcReduction="10000"/>
          </a:bodyPr>
          <a:lstStyle/>
          <a:p>
            <a:r>
              <a:rPr lang="en-US" dirty="0" smtClean="0"/>
              <a:t>Deterministic vs Stochastic: </a:t>
            </a:r>
          </a:p>
          <a:p>
            <a:r>
              <a:rPr lang="en-US" dirty="0" smtClean="0"/>
              <a:t>When an uniqueness in the agent’s current state completely determines the next state of the agent, the environment is said to be deterministic.</a:t>
            </a:r>
          </a:p>
          <a:p>
            <a:r>
              <a:rPr lang="en-US" dirty="0" smtClean="0"/>
              <a:t>Stochastic environment is random in nature which is not unique and cannot be completely determined by the agent.</a:t>
            </a:r>
          </a:p>
          <a:p>
            <a:r>
              <a:rPr lang="en-US" dirty="0" err="1" smtClean="0"/>
              <a:t>Eg</a:t>
            </a:r>
            <a:r>
              <a:rPr lang="en-US" dirty="0" smtClean="0"/>
              <a:t>:</a:t>
            </a:r>
          </a:p>
          <a:p>
            <a:r>
              <a:rPr lang="en-US" dirty="0" smtClean="0"/>
              <a:t>Chess: there would be only few possible moves for a chess at the current state and these moves can be determined.</a:t>
            </a:r>
          </a:p>
          <a:p>
            <a:r>
              <a:rPr lang="en-US" dirty="0" smtClean="0"/>
              <a:t>Self-driving car: the actions are not unique, it varies time to time.</a:t>
            </a:r>
            <a:endParaRPr lang="en-US" dirty="0"/>
          </a:p>
        </p:txBody>
      </p:sp>
    </p:spTree>
    <p:extLst>
      <p:ext uri="{BB962C8B-B14F-4D97-AF65-F5344CB8AC3E}">
        <p14:creationId xmlns:p14="http://schemas.microsoft.com/office/powerpoint/2010/main" xmlns="" val="1881058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Dynamic vs static: </a:t>
            </a:r>
          </a:p>
          <a:p>
            <a:r>
              <a:rPr lang="en-US" dirty="0" smtClean="0"/>
              <a:t>An environment that keeps constantly changing itself when the agent is up with some action is said to be dynamic.</a:t>
            </a:r>
          </a:p>
          <a:p>
            <a:r>
              <a:rPr lang="en-US" dirty="0" smtClean="0"/>
              <a:t>An idle environment with no change in its state is called a static environment.</a:t>
            </a:r>
          </a:p>
          <a:p>
            <a:r>
              <a:rPr lang="en-US" dirty="0" err="1" smtClean="0"/>
              <a:t>Eg</a:t>
            </a:r>
            <a:r>
              <a:rPr lang="en-US" dirty="0" smtClean="0"/>
              <a:t>: a roller </a:t>
            </a:r>
            <a:r>
              <a:rPr lang="en-US" dirty="0" err="1" smtClean="0"/>
              <a:t>coster</a:t>
            </a:r>
            <a:r>
              <a:rPr lang="en-US" dirty="0" smtClean="0"/>
              <a:t> is dynamic as it is set to motion and the environment keeps changing.</a:t>
            </a:r>
          </a:p>
          <a:p>
            <a:r>
              <a:rPr lang="en-US" dirty="0" smtClean="0"/>
              <a:t>An empty house is static as there is no change in the surroundings when an agent enters.</a:t>
            </a:r>
          </a:p>
          <a:p>
            <a:endParaRPr lang="en-US" dirty="0" smtClean="0"/>
          </a:p>
        </p:txBody>
      </p:sp>
    </p:spTree>
    <p:extLst>
      <p:ext uri="{BB962C8B-B14F-4D97-AF65-F5344CB8AC3E}">
        <p14:creationId xmlns:p14="http://schemas.microsoft.com/office/powerpoint/2010/main" xmlns="" val="11831207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Observable vs semi-observable:</a:t>
            </a:r>
          </a:p>
          <a:p>
            <a:r>
              <a:rPr lang="en-US" dirty="0" smtClean="0"/>
              <a:t>When an agent sensor is capable to sense or access the complete state of an agent at each point of time, it is said to be observable environment else it is semi-observable.</a:t>
            </a:r>
          </a:p>
          <a:p>
            <a:r>
              <a:rPr lang="en-US" dirty="0" err="1" smtClean="0"/>
              <a:t>Eg</a:t>
            </a:r>
            <a:r>
              <a:rPr lang="en-US" dirty="0" smtClean="0"/>
              <a:t>: </a:t>
            </a:r>
          </a:p>
          <a:p>
            <a:r>
              <a:rPr lang="en-US" dirty="0" smtClean="0"/>
              <a:t>Chess: the board is fully observable, so the opponent moves.</a:t>
            </a:r>
          </a:p>
          <a:p>
            <a:r>
              <a:rPr lang="en-US" dirty="0" smtClean="0"/>
              <a:t>Driving: the environment is semi-observable because what’s around the corner is not known.</a:t>
            </a:r>
          </a:p>
          <a:p>
            <a:endParaRPr lang="en-US" dirty="0"/>
          </a:p>
        </p:txBody>
      </p:sp>
    </p:spTree>
    <p:extLst>
      <p:ext uri="{BB962C8B-B14F-4D97-AF65-F5344CB8AC3E}">
        <p14:creationId xmlns:p14="http://schemas.microsoft.com/office/powerpoint/2010/main" xmlns="" val="2408522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Single agent vs multi-agent: </a:t>
            </a:r>
          </a:p>
          <a:p>
            <a:r>
              <a:rPr lang="en-US" dirty="0" smtClean="0"/>
              <a:t>An environment consisting of only one agent is said to be a single agent environment.</a:t>
            </a:r>
          </a:p>
          <a:p>
            <a:r>
              <a:rPr lang="en-US" dirty="0" smtClean="0"/>
              <a:t>An environment involving more then one agent is a multi-agent environment.</a:t>
            </a:r>
          </a:p>
          <a:p>
            <a:r>
              <a:rPr lang="en-US" dirty="0" err="1" smtClean="0"/>
              <a:t>Eg</a:t>
            </a:r>
            <a:r>
              <a:rPr lang="en-US" dirty="0" smtClean="0"/>
              <a:t>:</a:t>
            </a:r>
          </a:p>
          <a:p>
            <a:r>
              <a:rPr lang="en-US" dirty="0" smtClean="0"/>
              <a:t>A person left alone in a maze is an example of single agent system.</a:t>
            </a:r>
          </a:p>
          <a:p>
            <a:r>
              <a:rPr lang="en-US" dirty="0" smtClean="0"/>
              <a:t>The game of football is </a:t>
            </a:r>
            <a:r>
              <a:rPr lang="en-US" dirty="0" err="1" smtClean="0"/>
              <a:t>multiagent</a:t>
            </a:r>
            <a:r>
              <a:rPr lang="en-US" dirty="0" smtClean="0"/>
              <a:t> as it involves 10 players in each team.</a:t>
            </a:r>
          </a:p>
        </p:txBody>
      </p:sp>
    </p:spTree>
    <p:extLst>
      <p:ext uri="{BB962C8B-B14F-4D97-AF65-F5344CB8AC3E}">
        <p14:creationId xmlns:p14="http://schemas.microsoft.com/office/powerpoint/2010/main" xmlns="" val="21884319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Discrete vs Continuous:</a:t>
            </a:r>
          </a:p>
          <a:p>
            <a:r>
              <a:rPr lang="en-US" dirty="0" smtClean="0"/>
              <a:t>The environment in which the actions performed can be numbered is said to be discrete environment.</a:t>
            </a:r>
          </a:p>
          <a:p>
            <a:r>
              <a:rPr lang="en-US" dirty="0" smtClean="0"/>
              <a:t>The environment in which the actions performed cannot be numbered is said to be continuous environment.</a:t>
            </a:r>
          </a:p>
          <a:p>
            <a:r>
              <a:rPr lang="en-US" dirty="0" err="1" smtClean="0"/>
              <a:t>Eg</a:t>
            </a:r>
            <a:r>
              <a:rPr lang="en-US" dirty="0" smtClean="0"/>
              <a:t>:</a:t>
            </a:r>
          </a:p>
          <a:p>
            <a:r>
              <a:rPr lang="en-US" dirty="0" smtClean="0"/>
              <a:t>The game of chess is discrete as it has only finite number of moves. The number of moves might vary with every game, but still its finite.</a:t>
            </a:r>
          </a:p>
          <a:p>
            <a:r>
              <a:rPr lang="en-US" dirty="0" smtClean="0"/>
              <a:t>Self driving car are continuous as their actions like driving, parking </a:t>
            </a:r>
            <a:r>
              <a:rPr lang="en-US" dirty="0" err="1" smtClean="0"/>
              <a:t>etc</a:t>
            </a:r>
            <a:r>
              <a:rPr lang="en-US" dirty="0" smtClean="0"/>
              <a:t> cannot </a:t>
            </a:r>
            <a:r>
              <a:rPr lang="en-US" smtClean="0"/>
              <a:t>be numbered.</a:t>
            </a:r>
          </a:p>
        </p:txBody>
      </p:sp>
    </p:spTree>
    <p:extLst>
      <p:ext uri="{BB962C8B-B14F-4D97-AF65-F5344CB8AC3E}">
        <p14:creationId xmlns:p14="http://schemas.microsoft.com/office/powerpoint/2010/main" xmlns="" val="11667842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TotalTime>
  <Words>1035</Words>
  <Application>Microsoft Office PowerPoint</Application>
  <PresentationFormat>Custom</PresentationFormat>
  <Paragraphs>110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Slide 1</vt:lpstr>
      <vt:lpstr>Slide 2</vt:lpstr>
      <vt:lpstr>Simple reflex agent</vt:lpstr>
      <vt:lpstr>Slide 4</vt:lpstr>
      <vt:lpstr>Model-based Agents</vt:lpstr>
      <vt:lpstr>Slide 6</vt:lpstr>
      <vt:lpstr>Goal-Based Agents</vt:lpstr>
      <vt:lpstr>Slide 8</vt:lpstr>
      <vt:lpstr>Utility based agents</vt:lpstr>
      <vt:lpstr>Learning agents</vt:lpstr>
      <vt:lpstr>Slide 11</vt:lpstr>
      <vt:lpstr>Environment types</vt:lpstr>
      <vt:lpstr>Slide 13</vt:lpstr>
      <vt:lpstr>Slide 14</vt:lpstr>
      <vt:lpstr>Slide 15</vt:lpstr>
      <vt:lpstr>Slide 16</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Lt Sumit Bidari</dc:creator>
  <cp:lastModifiedBy>Acer</cp:lastModifiedBy>
  <cp:revision>27</cp:revision>
  <dcterms:created xsi:type="dcterms:W3CDTF">2025-06-04T10:46:59Z</dcterms:created>
  <dcterms:modified xsi:type="dcterms:W3CDTF">2025-08-27T03:26:45Z</dcterms:modified>
</cp:coreProperties>
</file>