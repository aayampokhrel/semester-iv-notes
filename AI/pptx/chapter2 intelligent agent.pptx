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72" r:id="rId16"/>
    <p:sldId id="273" r:id="rId17"/>
    <p:sldId id="274" r:id="rId18"/>
    <p:sldId id="283" r:id="rId19"/>
    <p:sldId id="284" r:id="rId20"/>
    <p:sldId id="276" r:id="rId21"/>
    <p:sldId id="277" r:id="rId22"/>
    <p:sldId id="278" r:id="rId23"/>
    <p:sldId id="279" r:id="rId24"/>
    <p:sldId id="280" r:id="rId25"/>
    <p:sldId id="281" r:id="rId26"/>
    <p:sldId id="282"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Intelligent Agent</a:t>
            </a:r>
            <a:endParaRPr lang="en-US" dirty="0"/>
          </a:p>
        </p:txBody>
      </p:sp>
      <p:sp>
        <p:nvSpPr>
          <p:cNvPr id="3" name="Subtitle 2"/>
          <p:cNvSpPr>
            <a:spLocks noGrp="1"/>
          </p:cNvSpPr>
          <p:nvPr>
            <p:ph type="subTitle" idx="1"/>
          </p:nvPr>
        </p:nvSpPr>
        <p:spPr/>
        <p:txBody>
          <a:bodyPr/>
          <a:lstStyle/>
          <a:p>
            <a:r>
              <a:rPr lang="en-US" dirty="0" smtClean="0"/>
              <a:t>Chapter 2</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An Intelligent Agent perceives it environment via sensors and acts rationally upon that environment with its effectors (actuators). </a:t>
            </a:r>
          </a:p>
          <a:p>
            <a:r>
              <a:rPr lang="en-US" dirty="0" smtClean="0"/>
              <a:t>Hence, an agent gets percepts one at a time, and maps this percept sequence to actions. </a:t>
            </a:r>
          </a:p>
          <a:p>
            <a:r>
              <a:rPr lang="en-US" dirty="0" smtClean="0"/>
              <a:t>example:</a:t>
            </a:r>
          </a:p>
          <a:p>
            <a:pPr lvl="1"/>
            <a:r>
              <a:rPr lang="en-US" dirty="0" smtClean="0"/>
              <a:t>Based on t₁: "Stop, red light."</a:t>
            </a:r>
          </a:p>
          <a:p>
            <a:pPr lvl="1"/>
            <a:r>
              <a:rPr lang="en-US" dirty="0" smtClean="0"/>
              <a:t>Based on t₂: "Light turned green, but there’s a car ahead. Wait."</a:t>
            </a:r>
          </a:p>
          <a:p>
            <a:pPr lvl="1"/>
            <a:r>
              <a:rPr lang="en-US" dirty="0" smtClean="0"/>
              <a:t>Based on t₃: "Car ahead is moving, path is clear. Accelerate slowly."</a:t>
            </a:r>
          </a:p>
          <a:p>
            <a:r>
              <a:rPr lang="en-US" b="1" dirty="0" smtClean="0"/>
              <a:t>Updated Percept Sequence =</a:t>
            </a:r>
            <a:r>
              <a:rPr lang="en-US" dirty="0" smtClean="0"/>
              <a:t/>
            </a:r>
            <a:br>
              <a:rPr lang="en-US" dirty="0" smtClean="0"/>
            </a:br>
            <a:r>
              <a:rPr lang="en-US" dirty="0" smtClean="0"/>
              <a:t>t₁ → t₂ → t₃</a:t>
            </a:r>
          </a:p>
          <a:p>
            <a:endParaRPr lang="en-US"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of Intelligent Agent</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828800" y="2362200"/>
            <a:ext cx="4724400" cy="24384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Eg</a:t>
            </a:r>
            <a:r>
              <a:rPr lang="en-US" dirty="0" smtClean="0"/>
              <a:t> of agent: </a:t>
            </a:r>
          </a:p>
          <a:p>
            <a:pPr lvl="1"/>
            <a:r>
              <a:rPr lang="en-US" dirty="0" smtClean="0"/>
              <a:t>Software agent</a:t>
            </a:r>
          </a:p>
          <a:p>
            <a:pPr lvl="1"/>
            <a:r>
              <a:rPr lang="en-US" dirty="0" smtClean="0"/>
              <a:t>Human agent</a:t>
            </a:r>
          </a:p>
          <a:p>
            <a:pPr lvl="1"/>
            <a:r>
              <a:rPr lang="en-US" dirty="0" smtClean="0"/>
              <a:t>Robotics agent</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intelligent agents</a:t>
            </a:r>
            <a:endParaRPr lang="en-US" dirty="0"/>
          </a:p>
        </p:txBody>
      </p:sp>
      <p:sp>
        <p:nvSpPr>
          <p:cNvPr id="3" name="Content Placeholder 2"/>
          <p:cNvSpPr>
            <a:spLocks noGrp="1"/>
          </p:cNvSpPr>
          <p:nvPr>
            <p:ph idx="1"/>
          </p:nvPr>
        </p:nvSpPr>
        <p:spPr/>
        <p:txBody>
          <a:bodyPr/>
          <a:lstStyle/>
          <a:p>
            <a:r>
              <a:rPr lang="en-US" dirty="0" smtClean="0"/>
              <a:t>Internal characteristics </a:t>
            </a:r>
          </a:p>
          <a:p>
            <a:r>
              <a:rPr lang="en-US" dirty="0" smtClean="0"/>
              <a:t>External characteristics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Internal characteristics </a:t>
            </a:r>
            <a:br>
              <a:rPr lang="en-US" dirty="0" smtClean="0"/>
            </a:br>
            <a:r>
              <a:rPr lang="en-US" dirty="0" smtClean="0"/>
              <a:t>(LARG)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Learning: it has the ability to learn from previous experience and successively adopt its behavior to the  environment.</a:t>
            </a:r>
          </a:p>
          <a:p>
            <a:r>
              <a:rPr lang="en-US" dirty="0" smtClean="0"/>
              <a:t>Reactivity: An agent must be capable of reacting appropriately to information from its agent.</a:t>
            </a:r>
          </a:p>
          <a:p>
            <a:r>
              <a:rPr lang="en-US" dirty="0" smtClean="0"/>
              <a:t>Autonomy: an agent must have both control over its actions and internal states.</a:t>
            </a:r>
          </a:p>
          <a:p>
            <a:r>
              <a:rPr lang="en-US" dirty="0" smtClean="0"/>
              <a:t>Goal oriented: an agent has well- defined goals and gradually influence it environment to achieve its goals.</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External characteristics</a:t>
            </a:r>
            <a:br>
              <a:rPr lang="en-US" dirty="0" smtClean="0"/>
            </a:br>
            <a:r>
              <a:rPr lang="en-US" dirty="0" smtClean="0"/>
              <a:t>(CCMC)</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Communication: an agent often requires an interaction with its environment to fulfill its tasks, such as human and other agents.</a:t>
            </a:r>
          </a:p>
          <a:p>
            <a:r>
              <a:rPr lang="en-US" dirty="0" smtClean="0"/>
              <a:t>Cooperation: cooperation of several agents provides better and faster solutions for complex task.	</a:t>
            </a:r>
          </a:p>
          <a:p>
            <a:r>
              <a:rPr lang="en-US" dirty="0" smtClean="0"/>
              <a:t>Mobility : An agent must access data and transfer messages from other agents and send code to different devices.</a:t>
            </a:r>
          </a:p>
          <a:p>
            <a:r>
              <a:rPr lang="en-US" dirty="0" smtClean="0"/>
              <a:t>Characters: like human, an agent may demonstrate an external behavior with many human characteristics as possible. </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Rational agent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For each possible percept sequence, a rational agent is that which is expected to maximize its performance </a:t>
            </a:r>
            <a:r>
              <a:rPr lang="en-US" dirty="0" err="1" smtClean="0"/>
              <a:t>maeasure</a:t>
            </a:r>
            <a:r>
              <a:rPr lang="en-US" dirty="0" smtClean="0"/>
              <a:t>, given the evidence provided by the percept sequence and whatever built in knowledge the agent has.</a:t>
            </a:r>
          </a:p>
          <a:p>
            <a:r>
              <a:rPr lang="en-US" dirty="0" smtClean="0"/>
              <a:t>A rational agent is one that does the right thing. </a:t>
            </a:r>
          </a:p>
          <a:p>
            <a:r>
              <a:rPr lang="en-US" dirty="0" smtClean="0"/>
              <a:t>What is the right thing? – Right action is the one that will cause the agent to be most successful.</a:t>
            </a:r>
          </a:p>
          <a:p>
            <a:r>
              <a:rPr lang="en-US" dirty="0" smtClean="0"/>
              <a:t> Therefore we need some way to measure success of an agent. </a:t>
            </a:r>
          </a:p>
          <a:p>
            <a:r>
              <a:rPr lang="en-US" dirty="0" smtClean="0"/>
              <a:t>Performance measures are the criterion for success of an agent behavior. </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At any given time rational agents depends on the following things:</a:t>
            </a:r>
          </a:p>
          <a:p>
            <a:pPr lvl="1"/>
            <a:r>
              <a:rPr lang="en-US" dirty="0" smtClean="0"/>
              <a:t>The performance measure that defines the criteria of success.</a:t>
            </a:r>
          </a:p>
          <a:p>
            <a:pPr lvl="1"/>
            <a:r>
              <a:rPr lang="en-US" dirty="0" smtClean="0"/>
              <a:t>The agents prior knowledge of the environment.</a:t>
            </a:r>
          </a:p>
          <a:p>
            <a:pPr lvl="1"/>
            <a:r>
              <a:rPr lang="en-US" dirty="0" smtClean="0"/>
              <a:t>The actions that the agent can perform.</a:t>
            </a:r>
          </a:p>
          <a:p>
            <a:pPr lvl="1"/>
            <a:r>
              <a:rPr lang="en-US" dirty="0" smtClean="0"/>
              <a:t>The agent’s percept sequence to date.</a:t>
            </a:r>
          </a:p>
          <a:p>
            <a:pPr lvl="1"/>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Configuration of agents</a:t>
            </a:r>
            <a:endParaRPr lang="en-US" dirty="0"/>
          </a:p>
        </p:txBody>
      </p:sp>
      <p:sp>
        <p:nvSpPr>
          <p:cNvPr id="3" name="Content Placeholder 2"/>
          <p:cNvSpPr>
            <a:spLocks noGrp="1"/>
          </p:cNvSpPr>
          <p:nvPr>
            <p:ph idx="1"/>
          </p:nvPr>
        </p:nvSpPr>
        <p:spPr/>
        <p:txBody>
          <a:bodyPr/>
          <a:lstStyle/>
          <a:p>
            <a:r>
              <a:rPr lang="en-US" dirty="0" smtClean="0"/>
              <a:t>To design a rational agent we must specify its task environment. Task environment means: PEAS description of the environment</a:t>
            </a:r>
          </a:p>
          <a:p>
            <a:pPr lvl="1"/>
            <a:r>
              <a:rPr lang="en-US" dirty="0" smtClean="0"/>
              <a:t>P: Performance</a:t>
            </a:r>
          </a:p>
          <a:p>
            <a:pPr lvl="1"/>
            <a:r>
              <a:rPr lang="en-US" dirty="0" smtClean="0"/>
              <a:t>E: Environment</a:t>
            </a:r>
          </a:p>
          <a:p>
            <a:pPr lvl="1"/>
            <a:r>
              <a:rPr lang="en-US" dirty="0" smtClean="0"/>
              <a:t>A: Actuators</a:t>
            </a:r>
          </a:p>
          <a:p>
            <a:pPr lvl="1"/>
            <a:r>
              <a:rPr lang="en-US" dirty="0" smtClean="0"/>
              <a:t>S:  Sensor</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PEAS description of Agents</a:t>
            </a:r>
            <a:endParaRPr lang="en-US" dirty="0"/>
          </a:p>
        </p:txBody>
      </p:sp>
      <p:sp>
        <p:nvSpPr>
          <p:cNvPr id="3" name="Content Placeholder 2"/>
          <p:cNvSpPr>
            <a:spLocks noGrp="1"/>
          </p:cNvSpPr>
          <p:nvPr>
            <p:ph idx="1"/>
          </p:nvPr>
        </p:nvSpPr>
        <p:spPr/>
        <p:txBody>
          <a:bodyPr>
            <a:normAutofit lnSpcReduction="10000"/>
          </a:bodyPr>
          <a:lstStyle/>
          <a:p>
            <a:r>
              <a:rPr lang="en-US" dirty="0" smtClean="0"/>
              <a:t>For PEAS description of agents lets make an example of fully automated taxi. Now the agent type becomes taxi driver and PEAS description of task environment for an automated taxi is :</a:t>
            </a:r>
          </a:p>
          <a:p>
            <a:pPr lvl="1"/>
            <a:r>
              <a:rPr lang="en-US" dirty="0" smtClean="0"/>
              <a:t>Performance: safe, fast, legal</a:t>
            </a:r>
          </a:p>
          <a:p>
            <a:pPr lvl="1"/>
            <a:r>
              <a:rPr lang="en-US" dirty="0" smtClean="0"/>
              <a:t>Environment: roads, traffic , signals</a:t>
            </a:r>
          </a:p>
          <a:p>
            <a:pPr lvl="1"/>
            <a:r>
              <a:rPr lang="en-US" dirty="0" smtClean="0"/>
              <a:t>Actuators: steering, accelerator, </a:t>
            </a:r>
            <a:r>
              <a:rPr lang="en-US" dirty="0" err="1" smtClean="0"/>
              <a:t>brakes,horn</a:t>
            </a:r>
            <a:endParaRPr lang="en-US" dirty="0" smtClean="0"/>
          </a:p>
          <a:p>
            <a:pPr lvl="1"/>
            <a:r>
              <a:rPr lang="en-US" dirty="0" smtClean="0"/>
              <a:t>Sensors: cameras, </a:t>
            </a:r>
            <a:r>
              <a:rPr lang="en-US" dirty="0" err="1" smtClean="0"/>
              <a:t>spedometer</a:t>
            </a:r>
            <a:r>
              <a:rPr lang="en-US" smtClean="0"/>
              <a:t>, GPS.</a:t>
            </a:r>
            <a:endParaRPr 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reflex agent</a:t>
            </a:r>
          </a:p>
        </p:txBody>
      </p:sp>
      <p:sp>
        <p:nvSpPr>
          <p:cNvPr id="3" name="Content Placeholder 2"/>
          <p:cNvSpPr>
            <a:spLocks noGrp="1"/>
          </p:cNvSpPr>
          <p:nvPr>
            <p:ph idx="1"/>
          </p:nvPr>
        </p:nvSpPr>
        <p:spPr/>
        <p:txBody>
          <a:bodyPr>
            <a:normAutofit fontScale="70000" lnSpcReduction="20000"/>
          </a:bodyPr>
          <a:lstStyle/>
          <a:p>
            <a:r>
              <a:rPr lang="en-US" dirty="0" smtClean="0"/>
              <a:t>The simple reflex agent is the simples agent.</a:t>
            </a:r>
          </a:p>
          <a:p>
            <a:r>
              <a:rPr lang="en-US" dirty="0" smtClean="0"/>
              <a:t>These agents take decision on the basis of the current percepts and ignore the rest of the percept history.</a:t>
            </a:r>
          </a:p>
          <a:p>
            <a:r>
              <a:rPr lang="en-US" dirty="0" smtClean="0"/>
              <a:t>These agents only succeed in the fully observable environment means all information about environment must be known.</a:t>
            </a:r>
          </a:p>
          <a:p>
            <a:r>
              <a:rPr lang="en-US" dirty="0" smtClean="0"/>
              <a:t>The simple reflex agent works on condition-action rule, which means to maps the current state to action.</a:t>
            </a:r>
          </a:p>
          <a:p>
            <a:r>
              <a:rPr lang="en-US" dirty="0" err="1" smtClean="0"/>
              <a:t>i.e</a:t>
            </a:r>
            <a:r>
              <a:rPr lang="en-US" dirty="0" smtClean="0"/>
              <a:t> if the condition is true, then action is taken else not.</a:t>
            </a:r>
          </a:p>
          <a:p>
            <a:r>
              <a:rPr lang="en-US" dirty="0" smtClean="0"/>
              <a:t>Such as room cleaner agent, it works only if there is dirt in the room.</a:t>
            </a:r>
          </a:p>
          <a:p>
            <a:r>
              <a:rPr lang="en-US" dirty="0" smtClean="0"/>
              <a:t>The problem with simple reflex agent is that they have very limited intelligence and they are not adaptive to changes in environment.</a:t>
            </a:r>
          </a:p>
        </p:txBody>
      </p:sp>
    </p:spTree>
    <p:extLst>
      <p:ext uri="{BB962C8B-B14F-4D97-AF65-F5344CB8AC3E}">
        <p14:creationId xmlns:p14="http://schemas.microsoft.com/office/powerpoint/2010/main" xmlns="" val="12195820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460465" y="1881051"/>
            <a:ext cx="4065815" cy="4872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533400" y="4495800"/>
            <a:ext cx="1371600" cy="85344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Condition-action rules</a:t>
            </a:r>
            <a:endParaRPr lang="en-US" dirty="0"/>
          </a:p>
        </p:txBody>
      </p:sp>
      <p:sp>
        <p:nvSpPr>
          <p:cNvPr id="6" name="Rectangle 5"/>
          <p:cNvSpPr/>
          <p:nvPr/>
        </p:nvSpPr>
        <p:spPr>
          <a:xfrm>
            <a:off x="2429691" y="2939143"/>
            <a:ext cx="1734094"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2429691" y="4369526"/>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action I should do now</a:t>
            </a:r>
            <a:endParaRPr lang="en-US" dirty="0"/>
          </a:p>
        </p:txBody>
      </p:sp>
      <p:sp>
        <p:nvSpPr>
          <p:cNvPr id="8" name="Rounded Rectangle 7"/>
          <p:cNvSpPr/>
          <p:nvPr/>
        </p:nvSpPr>
        <p:spPr>
          <a:xfrm>
            <a:off x="783772" y="2004197"/>
            <a:ext cx="969917"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AGENT</a:t>
            </a:r>
            <a:endParaRPr lang="en-US" dirty="0"/>
          </a:p>
        </p:txBody>
      </p:sp>
      <p:sp>
        <p:nvSpPr>
          <p:cNvPr id="9" name="Rounded Rectangle 8"/>
          <p:cNvSpPr/>
          <p:nvPr/>
        </p:nvSpPr>
        <p:spPr>
          <a:xfrm>
            <a:off x="2975066" y="2067199"/>
            <a:ext cx="1215934"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2362200" y="5884817"/>
            <a:ext cx="158278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3460024" y="2537461"/>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371850" y="4036424"/>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296738" y="5456533"/>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flipV="1">
            <a:off x="1905000" y="4927963"/>
            <a:ext cx="524691" cy="25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4526280" y="2474459"/>
            <a:ext cx="1675312"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526280" y="4630784"/>
            <a:ext cx="2037806"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64086" y="2239328"/>
            <a:ext cx="1567543"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Tree>
    <p:extLst>
      <p:ext uri="{BB962C8B-B14F-4D97-AF65-F5344CB8AC3E}">
        <p14:creationId xmlns:p14="http://schemas.microsoft.com/office/powerpoint/2010/main" xmlns="" val="1552120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Model-based Agents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model-based agent can work in a partially observable environment, and track the situation. </a:t>
            </a:r>
          </a:p>
          <a:p>
            <a:r>
              <a:rPr lang="en-US" dirty="0" smtClean="0"/>
              <a:t>A model based agent has two important factor:</a:t>
            </a:r>
          </a:p>
          <a:p>
            <a:r>
              <a:rPr lang="en-US" dirty="0" smtClean="0"/>
              <a:t>Model: it is knowledge about “how things happen in the world”, and it is known by previous percepts history ,so it is called a model-based agent.</a:t>
            </a:r>
          </a:p>
          <a:p>
            <a:r>
              <a:rPr lang="en-US" dirty="0" smtClean="0"/>
              <a:t>Internal state: it is representation of the current state based on percept history.</a:t>
            </a:r>
          </a:p>
          <a:p>
            <a:r>
              <a:rPr lang="en-US" dirty="0" smtClean="0"/>
              <a:t>These agents have the model “which is knowledge of the world” and based on the model they perform actions.</a:t>
            </a:r>
          </a:p>
          <a:p>
            <a:r>
              <a:rPr lang="en-US" dirty="0" smtClean="0"/>
              <a:t>Updating the agent state requires information about:</a:t>
            </a:r>
          </a:p>
          <a:p>
            <a:pPr lvl="1"/>
            <a:r>
              <a:rPr lang="en-US" dirty="0" smtClean="0"/>
              <a:t>How the world gradually evolves means history.</a:t>
            </a:r>
          </a:p>
          <a:p>
            <a:pPr lvl="1"/>
            <a:r>
              <a:rPr lang="en-US" dirty="0" smtClean="0"/>
              <a:t>How the agents action affects the world.</a:t>
            </a:r>
          </a:p>
        </p:txBody>
      </p:sp>
    </p:spTree>
    <p:extLst>
      <p:ext uri="{BB962C8B-B14F-4D97-AF65-F5344CB8AC3E}">
        <p14:creationId xmlns:p14="http://schemas.microsoft.com/office/powerpoint/2010/main" xmlns="" val="6253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1" y="1881051"/>
            <a:ext cx="4526280" cy="4872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457200" y="4800600"/>
            <a:ext cx="1399902" cy="1219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Condition-action rules</a:t>
            </a:r>
            <a:endParaRPr lang="en-US" dirty="0"/>
          </a:p>
        </p:txBody>
      </p:sp>
      <p:sp>
        <p:nvSpPr>
          <p:cNvPr id="6" name="Rectangle 5"/>
          <p:cNvSpPr/>
          <p:nvPr/>
        </p:nvSpPr>
        <p:spPr>
          <a:xfrm>
            <a:off x="2429691" y="2939143"/>
            <a:ext cx="1734094"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2429691" y="4369526"/>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action I should do now</a:t>
            </a:r>
            <a:endParaRPr lang="en-US" dirty="0"/>
          </a:p>
        </p:txBody>
      </p:sp>
      <p:sp>
        <p:nvSpPr>
          <p:cNvPr id="8" name="Rounded Rectangle 7"/>
          <p:cNvSpPr/>
          <p:nvPr/>
        </p:nvSpPr>
        <p:spPr>
          <a:xfrm>
            <a:off x="609600" y="2057400"/>
            <a:ext cx="969917"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state</a:t>
            </a:r>
            <a:endParaRPr lang="en-US" dirty="0"/>
          </a:p>
        </p:txBody>
      </p:sp>
      <p:sp>
        <p:nvSpPr>
          <p:cNvPr id="9" name="Rounded Rectangle 8"/>
          <p:cNvSpPr/>
          <p:nvPr/>
        </p:nvSpPr>
        <p:spPr>
          <a:xfrm>
            <a:off x="2975066" y="2067199"/>
            <a:ext cx="1292134"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2821576" y="5884817"/>
            <a:ext cx="136942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3460024" y="2537461"/>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371850" y="4036424"/>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296738" y="5456533"/>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a:off x="1724298" y="4927963"/>
            <a:ext cx="7053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4648743" y="2696051"/>
            <a:ext cx="1675312"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526280" y="4630784"/>
            <a:ext cx="2037806"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64086" y="2239328"/>
            <a:ext cx="1567543"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5094515" y="2474459"/>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5111633" y="4128442"/>
            <a:ext cx="766557" cy="369332"/>
          </a:xfrm>
          <a:prstGeom prst="rect">
            <a:avLst/>
          </a:prstGeom>
          <a:noFill/>
        </p:spPr>
        <p:txBody>
          <a:bodyPr wrap="none" rtlCol="0">
            <a:spAutoFit/>
          </a:bodyPr>
          <a:lstStyle/>
          <a:p>
            <a:r>
              <a:rPr lang="en-US" dirty="0" smtClean="0"/>
              <a:t>action</a:t>
            </a:r>
            <a:endParaRPr lang="en-US" dirty="0"/>
          </a:p>
        </p:txBody>
      </p:sp>
      <p:sp>
        <p:nvSpPr>
          <p:cNvPr id="24" name="Rectangle 23"/>
          <p:cNvSpPr/>
          <p:nvPr/>
        </p:nvSpPr>
        <p:spPr>
          <a:xfrm>
            <a:off x="228600" y="28194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How the world evolves</a:t>
            </a:r>
            <a:endParaRPr lang="en-US" dirty="0"/>
          </a:p>
        </p:txBody>
      </p:sp>
      <p:sp>
        <p:nvSpPr>
          <p:cNvPr id="25" name="Rectangle 24"/>
          <p:cNvSpPr/>
          <p:nvPr/>
        </p:nvSpPr>
        <p:spPr>
          <a:xfrm>
            <a:off x="228600" y="36576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my actions do</a:t>
            </a:r>
            <a:endParaRPr lang="en-US" dirty="0"/>
          </a:p>
        </p:txBody>
      </p:sp>
      <p:cxnSp>
        <p:nvCxnSpPr>
          <p:cNvPr id="27" name="Straight Arrow Connector 26"/>
          <p:cNvCxnSpPr/>
          <p:nvPr/>
        </p:nvCxnSpPr>
        <p:spPr>
          <a:xfrm>
            <a:off x="1676400" y="2590800"/>
            <a:ext cx="914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endCxn id="8" idx="3"/>
          </p:cNvCxnSpPr>
          <p:nvPr/>
        </p:nvCxnSpPr>
        <p:spPr>
          <a:xfrm rot="10800000">
            <a:off x="1579518" y="2292532"/>
            <a:ext cx="1208313" cy="5810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6" idx="1"/>
          </p:cNvCxnSpPr>
          <p:nvPr/>
        </p:nvCxnSpPr>
        <p:spPr>
          <a:xfrm>
            <a:off x="1905000" y="3276600"/>
            <a:ext cx="524691" cy="2111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1981200" y="3733800"/>
            <a:ext cx="457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60340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Goal-Based Agents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Goal-based agents expand the capabilities of the model-based agent by having the “goal” information.</a:t>
            </a:r>
          </a:p>
          <a:p>
            <a:r>
              <a:rPr lang="en-US" dirty="0" smtClean="0"/>
              <a:t>The knowledge of current state environment is not always sufficient to decide for an agent what to do.</a:t>
            </a:r>
          </a:p>
          <a:p>
            <a:r>
              <a:rPr lang="en-US" dirty="0" smtClean="0"/>
              <a:t>The agent needs to know its goals which describes desirable situations.</a:t>
            </a:r>
          </a:p>
          <a:p>
            <a:r>
              <a:rPr lang="en-US" dirty="0" smtClean="0"/>
              <a:t>They choose an action, so that they can achieve the goal.</a:t>
            </a:r>
          </a:p>
          <a:p>
            <a:r>
              <a:rPr lang="en-US" dirty="0" smtClean="0"/>
              <a:t>These agents may have to consider a long sequence of possible actions before deciding whether the goal is achieved or not.</a:t>
            </a:r>
          </a:p>
          <a:p>
            <a:r>
              <a:rPr lang="en-US" dirty="0" smtClean="0"/>
              <a:t>Such considerations of different scenario are called searching and planning, which makes an agent proactive.</a:t>
            </a:r>
            <a:endParaRPr lang="en-US" dirty="0"/>
          </a:p>
        </p:txBody>
      </p:sp>
    </p:spTree>
    <p:extLst>
      <p:ext uri="{BB962C8B-B14F-4D97-AF65-F5344CB8AC3E}">
        <p14:creationId xmlns:p14="http://schemas.microsoft.com/office/powerpoint/2010/main" xmlns="" val="2619899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0465" y="381000"/>
            <a:ext cx="4065815" cy="63724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734786" y="4718719"/>
            <a:ext cx="1018902" cy="6498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goals</a:t>
            </a:r>
            <a:endParaRPr lang="en-US" dirty="0"/>
          </a:p>
        </p:txBody>
      </p:sp>
      <p:sp>
        <p:nvSpPr>
          <p:cNvPr id="6" name="Rectangle 5"/>
          <p:cNvSpPr/>
          <p:nvPr/>
        </p:nvSpPr>
        <p:spPr>
          <a:xfrm>
            <a:off x="2667000" y="1524000"/>
            <a:ext cx="1734094"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2429691" y="4369526"/>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action I should do now</a:t>
            </a:r>
            <a:endParaRPr lang="en-US" dirty="0"/>
          </a:p>
        </p:txBody>
      </p:sp>
      <p:sp>
        <p:nvSpPr>
          <p:cNvPr id="8" name="Rounded Rectangle 7"/>
          <p:cNvSpPr/>
          <p:nvPr/>
        </p:nvSpPr>
        <p:spPr>
          <a:xfrm>
            <a:off x="685800" y="685800"/>
            <a:ext cx="969917"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state</a:t>
            </a:r>
            <a:endParaRPr lang="en-US" dirty="0"/>
          </a:p>
        </p:txBody>
      </p:sp>
      <p:sp>
        <p:nvSpPr>
          <p:cNvPr id="9" name="Rounded Rectangle 8"/>
          <p:cNvSpPr/>
          <p:nvPr/>
        </p:nvSpPr>
        <p:spPr>
          <a:xfrm>
            <a:off x="2895600" y="609600"/>
            <a:ext cx="1447800"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2821577" y="5884817"/>
            <a:ext cx="1123406"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3505200" y="1143000"/>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371850" y="4036424"/>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296738" y="5456533"/>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a:off x="1724298" y="4927963"/>
            <a:ext cx="7053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4648743" y="2696051"/>
            <a:ext cx="1675312"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526280" y="4630784"/>
            <a:ext cx="2037806"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64086" y="2239328"/>
            <a:ext cx="1567543"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5094515" y="2474459"/>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5111633" y="4128442"/>
            <a:ext cx="766557" cy="369332"/>
          </a:xfrm>
          <a:prstGeom prst="rect">
            <a:avLst/>
          </a:prstGeom>
          <a:noFill/>
        </p:spPr>
        <p:txBody>
          <a:bodyPr wrap="none" rtlCol="0">
            <a:spAutoFit/>
          </a:bodyPr>
          <a:lstStyle/>
          <a:p>
            <a:r>
              <a:rPr lang="en-US" dirty="0" smtClean="0"/>
              <a:t>action</a:t>
            </a:r>
            <a:endParaRPr lang="en-US" dirty="0"/>
          </a:p>
        </p:txBody>
      </p:sp>
      <p:sp>
        <p:nvSpPr>
          <p:cNvPr id="24" name="Rectangle 23"/>
          <p:cNvSpPr/>
          <p:nvPr/>
        </p:nvSpPr>
        <p:spPr>
          <a:xfrm>
            <a:off x="609600" y="15240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How the world evolves</a:t>
            </a:r>
            <a:endParaRPr lang="en-US" dirty="0"/>
          </a:p>
        </p:txBody>
      </p:sp>
      <p:sp>
        <p:nvSpPr>
          <p:cNvPr id="25" name="Rectangle 24"/>
          <p:cNvSpPr/>
          <p:nvPr/>
        </p:nvSpPr>
        <p:spPr>
          <a:xfrm>
            <a:off x="609600" y="25908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my actions do</a:t>
            </a:r>
            <a:endParaRPr lang="en-US" dirty="0"/>
          </a:p>
        </p:txBody>
      </p:sp>
      <p:sp>
        <p:nvSpPr>
          <p:cNvPr id="22" name="Rectangle 21"/>
          <p:cNvSpPr/>
          <p:nvPr/>
        </p:nvSpPr>
        <p:spPr>
          <a:xfrm>
            <a:off x="2590800" y="2971800"/>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it will be if I will do action A </a:t>
            </a:r>
            <a:endParaRPr lang="en-US" dirty="0"/>
          </a:p>
        </p:txBody>
      </p:sp>
      <p:cxnSp>
        <p:nvCxnSpPr>
          <p:cNvPr id="26" name="Straight Arrow Connector 25"/>
          <p:cNvCxnSpPr/>
          <p:nvPr/>
        </p:nvCxnSpPr>
        <p:spPr>
          <a:xfrm flipH="1">
            <a:off x="3429000" y="2667000"/>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0800000">
            <a:off x="1676400" y="1219200"/>
            <a:ext cx="1066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65795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based agent</a:t>
            </a:r>
            <a:endParaRPr lang="en-US" dirty="0"/>
          </a:p>
        </p:txBody>
      </p:sp>
      <p:sp>
        <p:nvSpPr>
          <p:cNvPr id="3" name="Content Placeholder 2"/>
          <p:cNvSpPr>
            <a:spLocks noGrp="1"/>
          </p:cNvSpPr>
          <p:nvPr>
            <p:ph idx="1"/>
          </p:nvPr>
        </p:nvSpPr>
        <p:spPr/>
        <p:txBody>
          <a:bodyPr/>
          <a:lstStyle/>
          <a:p>
            <a:r>
              <a:rPr lang="en-US" dirty="0" smtClean="0"/>
              <a:t>Focus on utility not on goals.</a:t>
            </a:r>
          </a:p>
          <a:p>
            <a:r>
              <a:rPr lang="en-US" dirty="0" smtClean="0"/>
              <a:t>Utility function </a:t>
            </a:r>
          </a:p>
          <a:p>
            <a:r>
              <a:rPr lang="en-US" dirty="0" smtClean="0"/>
              <a:t>Deals with happy and unhappy state.</a:t>
            </a:r>
          </a:p>
          <a:p>
            <a:r>
              <a:rPr lang="en-US" dirty="0" smtClean="0"/>
              <a:t>Target is to achieve goal but it also decides how happy agent will be after reaching that goal.</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0465" y="381000"/>
            <a:ext cx="4065815" cy="63724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734786" y="4718719"/>
            <a:ext cx="1018902" cy="6498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utility</a:t>
            </a:r>
            <a:endParaRPr lang="en-US" dirty="0"/>
          </a:p>
        </p:txBody>
      </p:sp>
      <p:sp>
        <p:nvSpPr>
          <p:cNvPr id="6" name="Rectangle 5"/>
          <p:cNvSpPr/>
          <p:nvPr/>
        </p:nvSpPr>
        <p:spPr>
          <a:xfrm>
            <a:off x="2667000" y="1524000"/>
            <a:ext cx="1734094"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2429691" y="4369526"/>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How happy I will be in such state</a:t>
            </a:r>
            <a:endParaRPr lang="en-US" dirty="0"/>
          </a:p>
        </p:txBody>
      </p:sp>
      <p:sp>
        <p:nvSpPr>
          <p:cNvPr id="8" name="Rounded Rectangle 7"/>
          <p:cNvSpPr/>
          <p:nvPr/>
        </p:nvSpPr>
        <p:spPr>
          <a:xfrm>
            <a:off x="685800" y="685800"/>
            <a:ext cx="969917"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state</a:t>
            </a:r>
            <a:endParaRPr lang="en-US" dirty="0"/>
          </a:p>
        </p:txBody>
      </p:sp>
      <p:sp>
        <p:nvSpPr>
          <p:cNvPr id="9" name="Rounded Rectangle 8"/>
          <p:cNvSpPr/>
          <p:nvPr/>
        </p:nvSpPr>
        <p:spPr>
          <a:xfrm>
            <a:off x="2895600" y="609600"/>
            <a:ext cx="1447800"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2438400" y="5884817"/>
            <a:ext cx="150658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3505200" y="1143000"/>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371850" y="4036424"/>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296738" y="5456533"/>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a:off x="1724298" y="4927963"/>
            <a:ext cx="7053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4648743" y="2696051"/>
            <a:ext cx="1675312"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526280" y="4630784"/>
            <a:ext cx="2037806"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64086" y="2239328"/>
            <a:ext cx="1567543"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5094515" y="2474459"/>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5111633" y="4128442"/>
            <a:ext cx="766557" cy="369332"/>
          </a:xfrm>
          <a:prstGeom prst="rect">
            <a:avLst/>
          </a:prstGeom>
          <a:noFill/>
        </p:spPr>
        <p:txBody>
          <a:bodyPr wrap="none" rtlCol="0">
            <a:spAutoFit/>
          </a:bodyPr>
          <a:lstStyle/>
          <a:p>
            <a:r>
              <a:rPr lang="en-US" dirty="0" smtClean="0"/>
              <a:t>action</a:t>
            </a:r>
            <a:endParaRPr lang="en-US" dirty="0"/>
          </a:p>
        </p:txBody>
      </p:sp>
      <p:sp>
        <p:nvSpPr>
          <p:cNvPr id="24" name="Rectangle 23"/>
          <p:cNvSpPr/>
          <p:nvPr/>
        </p:nvSpPr>
        <p:spPr>
          <a:xfrm>
            <a:off x="609600" y="15240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How the world evolves</a:t>
            </a:r>
            <a:endParaRPr lang="en-US" dirty="0"/>
          </a:p>
        </p:txBody>
      </p:sp>
      <p:sp>
        <p:nvSpPr>
          <p:cNvPr id="25" name="Rectangle 24"/>
          <p:cNvSpPr/>
          <p:nvPr/>
        </p:nvSpPr>
        <p:spPr>
          <a:xfrm>
            <a:off x="609600" y="25908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my actions do</a:t>
            </a:r>
            <a:endParaRPr lang="en-US" dirty="0"/>
          </a:p>
        </p:txBody>
      </p:sp>
      <p:sp>
        <p:nvSpPr>
          <p:cNvPr id="22" name="Rectangle 21"/>
          <p:cNvSpPr/>
          <p:nvPr/>
        </p:nvSpPr>
        <p:spPr>
          <a:xfrm>
            <a:off x="2590800" y="2971800"/>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it will be if I will do action A </a:t>
            </a:r>
            <a:endParaRPr lang="en-US" dirty="0"/>
          </a:p>
        </p:txBody>
      </p:sp>
      <p:cxnSp>
        <p:nvCxnSpPr>
          <p:cNvPr id="26" name="Straight Arrow Connector 25"/>
          <p:cNvCxnSpPr/>
          <p:nvPr/>
        </p:nvCxnSpPr>
        <p:spPr>
          <a:xfrm flipH="1">
            <a:off x="3429000" y="2667000"/>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0800000">
            <a:off x="1676400" y="1219200"/>
            <a:ext cx="1066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65795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agents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A learning agents in AI is the type of agent which can learn from its past experiences, or it has learning capabilities.</a:t>
            </a:r>
          </a:p>
          <a:p>
            <a:r>
              <a:rPr lang="en-US" dirty="0" smtClean="0"/>
              <a:t>It starts to act with basic knowledge and then able to act and adopt automatically through learning.</a:t>
            </a:r>
          </a:p>
          <a:p>
            <a:r>
              <a:rPr lang="en-US" dirty="0" smtClean="0"/>
              <a:t>Hence, learning agents are able to learn, analyze performance and look for new ways to improve the performance.</a:t>
            </a:r>
          </a:p>
          <a:p>
            <a:r>
              <a:rPr lang="en-US" dirty="0" smtClean="0"/>
              <a:t>A learning agent has mainly four conceptual components, which are:</a:t>
            </a:r>
          </a:p>
          <a:p>
            <a:pPr lvl="1"/>
            <a:r>
              <a:rPr lang="en-US" dirty="0" smtClean="0"/>
              <a:t>Learning element: it is responsible for making improvements by learning from environment.</a:t>
            </a:r>
          </a:p>
          <a:p>
            <a:pPr lvl="1"/>
            <a:r>
              <a:rPr lang="en-US" dirty="0" smtClean="0"/>
              <a:t>Critic: it describes how well that agent is doing with respect to a fixed performance standard.</a:t>
            </a:r>
          </a:p>
          <a:p>
            <a:pPr lvl="1"/>
            <a:r>
              <a:rPr lang="en-US" dirty="0" smtClean="0"/>
              <a:t>Performance element: it is responsible for selecting external actions.</a:t>
            </a:r>
          </a:p>
          <a:p>
            <a:pPr lvl="1"/>
            <a:r>
              <a:rPr lang="en-US" dirty="0" smtClean="0"/>
              <a:t>Problem generator: it is responsible for suggesting actions that will lead to new and informative experiences.</a:t>
            </a:r>
            <a:endParaRPr lang="en-US" dirty="0"/>
          </a:p>
        </p:txBody>
      </p:sp>
    </p:spTree>
    <p:extLst>
      <p:ext uri="{BB962C8B-B14F-4D97-AF65-F5344CB8AC3E}">
        <p14:creationId xmlns:p14="http://schemas.microsoft.com/office/powerpoint/2010/main" xmlns="" val="15445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457200" y="5238207"/>
            <a:ext cx="1250768" cy="6498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Problem generator</a:t>
            </a:r>
            <a:endParaRPr lang="en-US" dirty="0"/>
          </a:p>
        </p:txBody>
      </p:sp>
      <p:sp>
        <p:nvSpPr>
          <p:cNvPr id="6" name="Rectangle 5"/>
          <p:cNvSpPr/>
          <p:nvPr/>
        </p:nvSpPr>
        <p:spPr>
          <a:xfrm>
            <a:off x="3492682" y="3400494"/>
            <a:ext cx="1734094"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Performance element</a:t>
            </a:r>
            <a:endParaRPr lang="en-US" dirty="0"/>
          </a:p>
        </p:txBody>
      </p:sp>
      <p:sp>
        <p:nvSpPr>
          <p:cNvPr id="8" name="Rounded Rectangle 7"/>
          <p:cNvSpPr/>
          <p:nvPr/>
        </p:nvSpPr>
        <p:spPr>
          <a:xfrm>
            <a:off x="955222" y="1689294"/>
            <a:ext cx="969917"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Critic </a:t>
            </a:r>
            <a:endParaRPr lang="en-US" dirty="0"/>
          </a:p>
        </p:txBody>
      </p:sp>
      <p:sp>
        <p:nvSpPr>
          <p:cNvPr id="9" name="Rounded Rectangle 8"/>
          <p:cNvSpPr/>
          <p:nvPr/>
        </p:nvSpPr>
        <p:spPr>
          <a:xfrm>
            <a:off x="3886200" y="1726520"/>
            <a:ext cx="1317715"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SENSORS</a:t>
            </a:r>
            <a:endParaRPr lang="en-US" dirty="0"/>
          </a:p>
        </p:txBody>
      </p:sp>
      <p:sp>
        <p:nvSpPr>
          <p:cNvPr id="10" name="Rounded Rectangle 9"/>
          <p:cNvSpPr/>
          <p:nvPr/>
        </p:nvSpPr>
        <p:spPr>
          <a:xfrm>
            <a:off x="3200400" y="5863977"/>
            <a:ext cx="1518557"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flipH="1">
            <a:off x="4519871" y="2196782"/>
            <a:ext cx="16207" cy="1230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015196" y="4476935"/>
            <a:ext cx="29391" cy="1387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5686550" y="2696051"/>
            <a:ext cx="637505"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5545182" y="4630784"/>
            <a:ext cx="1018904"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64086" y="2239328"/>
            <a:ext cx="1567543"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5592483" y="2383124"/>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5661114" y="4323806"/>
            <a:ext cx="766557" cy="369332"/>
          </a:xfrm>
          <a:prstGeom prst="rect">
            <a:avLst/>
          </a:prstGeom>
          <a:noFill/>
        </p:spPr>
        <p:txBody>
          <a:bodyPr wrap="none" rtlCol="0">
            <a:spAutoFit/>
          </a:bodyPr>
          <a:lstStyle/>
          <a:p>
            <a:r>
              <a:rPr lang="en-US" dirty="0" smtClean="0"/>
              <a:t>action</a:t>
            </a:r>
            <a:endParaRPr lang="en-US" dirty="0"/>
          </a:p>
        </p:txBody>
      </p:sp>
      <p:sp>
        <p:nvSpPr>
          <p:cNvPr id="25" name="Rectangle 24"/>
          <p:cNvSpPr/>
          <p:nvPr/>
        </p:nvSpPr>
        <p:spPr>
          <a:xfrm>
            <a:off x="573135" y="3739922"/>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Leraning</a:t>
            </a:r>
            <a:r>
              <a:rPr lang="en-US" dirty="0" smtClean="0"/>
              <a:t> Element</a:t>
            </a:r>
            <a:endParaRPr lang="en-US" dirty="0"/>
          </a:p>
        </p:txBody>
      </p:sp>
      <p:cxnSp>
        <p:nvCxnSpPr>
          <p:cNvPr id="26" name="Straight Arrow Connector 25"/>
          <p:cNvCxnSpPr/>
          <p:nvPr/>
        </p:nvCxnSpPr>
        <p:spPr>
          <a:xfrm flipV="1">
            <a:off x="1707969" y="4508473"/>
            <a:ext cx="1833698" cy="1054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177068" y="5043657"/>
            <a:ext cx="1069052" cy="646331"/>
          </a:xfrm>
          <a:prstGeom prst="rect">
            <a:avLst/>
          </a:prstGeom>
          <a:noFill/>
        </p:spPr>
        <p:txBody>
          <a:bodyPr wrap="square" rtlCol="0">
            <a:spAutoFit/>
          </a:bodyPr>
          <a:lstStyle/>
          <a:p>
            <a:r>
              <a:rPr lang="en-US" dirty="0" smtClean="0"/>
              <a:t>experiments</a:t>
            </a:r>
            <a:endParaRPr lang="en-US" dirty="0"/>
          </a:p>
        </p:txBody>
      </p:sp>
      <p:cxnSp>
        <p:nvCxnSpPr>
          <p:cNvPr id="29" name="Straight Arrow Connector 28"/>
          <p:cNvCxnSpPr>
            <a:endCxn id="6" idx="1"/>
          </p:cNvCxnSpPr>
          <p:nvPr/>
        </p:nvCxnSpPr>
        <p:spPr>
          <a:xfrm>
            <a:off x="2307228" y="3931920"/>
            <a:ext cx="1185454" cy="17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flipV="1">
            <a:off x="2307229" y="4217228"/>
            <a:ext cx="1183006" cy="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286001" y="3549559"/>
            <a:ext cx="1138794" cy="369332"/>
          </a:xfrm>
          <a:prstGeom prst="rect">
            <a:avLst/>
          </a:prstGeom>
          <a:noFill/>
        </p:spPr>
        <p:txBody>
          <a:bodyPr wrap="square" rtlCol="0">
            <a:spAutoFit/>
          </a:bodyPr>
          <a:lstStyle/>
          <a:p>
            <a:r>
              <a:rPr lang="en-US" dirty="0" smtClean="0"/>
              <a:t>changes</a:t>
            </a:r>
            <a:endParaRPr lang="en-US" dirty="0"/>
          </a:p>
        </p:txBody>
      </p:sp>
      <p:cxnSp>
        <p:nvCxnSpPr>
          <p:cNvPr id="38" name="Straight Arrow Connector 37"/>
          <p:cNvCxnSpPr>
            <a:stCxn id="9" idx="1"/>
          </p:cNvCxnSpPr>
          <p:nvPr/>
        </p:nvCxnSpPr>
        <p:spPr>
          <a:xfrm rot="10800000">
            <a:off x="1983578" y="1941929"/>
            <a:ext cx="1902622" cy="19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8" idx="2"/>
            <a:endCxn id="25" idx="0"/>
          </p:cNvCxnSpPr>
          <p:nvPr/>
        </p:nvCxnSpPr>
        <p:spPr>
          <a:xfrm>
            <a:off x="1440181" y="2159556"/>
            <a:ext cx="1" cy="158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52400" y="2743200"/>
            <a:ext cx="1335208" cy="369332"/>
          </a:xfrm>
          <a:prstGeom prst="rect">
            <a:avLst/>
          </a:prstGeom>
          <a:noFill/>
        </p:spPr>
        <p:txBody>
          <a:bodyPr wrap="square" rtlCol="0">
            <a:spAutoFit/>
          </a:bodyPr>
          <a:lstStyle/>
          <a:p>
            <a:r>
              <a:rPr lang="en-US" dirty="0" smtClean="0"/>
              <a:t>feedback</a:t>
            </a:r>
            <a:endParaRPr lang="en-US" dirty="0"/>
          </a:p>
        </p:txBody>
      </p:sp>
      <p:sp>
        <p:nvSpPr>
          <p:cNvPr id="47" name="TextBox 46"/>
          <p:cNvSpPr txBox="1"/>
          <p:nvPr/>
        </p:nvSpPr>
        <p:spPr>
          <a:xfrm>
            <a:off x="689066" y="940526"/>
            <a:ext cx="1858193" cy="646331"/>
          </a:xfrm>
          <a:prstGeom prst="rect">
            <a:avLst/>
          </a:prstGeom>
          <a:noFill/>
        </p:spPr>
        <p:txBody>
          <a:bodyPr wrap="square" rtlCol="0">
            <a:spAutoFit/>
          </a:bodyPr>
          <a:lstStyle/>
          <a:p>
            <a:r>
              <a:rPr lang="en-US" dirty="0" smtClean="0"/>
              <a:t>Performance standard </a:t>
            </a:r>
            <a:endParaRPr lang="en-US" dirty="0"/>
          </a:p>
        </p:txBody>
      </p:sp>
      <p:sp>
        <p:nvSpPr>
          <p:cNvPr id="48" name="Rounded Rectangle 47"/>
          <p:cNvSpPr/>
          <p:nvPr/>
        </p:nvSpPr>
        <p:spPr>
          <a:xfrm>
            <a:off x="955222" y="267950"/>
            <a:ext cx="969917"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AGENT</a:t>
            </a:r>
            <a:endParaRPr lang="en-US" dirty="0"/>
          </a:p>
        </p:txBody>
      </p:sp>
      <p:cxnSp>
        <p:nvCxnSpPr>
          <p:cNvPr id="50" name="Straight Connector 49"/>
          <p:cNvCxnSpPr/>
          <p:nvPr/>
        </p:nvCxnSpPr>
        <p:spPr>
          <a:xfrm>
            <a:off x="195127" y="156754"/>
            <a:ext cx="10613" cy="6370454"/>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9350" y="117566"/>
            <a:ext cx="5163102" cy="13063"/>
          </a:xfrm>
          <a:prstGeom prst="line">
            <a:avLst/>
          </a:prstGeom>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5349241" y="153718"/>
            <a:ext cx="3212" cy="6373491"/>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77167" y="6527208"/>
            <a:ext cx="5238203" cy="0"/>
          </a:xfrm>
          <a:prstGeom prst="line">
            <a:avLst/>
          </a:prstGeom>
        </p:spPr>
        <p:style>
          <a:lnRef idx="1">
            <a:schemeClr val="dk1"/>
          </a:lnRef>
          <a:fillRef idx="0">
            <a:schemeClr val="dk1"/>
          </a:fillRef>
          <a:effectRef idx="0">
            <a:schemeClr val="dk1"/>
          </a:effectRef>
          <a:fontRef idx="minor">
            <a:schemeClr val="tx1"/>
          </a:fontRef>
        </p:style>
      </p:cxnSp>
      <p:sp>
        <p:nvSpPr>
          <p:cNvPr id="30" name="TextBox 29"/>
          <p:cNvSpPr txBox="1"/>
          <p:nvPr/>
        </p:nvSpPr>
        <p:spPr>
          <a:xfrm>
            <a:off x="2057400" y="4267200"/>
            <a:ext cx="1443594" cy="369332"/>
          </a:xfrm>
          <a:prstGeom prst="rect">
            <a:avLst/>
          </a:prstGeom>
          <a:noFill/>
        </p:spPr>
        <p:txBody>
          <a:bodyPr wrap="square" rtlCol="0">
            <a:spAutoFit/>
          </a:bodyPr>
          <a:lstStyle/>
          <a:p>
            <a:r>
              <a:rPr lang="en-US" dirty="0" smtClean="0"/>
              <a:t>knowledge</a:t>
            </a:r>
            <a:endParaRPr lang="en-US" dirty="0"/>
          </a:p>
        </p:txBody>
      </p:sp>
    </p:spTree>
    <p:extLst>
      <p:ext uri="{BB962C8B-B14F-4D97-AF65-F5344CB8AC3E}">
        <p14:creationId xmlns:p14="http://schemas.microsoft.com/office/powerpoint/2010/main" xmlns="" val="12768454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types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Deterministic vs Stochastic: </a:t>
            </a:r>
          </a:p>
          <a:p>
            <a:r>
              <a:rPr lang="en-US" dirty="0" smtClean="0"/>
              <a:t>When an uniqueness in the agent’s current state completely determines the next state of the agent, the environment is said to be deterministic.</a:t>
            </a:r>
          </a:p>
          <a:p>
            <a:r>
              <a:rPr lang="en-US" dirty="0" smtClean="0"/>
              <a:t>Stochastic environment is random in nature which is not unique and cannot be completely determined by the agent.</a:t>
            </a:r>
          </a:p>
          <a:p>
            <a:r>
              <a:rPr lang="en-US" dirty="0" err="1" smtClean="0"/>
              <a:t>Eg</a:t>
            </a:r>
            <a:r>
              <a:rPr lang="en-US" dirty="0" smtClean="0"/>
              <a:t>:</a:t>
            </a:r>
          </a:p>
          <a:p>
            <a:r>
              <a:rPr lang="en-US" dirty="0" smtClean="0"/>
              <a:t>Chess: there would be only few possible moves for a chess at the current state and these moves can be determined.</a:t>
            </a:r>
          </a:p>
          <a:p>
            <a:r>
              <a:rPr lang="en-US" dirty="0" smtClean="0"/>
              <a:t>Self-driving car: the actions are not unique, it varies time to time.</a:t>
            </a:r>
            <a:endParaRPr lang="en-US" dirty="0"/>
          </a:p>
        </p:txBody>
      </p:sp>
    </p:spTree>
    <p:extLst>
      <p:ext uri="{BB962C8B-B14F-4D97-AF65-F5344CB8AC3E}">
        <p14:creationId xmlns:p14="http://schemas.microsoft.com/office/powerpoint/2010/main" xmlns="" val="18810581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Dynamic vs static: </a:t>
            </a:r>
          </a:p>
          <a:p>
            <a:r>
              <a:rPr lang="en-US" dirty="0" smtClean="0"/>
              <a:t>An environment that keeps constantly changing itself when the agent is up with some action is said to be dynamic.</a:t>
            </a:r>
          </a:p>
          <a:p>
            <a:r>
              <a:rPr lang="en-US" dirty="0" smtClean="0"/>
              <a:t>An idle environment with no change in its state is called a static environment.</a:t>
            </a:r>
          </a:p>
          <a:p>
            <a:r>
              <a:rPr lang="en-US" dirty="0" err="1" smtClean="0"/>
              <a:t>Eg</a:t>
            </a:r>
            <a:r>
              <a:rPr lang="en-US" dirty="0" smtClean="0"/>
              <a:t>: a roller </a:t>
            </a:r>
            <a:r>
              <a:rPr lang="en-US" dirty="0" err="1" smtClean="0"/>
              <a:t>coster</a:t>
            </a:r>
            <a:r>
              <a:rPr lang="en-US" dirty="0" smtClean="0"/>
              <a:t> is dynamic as it is set to motion and the environment keeps changing.</a:t>
            </a:r>
          </a:p>
          <a:p>
            <a:r>
              <a:rPr lang="en-US" dirty="0" smtClean="0"/>
              <a:t>An empty house is static as there is no change in the surroundings when an agent enters.</a:t>
            </a:r>
          </a:p>
          <a:p>
            <a:endParaRPr lang="en-US" dirty="0" smtClean="0"/>
          </a:p>
        </p:txBody>
      </p:sp>
    </p:spTree>
    <p:extLst>
      <p:ext uri="{BB962C8B-B14F-4D97-AF65-F5344CB8AC3E}">
        <p14:creationId xmlns:p14="http://schemas.microsoft.com/office/powerpoint/2010/main" xmlns="" val="1183120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Observable vs semi-observable:</a:t>
            </a:r>
          </a:p>
          <a:p>
            <a:r>
              <a:rPr lang="en-US" dirty="0" smtClean="0"/>
              <a:t>When an agent sensor is capable to sense or access the complete state of an agent at each point of time, it is said to be observable environment else it is semi-observable.</a:t>
            </a:r>
          </a:p>
          <a:p>
            <a:r>
              <a:rPr lang="en-US" dirty="0" err="1" smtClean="0"/>
              <a:t>Eg</a:t>
            </a:r>
            <a:r>
              <a:rPr lang="en-US" dirty="0" smtClean="0"/>
              <a:t>: </a:t>
            </a:r>
          </a:p>
          <a:p>
            <a:r>
              <a:rPr lang="en-US" dirty="0" smtClean="0"/>
              <a:t>Chess: the board is fully observable, so the opponent moves.</a:t>
            </a:r>
          </a:p>
          <a:p>
            <a:r>
              <a:rPr lang="en-US" dirty="0" smtClean="0"/>
              <a:t>Driving: the environment is semi-observable because what’s around the corner is not known.</a:t>
            </a:r>
          </a:p>
          <a:p>
            <a:endParaRPr lang="en-US" dirty="0"/>
          </a:p>
        </p:txBody>
      </p:sp>
    </p:spTree>
    <p:extLst>
      <p:ext uri="{BB962C8B-B14F-4D97-AF65-F5344CB8AC3E}">
        <p14:creationId xmlns:p14="http://schemas.microsoft.com/office/powerpoint/2010/main" xmlns="" val="2408522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Single agent vs multi-agent: </a:t>
            </a:r>
          </a:p>
          <a:p>
            <a:r>
              <a:rPr lang="en-US" dirty="0" smtClean="0"/>
              <a:t>An environment consisting of only one agent is said to be a single agent environment.</a:t>
            </a:r>
          </a:p>
          <a:p>
            <a:r>
              <a:rPr lang="en-US" dirty="0" smtClean="0"/>
              <a:t>An environment involving more then one agent is a multi-agent environment.</a:t>
            </a:r>
          </a:p>
          <a:p>
            <a:r>
              <a:rPr lang="en-US" dirty="0" err="1" smtClean="0"/>
              <a:t>Eg</a:t>
            </a:r>
            <a:r>
              <a:rPr lang="en-US" dirty="0" smtClean="0"/>
              <a:t>:</a:t>
            </a:r>
          </a:p>
          <a:p>
            <a:r>
              <a:rPr lang="en-US" dirty="0" smtClean="0"/>
              <a:t>A person left alone in a maze is an example of single agent system.</a:t>
            </a:r>
          </a:p>
          <a:p>
            <a:r>
              <a:rPr lang="en-US" dirty="0" smtClean="0"/>
              <a:t>The game of football is </a:t>
            </a:r>
            <a:r>
              <a:rPr lang="en-US" dirty="0" err="1" smtClean="0"/>
              <a:t>multiagent</a:t>
            </a:r>
            <a:r>
              <a:rPr lang="en-US" dirty="0" smtClean="0"/>
              <a:t> as it involves 10 players in each team.</a:t>
            </a:r>
          </a:p>
        </p:txBody>
      </p:sp>
    </p:spTree>
    <p:extLst>
      <p:ext uri="{BB962C8B-B14F-4D97-AF65-F5344CB8AC3E}">
        <p14:creationId xmlns:p14="http://schemas.microsoft.com/office/powerpoint/2010/main" xmlns="" val="2188431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400" dirty="0" smtClean="0"/>
              <a:t>Discrete vs Continuous:</a:t>
            </a:r>
          </a:p>
          <a:p>
            <a:r>
              <a:rPr lang="en-US" sz="2400" dirty="0" smtClean="0"/>
              <a:t>The environment in which the actions performed can be numbered is said to be discrete environment.</a:t>
            </a:r>
          </a:p>
          <a:p>
            <a:r>
              <a:rPr lang="en-US" sz="2400" dirty="0" smtClean="0"/>
              <a:t>The environment in which the actions performed cannot be numbered is said to be continuous environment.</a:t>
            </a:r>
          </a:p>
          <a:p>
            <a:r>
              <a:rPr lang="en-US" sz="2400" dirty="0" err="1" smtClean="0"/>
              <a:t>Eg</a:t>
            </a:r>
            <a:r>
              <a:rPr lang="en-US" sz="2400" dirty="0" smtClean="0"/>
              <a:t>:</a:t>
            </a:r>
          </a:p>
          <a:p>
            <a:r>
              <a:rPr lang="en-US" sz="2400" dirty="0" smtClean="0"/>
              <a:t>The game of chess is discrete as it has only finite number of moves. The number of moves might vary with every game, but still its finite.</a:t>
            </a:r>
          </a:p>
          <a:p>
            <a:r>
              <a:rPr lang="en-US" sz="2400" dirty="0" smtClean="0"/>
              <a:t>Self driving car are continuous as their actions like driving, parking etc cannot be numbered.</a:t>
            </a:r>
          </a:p>
        </p:txBody>
      </p:sp>
    </p:spTree>
    <p:extLst>
      <p:ext uri="{BB962C8B-B14F-4D97-AF65-F5344CB8AC3E}">
        <p14:creationId xmlns:p14="http://schemas.microsoft.com/office/powerpoint/2010/main" xmlns="" val="1166784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1522</Words>
  <Application>Microsoft Office PowerPoint</Application>
  <PresentationFormat>On-screen Show (4:3)</PresentationFormat>
  <Paragraphs>174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Intelligent Agent</vt:lpstr>
      <vt:lpstr>Slide 2</vt:lpstr>
      <vt:lpstr>Structure of Intelligent Agent</vt:lpstr>
      <vt:lpstr>Slide 4</vt:lpstr>
      <vt:lpstr>Properties of intelligent agents</vt:lpstr>
      <vt:lpstr>Internal characteristics  (LARG)</vt:lpstr>
      <vt:lpstr>External characteristics (CCMC)</vt:lpstr>
      <vt:lpstr>Rational agent</vt:lpstr>
      <vt:lpstr>Slide 9</vt:lpstr>
      <vt:lpstr>Configuration of agents</vt:lpstr>
      <vt:lpstr>PEAS description of Agents</vt:lpstr>
      <vt:lpstr>Simple reflex agent</vt:lpstr>
      <vt:lpstr>Slide 13</vt:lpstr>
      <vt:lpstr>Model-based Agents</vt:lpstr>
      <vt:lpstr>Slide 15</vt:lpstr>
      <vt:lpstr>Goal-Based Agents</vt:lpstr>
      <vt:lpstr>Slide 17</vt:lpstr>
      <vt:lpstr>Utility based agent</vt:lpstr>
      <vt:lpstr>Slide 19</vt:lpstr>
      <vt:lpstr>Learning agents</vt:lpstr>
      <vt:lpstr>Slide 21</vt:lpstr>
      <vt:lpstr>Environment types</vt:lpstr>
      <vt:lpstr>Slide 23</vt:lpstr>
      <vt:lpstr>Slide 24</vt:lpstr>
      <vt:lpstr>Slide 25</vt:lpstr>
      <vt:lpstr>Slide 26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dc:title>
  <dc:creator>Acer</dc:creator>
  <cp:lastModifiedBy>Acer</cp:lastModifiedBy>
  <cp:revision>50</cp:revision>
  <dcterms:created xsi:type="dcterms:W3CDTF">2006-08-16T00:00:00Z</dcterms:created>
  <dcterms:modified xsi:type="dcterms:W3CDTF">2026-04-21T14:39:59Z</dcterms:modified>
</cp:coreProperties>
</file>