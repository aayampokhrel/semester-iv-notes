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323" r:id="rId7"/>
    <p:sldId id="261" r:id="rId8"/>
    <p:sldId id="324" r:id="rId9"/>
    <p:sldId id="325" r:id="rId10"/>
    <p:sldId id="262" r:id="rId11"/>
    <p:sldId id="263" r:id="rId12"/>
    <p:sldId id="326" r:id="rId13"/>
    <p:sldId id="265" r:id="rId14"/>
    <p:sldId id="266" r:id="rId15"/>
    <p:sldId id="267" r:id="rId16"/>
    <p:sldId id="268" r:id="rId17"/>
    <p:sldId id="275" r:id="rId18"/>
    <p:sldId id="270" r:id="rId19"/>
    <p:sldId id="271" r:id="rId20"/>
    <p:sldId id="272" r:id="rId21"/>
    <p:sldId id="273" r:id="rId22"/>
    <p:sldId id="274" r:id="rId23"/>
    <p:sldId id="276" r:id="rId24"/>
    <p:sldId id="277" r:id="rId25"/>
    <p:sldId id="278" r:id="rId26"/>
    <p:sldId id="279" r:id="rId27"/>
    <p:sldId id="280" r:id="rId28"/>
    <p:sldId id="281" r:id="rId29"/>
    <p:sldId id="282" r:id="rId30"/>
    <p:sldId id="283" r:id="rId31"/>
    <p:sldId id="327" r:id="rId32"/>
    <p:sldId id="284" r:id="rId33"/>
    <p:sldId id="285" r:id="rId34"/>
    <p:sldId id="328" r:id="rId35"/>
    <p:sldId id="329"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5" r:id="rId52"/>
    <p:sldId id="330" r:id="rId53"/>
    <p:sldId id="331" r:id="rId54"/>
    <p:sldId id="332" r:id="rId55"/>
    <p:sldId id="333" r:id="rId56"/>
    <p:sldId id="334"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Knowledge Representation</a:t>
            </a:r>
            <a:endParaRPr lang="en-US" dirty="0"/>
          </a:p>
        </p:txBody>
      </p:sp>
      <p:sp>
        <p:nvSpPr>
          <p:cNvPr id="3" name="Subtitle 2"/>
          <p:cNvSpPr>
            <a:spLocks noGrp="1"/>
          </p:cNvSpPr>
          <p:nvPr>
            <p:ph type="subTitle" idx="1"/>
          </p:nvPr>
        </p:nvSpPr>
        <p:spPr/>
        <p:txBody>
          <a:bodyPr/>
          <a:lstStyle/>
          <a:p>
            <a:r>
              <a:rPr lang="en-US" dirty="0" smtClean="0"/>
              <a:t>Chapter 4</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To make machine intelligent we need to provide machine knowledge.</a:t>
            </a:r>
          </a:p>
          <a:p>
            <a:r>
              <a:rPr lang="en-US" dirty="0" smtClean="0"/>
              <a:t>Knowledge is a facts, skills which is called from our experience and intelligent is ability to use that knowledge.</a:t>
            </a:r>
          </a:p>
          <a:p>
            <a:r>
              <a:rPr lang="en-US" dirty="0" smtClean="0"/>
              <a:t>Reasoning is processing of knowledge.</a:t>
            </a:r>
          </a:p>
          <a:p>
            <a:r>
              <a:rPr lang="en-US" dirty="0" err="1" smtClean="0"/>
              <a:t>Eg</a:t>
            </a:r>
            <a:r>
              <a:rPr lang="en-US" dirty="0" smtClean="0"/>
              <a:t>: “when we jump from 5 storey building, we will break our legs” which is called knowledge.</a:t>
            </a:r>
          </a:p>
          <a:p>
            <a:r>
              <a:rPr lang="en-US" dirty="0" smtClean="0"/>
              <a:t>Now if we jump from 5 storey then we are not intelligent, and if we </a:t>
            </a:r>
            <a:r>
              <a:rPr lang="en-US" dirty="0" err="1" smtClean="0"/>
              <a:t>donot</a:t>
            </a:r>
            <a:r>
              <a:rPr lang="en-US" dirty="0" smtClean="0"/>
              <a:t> then we are intelligent.</a:t>
            </a:r>
          </a:p>
          <a:p>
            <a:r>
              <a:rPr lang="en-US" dirty="0" smtClean="0"/>
              <a:t>Our target is to put knowledge inside machine so that at right time machine can take decision by taking that knowledge.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If we put incorrect knowledge inside machine then, our machine will perform wrong, similarly if we put right knowledge then our machine will perform right.</a:t>
            </a:r>
          </a:p>
          <a:p>
            <a:r>
              <a:rPr lang="en-US" dirty="0" smtClean="0"/>
              <a:t>If we cannot represent knowledge properly, then there can be error like </a:t>
            </a:r>
          </a:p>
          <a:p>
            <a:pPr lvl="1"/>
            <a:r>
              <a:rPr lang="en-US" dirty="0" smtClean="0"/>
              <a:t>Syntax error: grammatical </a:t>
            </a:r>
            <a:r>
              <a:rPr lang="en-US" dirty="0" err="1" smtClean="0"/>
              <a:t>errror</a:t>
            </a:r>
            <a:r>
              <a:rPr lang="en-US" dirty="0" smtClean="0"/>
              <a:t> </a:t>
            </a:r>
            <a:r>
              <a:rPr lang="en-US" dirty="0" err="1" smtClean="0"/>
              <a:t>eg</a:t>
            </a:r>
            <a:r>
              <a:rPr lang="en-US" dirty="0" smtClean="0"/>
              <a:t>: I is taking food</a:t>
            </a:r>
          </a:p>
          <a:p>
            <a:pPr lvl="1"/>
            <a:r>
              <a:rPr lang="en-US" dirty="0" err="1" smtClean="0"/>
              <a:t>Symantic</a:t>
            </a:r>
            <a:r>
              <a:rPr lang="en-US" dirty="0" smtClean="0"/>
              <a:t> error: meaning </a:t>
            </a:r>
            <a:r>
              <a:rPr lang="en-US" dirty="0" err="1" smtClean="0"/>
              <a:t>errorr</a:t>
            </a:r>
            <a:r>
              <a:rPr lang="en-US" dirty="0" smtClean="0"/>
              <a:t>: </a:t>
            </a:r>
            <a:r>
              <a:rPr lang="en-US" dirty="0" err="1" smtClean="0"/>
              <a:t>eg</a:t>
            </a:r>
            <a:r>
              <a:rPr lang="en-US" dirty="0" smtClean="0"/>
              <a:t>: I eat bus inside noodles.</a:t>
            </a:r>
          </a:p>
          <a:p>
            <a:r>
              <a:rPr lang="en-US" dirty="0" smtClean="0"/>
              <a:t>So if we do this syntax and semantic </a:t>
            </a:r>
            <a:r>
              <a:rPr lang="en-US" dirty="0" err="1" smtClean="0"/>
              <a:t>errror</a:t>
            </a:r>
            <a:r>
              <a:rPr lang="en-US" dirty="0" smtClean="0"/>
              <a:t> less then machine can understand knowledge properly.</a:t>
            </a:r>
          </a:p>
          <a:p>
            <a:r>
              <a:rPr lang="en-US" dirty="0" smtClean="0"/>
              <a:t>To store knowledge inside machine memory is called knowledge representation.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So to do </a:t>
            </a:r>
            <a:r>
              <a:rPr lang="en-US" dirty="0" err="1" smtClean="0"/>
              <a:t>knowlege</a:t>
            </a:r>
            <a:r>
              <a:rPr lang="en-US" dirty="0" smtClean="0"/>
              <a:t> </a:t>
            </a:r>
            <a:r>
              <a:rPr lang="en-US" dirty="0" err="1" smtClean="0"/>
              <a:t>representaion</a:t>
            </a:r>
            <a:r>
              <a:rPr lang="en-US" dirty="0" smtClean="0"/>
              <a:t> in machine there are following ways:</a:t>
            </a:r>
          </a:p>
          <a:p>
            <a:r>
              <a:rPr lang="en-US" dirty="0" smtClean="0"/>
              <a:t>Logic: logic can be two types: Propositional logic and predicate logic.</a:t>
            </a:r>
          </a:p>
          <a:p>
            <a:pPr lvl="1"/>
            <a:r>
              <a:rPr lang="en-US" dirty="0" smtClean="0"/>
              <a:t>Propositional logic: True or False types</a:t>
            </a:r>
          </a:p>
          <a:p>
            <a:pPr lvl="1"/>
            <a:r>
              <a:rPr lang="en-US" dirty="0" smtClean="0"/>
              <a:t>Predicate logic: For all, there exists. To do this quantifiers are used.</a:t>
            </a:r>
          </a:p>
          <a:p>
            <a:r>
              <a:rPr lang="en-US" dirty="0" smtClean="0"/>
              <a:t>Rules: if then </a:t>
            </a:r>
          </a:p>
          <a:p>
            <a:r>
              <a:rPr lang="en-US" dirty="0" smtClean="0"/>
              <a:t>Semantic Net: semantic means meaning and net means graph so semantic net means </a:t>
            </a:r>
            <a:r>
              <a:rPr lang="en-US" dirty="0" err="1" smtClean="0"/>
              <a:t>meaniningful</a:t>
            </a:r>
            <a:r>
              <a:rPr lang="en-US" dirty="0" smtClean="0"/>
              <a:t> graph </a:t>
            </a:r>
            <a:r>
              <a:rPr lang="en-US" dirty="0" err="1" smtClean="0"/>
              <a:t>eg</a:t>
            </a:r>
            <a:r>
              <a:rPr lang="en-US" dirty="0" smtClean="0"/>
              <a:t>: </a:t>
            </a:r>
            <a:r>
              <a:rPr lang="en-US" dirty="0" err="1" smtClean="0"/>
              <a:t>google</a:t>
            </a:r>
            <a:r>
              <a:rPr lang="en-US" dirty="0" smtClean="0"/>
              <a:t> graphs.</a:t>
            </a:r>
          </a:p>
          <a:p>
            <a:r>
              <a:rPr lang="en-US" dirty="0" smtClean="0"/>
              <a:t>Frames: here objects are stored in slots and attributes are stored in </a:t>
            </a:r>
            <a:r>
              <a:rPr lang="en-US" dirty="0" err="1" smtClean="0"/>
              <a:t>filllers</a:t>
            </a:r>
            <a:r>
              <a:rPr lang="en-US" dirty="0" smtClean="0"/>
              <a:t>.</a:t>
            </a:r>
          </a:p>
          <a:p>
            <a:r>
              <a:rPr lang="en-US" dirty="0" smtClean="0"/>
              <a:t>Scripts: this is a scripts </a:t>
            </a:r>
            <a:r>
              <a:rPr lang="en-US" dirty="0" err="1" smtClean="0"/>
              <a:t>wrriten</a:t>
            </a:r>
            <a:r>
              <a:rPr lang="en-US" dirty="0" smtClean="0"/>
              <a:t> to perform certain job.</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in knowledge representation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Main objectives of knowledge representation is to draw conclusion from knowledge and to make machine take right decision based on its knowledge.</a:t>
            </a:r>
          </a:p>
          <a:p>
            <a:r>
              <a:rPr lang="en-US" dirty="0" smtClean="0"/>
              <a:t>But there are some issues in knowledge representation which are:</a:t>
            </a:r>
          </a:p>
          <a:p>
            <a:r>
              <a:rPr lang="en-US" dirty="0" smtClean="0"/>
              <a:t>Important Attributes</a:t>
            </a:r>
          </a:p>
          <a:p>
            <a:r>
              <a:rPr lang="en-US" dirty="0" smtClean="0"/>
              <a:t>Relationship among attributes</a:t>
            </a:r>
          </a:p>
          <a:p>
            <a:r>
              <a:rPr lang="en-US" dirty="0" smtClean="0"/>
              <a:t>Choosing Granularity: how much detail should </a:t>
            </a:r>
            <a:r>
              <a:rPr lang="en-US" dirty="0" err="1" smtClean="0"/>
              <a:t>i</a:t>
            </a:r>
            <a:r>
              <a:rPr lang="en-US" dirty="0" smtClean="0"/>
              <a:t> use while </a:t>
            </a:r>
            <a:r>
              <a:rPr lang="en-US" dirty="0" err="1" smtClean="0"/>
              <a:t>while</a:t>
            </a:r>
            <a:r>
              <a:rPr lang="en-US" dirty="0" smtClean="0"/>
              <a:t> I include in model.</a:t>
            </a:r>
          </a:p>
          <a:p>
            <a:r>
              <a:rPr lang="en-US" dirty="0" smtClean="0"/>
              <a:t>Set of objects</a:t>
            </a:r>
          </a:p>
          <a:p>
            <a:r>
              <a:rPr lang="en-US" dirty="0" smtClean="0"/>
              <a:t>Finding right structure</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295400" y="1621012"/>
            <a:ext cx="6629399" cy="44749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2200" dirty="0" smtClean="0"/>
              <a:t>Important Attributes:</a:t>
            </a:r>
          </a:p>
          <a:p>
            <a:pPr lvl="1"/>
            <a:r>
              <a:rPr lang="en-US" sz="2200" dirty="0" smtClean="0"/>
              <a:t>Any attributes  that may occur in every problem domain.</a:t>
            </a:r>
          </a:p>
          <a:p>
            <a:pPr lvl="1"/>
            <a:r>
              <a:rPr lang="en-US" sz="2200" dirty="0" err="1" smtClean="0"/>
              <a:t>Eg</a:t>
            </a:r>
            <a:r>
              <a:rPr lang="en-US" sz="2200" dirty="0" smtClean="0"/>
              <a:t> instance and </a:t>
            </a:r>
            <a:r>
              <a:rPr lang="en-US" sz="2200" dirty="0" err="1" smtClean="0"/>
              <a:t>isa</a:t>
            </a:r>
            <a:r>
              <a:rPr lang="en-US" sz="2200" dirty="0" smtClean="0"/>
              <a:t> supports property of inheritance so they are important attributes.</a:t>
            </a:r>
          </a:p>
          <a:p>
            <a:pPr lvl="1"/>
            <a:r>
              <a:rPr lang="en-US" sz="2200" dirty="0" smtClean="0"/>
              <a:t>Person is a male.</a:t>
            </a:r>
          </a:p>
          <a:p>
            <a:pPr lvl="1"/>
            <a:r>
              <a:rPr lang="en-US" sz="2200" dirty="0" err="1" smtClean="0"/>
              <a:t>Virat</a:t>
            </a:r>
            <a:r>
              <a:rPr lang="en-US" sz="2200" dirty="0" smtClean="0"/>
              <a:t> instance batsman.</a:t>
            </a:r>
            <a:endParaRPr lang="en-US" sz="2600" dirty="0" smtClean="0"/>
          </a:p>
          <a:p>
            <a:endParaRPr lang="en-US" sz="2600" dirty="0" smtClean="0"/>
          </a:p>
          <a:p>
            <a:endParaRPr lang="en-US" sz="2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3100" dirty="0" smtClean="0"/>
              <a:t>Relationship among attributes:</a:t>
            </a:r>
          </a:p>
          <a:p>
            <a:pPr lvl="1"/>
            <a:r>
              <a:rPr lang="en-US" sz="3100" dirty="0" smtClean="0"/>
              <a:t>There are four properties:</a:t>
            </a:r>
          </a:p>
          <a:p>
            <a:r>
              <a:rPr lang="en-US" sz="3100" dirty="0" smtClean="0"/>
              <a:t>Inverse: it is used to check consistency when a value is added to an </a:t>
            </a:r>
            <a:r>
              <a:rPr lang="en-US" sz="3100" dirty="0" err="1" smtClean="0"/>
              <a:t>attribute.eg:</a:t>
            </a:r>
            <a:r>
              <a:rPr lang="en-US" sz="3100" b="1" dirty="0" err="1" smtClean="0"/>
              <a:t>Example</a:t>
            </a:r>
            <a:r>
              <a:rPr lang="en-US" sz="3100" b="1" dirty="0" smtClean="0"/>
              <a:t>:</a:t>
            </a:r>
            <a:endParaRPr lang="en-US" sz="3100" dirty="0" smtClean="0"/>
          </a:p>
          <a:p>
            <a:pPr lvl="1"/>
            <a:r>
              <a:rPr lang="en-US" sz="3100" dirty="0" smtClean="0"/>
              <a:t>Ram is the </a:t>
            </a:r>
            <a:r>
              <a:rPr lang="en-US" sz="3100" b="1" dirty="0" smtClean="0"/>
              <a:t>father of</a:t>
            </a:r>
            <a:r>
              <a:rPr lang="en-US" sz="3100" dirty="0" smtClean="0"/>
              <a:t> </a:t>
            </a:r>
            <a:r>
              <a:rPr lang="en-US" sz="3100" dirty="0" err="1" smtClean="0"/>
              <a:t>Shyam</a:t>
            </a:r>
            <a:r>
              <a:rPr lang="en-US" sz="3100" dirty="0" smtClean="0"/>
              <a:t>. </a:t>
            </a:r>
          </a:p>
          <a:p>
            <a:pPr lvl="1"/>
            <a:r>
              <a:rPr lang="en-US" sz="3100" dirty="0" smtClean="0"/>
              <a:t>Then </a:t>
            </a:r>
            <a:r>
              <a:rPr lang="en-US" sz="3100" dirty="0" err="1" smtClean="0"/>
              <a:t>Shyam</a:t>
            </a:r>
            <a:r>
              <a:rPr lang="en-US" sz="3100" dirty="0" smtClean="0"/>
              <a:t> is the </a:t>
            </a:r>
            <a:r>
              <a:rPr lang="en-US" sz="3100" b="1" dirty="0" smtClean="0"/>
              <a:t>son of</a:t>
            </a:r>
            <a:r>
              <a:rPr lang="en-US" sz="3100" dirty="0" smtClean="0"/>
              <a:t> Ram. </a:t>
            </a:r>
          </a:p>
          <a:p>
            <a:pPr lvl="1"/>
            <a:r>
              <a:rPr lang="en-US" sz="3100" dirty="0" smtClean="0"/>
              <a:t>Here:</a:t>
            </a:r>
          </a:p>
          <a:p>
            <a:pPr lvl="1"/>
            <a:r>
              <a:rPr lang="en-US" sz="3100" dirty="0" err="1" smtClean="0"/>
              <a:t>father_of</a:t>
            </a:r>
            <a:r>
              <a:rPr lang="en-US" sz="3100" dirty="0" smtClean="0"/>
              <a:t> is the inverse of </a:t>
            </a:r>
            <a:r>
              <a:rPr lang="en-US" sz="3100" dirty="0" err="1" smtClean="0"/>
              <a:t>son_of</a:t>
            </a:r>
            <a:r>
              <a:rPr lang="en-US" sz="3100" dirty="0" smtClean="0"/>
              <a:t>. </a:t>
            </a:r>
          </a:p>
          <a:p>
            <a:pPr lvl="1"/>
            <a:r>
              <a:rPr lang="en-US" sz="3100" dirty="0" smtClean="0"/>
              <a:t>When a value is added to one attribute, the inverse attribute can be checked or updated automatically, helping maintain </a:t>
            </a:r>
            <a:r>
              <a:rPr lang="en-US" sz="3100" b="1" dirty="0" smtClean="0"/>
              <a:t>consistency</a:t>
            </a:r>
            <a:r>
              <a:rPr lang="en-US" sz="3100" dirty="0" smtClean="0"/>
              <a:t> in the knowledge base</a:t>
            </a:r>
          </a:p>
          <a:p>
            <a:endParaRPr lang="en-US" sz="45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sz="2400" dirty="0" smtClean="0"/>
              <a:t>Existence:  it is used for ‘is-a” hierarchy used for generalization and specialization</a:t>
            </a:r>
          </a:p>
          <a:p>
            <a:pPr lvl="1"/>
            <a:r>
              <a:rPr lang="en-US" sz="2400" dirty="0" smtClean="0"/>
              <a:t>Reasoning for a value: </a:t>
            </a:r>
            <a:r>
              <a:rPr lang="en-US" sz="2400" dirty="0" err="1" smtClean="0"/>
              <a:t>eg</a:t>
            </a:r>
            <a:r>
              <a:rPr lang="en-US" sz="2400" dirty="0" smtClean="0"/>
              <a:t>: a child age must not be greater than parents.</a:t>
            </a:r>
          </a:p>
          <a:p>
            <a:pPr lvl="1"/>
            <a:r>
              <a:rPr lang="en-US" sz="2400" dirty="0" smtClean="0"/>
              <a:t>Single value attribute: unique and single valued </a:t>
            </a:r>
            <a:r>
              <a:rPr lang="en-US" sz="2400" dirty="0" err="1" smtClean="0"/>
              <a:t>eg</a:t>
            </a:r>
            <a:r>
              <a:rPr lang="en-US" sz="2400" dirty="0" smtClean="0"/>
              <a:t>: roll no, citizenship no.</a:t>
            </a:r>
          </a:p>
          <a:p>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Choosing granularity:</a:t>
            </a:r>
          </a:p>
          <a:p>
            <a:pPr lvl="1"/>
            <a:r>
              <a:rPr lang="en-US" dirty="0" smtClean="0"/>
              <a:t>To decide up to what level of knowledge can be represented and what are the primitives.</a:t>
            </a:r>
          </a:p>
          <a:p>
            <a:pPr lvl="1"/>
            <a:r>
              <a:rPr lang="en-US" dirty="0" err="1" smtClean="0"/>
              <a:t>Eg</a:t>
            </a:r>
            <a:r>
              <a:rPr lang="en-US" dirty="0" smtClean="0"/>
              <a:t>: car (high detailed)</a:t>
            </a:r>
          </a:p>
          <a:p>
            <a:pPr lvl="2"/>
            <a:r>
              <a:rPr lang="en-US" dirty="0" smtClean="0"/>
              <a:t>Engine capacity: 1500cc</a:t>
            </a:r>
          </a:p>
          <a:p>
            <a:pPr lvl="2"/>
            <a:r>
              <a:rPr lang="en-US" dirty="0" smtClean="0"/>
              <a:t>Fuel type: petrol</a:t>
            </a:r>
          </a:p>
          <a:p>
            <a:pPr lvl="2"/>
            <a:r>
              <a:rPr lang="en-US" dirty="0" smtClean="0"/>
              <a:t>Number of seats: 5</a:t>
            </a:r>
          </a:p>
          <a:p>
            <a:pPr lvl="2"/>
            <a:r>
              <a:rPr lang="en-US" dirty="0" smtClean="0"/>
              <a:t>Handbrake: true</a:t>
            </a:r>
          </a:p>
          <a:p>
            <a:pPr lvl="1"/>
            <a:r>
              <a:rPr lang="en-US" dirty="0" smtClean="0"/>
              <a:t>Car ( low detailed)</a:t>
            </a:r>
          </a:p>
          <a:p>
            <a:pPr lvl="2"/>
            <a:r>
              <a:rPr lang="en-US" dirty="0" smtClean="0"/>
              <a:t>Fuel type: petrol</a:t>
            </a:r>
          </a:p>
          <a:p>
            <a:pPr lvl="2"/>
            <a:r>
              <a:rPr lang="en-US" dirty="0" smtClean="0"/>
              <a:t>Category: compact</a:t>
            </a:r>
          </a:p>
          <a:p>
            <a:pPr lvl="2">
              <a:buNone/>
            </a:pPr>
            <a:r>
              <a:rPr lang="en-US" dirty="0" smtClean="0"/>
              <a:t>Here  fuel type, category,, engine capacity, handbrake is primitives.</a:t>
            </a:r>
          </a:p>
          <a:p>
            <a:pPr lvl="2"/>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Set of objects:</a:t>
            </a:r>
          </a:p>
          <a:p>
            <a:pPr lvl="1"/>
            <a:r>
              <a:rPr lang="en-US" dirty="0" smtClean="0"/>
              <a:t>It can be represented by making set of similar properties of objects.</a:t>
            </a:r>
          </a:p>
          <a:p>
            <a:pPr lvl="1"/>
            <a:r>
              <a:rPr lang="en-US" dirty="0" smtClean="0"/>
              <a:t>Now if we have to assert something then we can use it to all the set of objects.</a:t>
            </a:r>
          </a:p>
          <a:p>
            <a:pPr lvl="1"/>
            <a:r>
              <a:rPr lang="en-US" dirty="0" smtClean="0"/>
              <a:t>And it is done by universal quantifiers.</a:t>
            </a:r>
          </a:p>
          <a:p>
            <a:pPr>
              <a:buNone/>
            </a:pP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Finding right structures:</a:t>
            </a:r>
          </a:p>
          <a:p>
            <a:r>
              <a:rPr lang="en-US" dirty="0" smtClean="0"/>
              <a:t>Selection of appropriate structure is necessary to represent knowledge in machine:</a:t>
            </a:r>
          </a:p>
          <a:p>
            <a:r>
              <a:rPr lang="en-US" dirty="0" smtClean="0"/>
              <a:t>Given a large amount of knowledge stored in a database, how can relevant parts are accessed when they are needed?</a:t>
            </a:r>
          </a:p>
          <a:p>
            <a:r>
              <a:rPr lang="en-US" dirty="0" smtClean="0"/>
              <a:t>This is about access to right structure for describing a particular situation.</a:t>
            </a:r>
          </a:p>
          <a:p>
            <a:r>
              <a:rPr lang="en-US" dirty="0" smtClean="0"/>
              <a:t>This requires, selecting an initial structure and then revising the choice.</a:t>
            </a:r>
          </a:p>
          <a:p>
            <a:r>
              <a:rPr lang="en-US" dirty="0" smtClean="0"/>
              <a:t>While doing so, it is necessary to solve following problems:</a:t>
            </a:r>
          </a:p>
          <a:p>
            <a:r>
              <a:rPr lang="en-US" dirty="0" smtClean="0"/>
              <a:t>How to perform an initial selection of the most appropriate structure.</a:t>
            </a:r>
          </a:p>
          <a:p>
            <a:r>
              <a:rPr lang="en-US" dirty="0" smtClean="0"/>
              <a:t>How to fill in appropriate details from the current situations.</a:t>
            </a:r>
          </a:p>
          <a:p>
            <a:r>
              <a:rPr lang="en-US" dirty="0" smtClean="0"/>
              <a:t>How to find a better structure if the one chosen initially turns out not to be appropriate.</a:t>
            </a:r>
          </a:p>
          <a:p>
            <a:r>
              <a:rPr lang="en-US" dirty="0" smtClean="0"/>
              <a:t>What to do if none of the available structures is appropriate.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Knowledge base representation system and its properties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Knowledge representation system is a formalized structure and sets of operations that contains the descriptions, relationships and procedures provided in an AI system.</a:t>
            </a:r>
          </a:p>
          <a:p>
            <a:r>
              <a:rPr lang="en-US" dirty="0" smtClean="0"/>
              <a:t>The process considers how to represent the knowledge in the system such that it can be used to solve problems.</a:t>
            </a:r>
          </a:p>
          <a:p>
            <a:r>
              <a:rPr lang="en-US" dirty="0" smtClean="0"/>
              <a:t>It basically consists of two components:</a:t>
            </a:r>
          </a:p>
          <a:p>
            <a:pPr lvl="1"/>
            <a:r>
              <a:rPr lang="en-US" dirty="0" smtClean="0"/>
              <a:t>Knowledge base</a:t>
            </a:r>
          </a:p>
          <a:p>
            <a:pPr lvl="1"/>
            <a:r>
              <a:rPr lang="en-US" dirty="0" smtClean="0"/>
              <a:t>Inference methods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Knowledge base: A knowledge base (KB) is a centralized repository which is a collection of structured an </a:t>
            </a:r>
            <a:r>
              <a:rPr lang="en-US" dirty="0" err="1" smtClean="0"/>
              <a:t>unstuructred</a:t>
            </a:r>
            <a:r>
              <a:rPr lang="en-US" dirty="0" smtClean="0"/>
              <a:t> information to solve problems or answer </a:t>
            </a:r>
            <a:r>
              <a:rPr lang="en-US" dirty="0" err="1" smtClean="0"/>
              <a:t>querries</a:t>
            </a:r>
            <a:r>
              <a:rPr lang="en-US" dirty="0" smtClean="0"/>
              <a:t> that an  AI system uses to simulate human decision-making.</a:t>
            </a:r>
          </a:p>
          <a:p>
            <a:r>
              <a:rPr lang="en-US" dirty="0" smtClean="0"/>
              <a:t>It can include </a:t>
            </a:r>
          </a:p>
          <a:p>
            <a:pPr lvl="1"/>
            <a:r>
              <a:rPr lang="en-US" dirty="0" smtClean="0"/>
              <a:t>Facts ( </a:t>
            </a:r>
            <a:r>
              <a:rPr lang="en-US" dirty="0" err="1" smtClean="0"/>
              <a:t>eg</a:t>
            </a:r>
            <a:r>
              <a:rPr lang="en-US" dirty="0" smtClean="0"/>
              <a:t>: water boils at 100 degree)</a:t>
            </a:r>
          </a:p>
          <a:p>
            <a:pPr lvl="1"/>
            <a:r>
              <a:rPr lang="en-US" dirty="0" smtClean="0"/>
              <a:t>Rules ( </a:t>
            </a:r>
            <a:r>
              <a:rPr lang="en-US" dirty="0" err="1" smtClean="0"/>
              <a:t>eg</a:t>
            </a:r>
            <a:r>
              <a:rPr lang="en-US" dirty="0" smtClean="0"/>
              <a:t> if temp is greater than 100 degree then its starts boiling)</a:t>
            </a:r>
          </a:p>
          <a:p>
            <a:pPr lvl="1"/>
            <a:r>
              <a:rPr lang="en-US" dirty="0" smtClean="0"/>
              <a:t>Heuristics ( experience based system)</a:t>
            </a:r>
          </a:p>
          <a:p>
            <a:pPr lvl="1"/>
            <a:r>
              <a:rPr lang="en-US" dirty="0" err="1" smtClean="0"/>
              <a:t>Ontologies</a:t>
            </a:r>
            <a:r>
              <a:rPr lang="en-US" dirty="0" smtClean="0"/>
              <a:t> ( structured concepts and relationships)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Inference methods: it is a technique to derive a new knowledge or conclusions from existing knowledge in a knowledge base system.</a:t>
            </a:r>
          </a:p>
          <a:p>
            <a:r>
              <a:rPr lang="en-US" dirty="0" smtClean="0"/>
              <a:t>It can be : </a:t>
            </a:r>
          </a:p>
          <a:p>
            <a:pPr lvl="1"/>
            <a:r>
              <a:rPr lang="en-US" dirty="0" smtClean="0"/>
              <a:t>Inductive inference: </a:t>
            </a:r>
            <a:r>
              <a:rPr lang="en-US" dirty="0" err="1" smtClean="0"/>
              <a:t>eg</a:t>
            </a:r>
            <a:r>
              <a:rPr lang="en-US" dirty="0" smtClean="0"/>
              <a:t> sun get </a:t>
            </a:r>
            <a:r>
              <a:rPr lang="en-US" dirty="0" err="1" smtClean="0"/>
              <a:t>rised</a:t>
            </a:r>
            <a:r>
              <a:rPr lang="en-US" dirty="0" smtClean="0"/>
              <a:t> today, yesterday and the day before in </a:t>
            </a:r>
            <a:r>
              <a:rPr lang="en-US" dirty="0" err="1" smtClean="0"/>
              <a:t>morining</a:t>
            </a:r>
            <a:r>
              <a:rPr lang="en-US" dirty="0" smtClean="0"/>
              <a:t>.</a:t>
            </a:r>
          </a:p>
          <a:p>
            <a:pPr lvl="1"/>
            <a:r>
              <a:rPr lang="en-US" dirty="0" smtClean="0"/>
              <a:t>Inferred rule: sun always rises in morning. (specific to general)</a:t>
            </a:r>
          </a:p>
          <a:p>
            <a:pPr lvl="1"/>
            <a:r>
              <a:rPr lang="en-US" dirty="0" smtClean="0"/>
              <a:t>Deductive inference: </a:t>
            </a:r>
            <a:r>
              <a:rPr lang="en-US" dirty="0" err="1" smtClean="0"/>
              <a:t>eg</a:t>
            </a:r>
            <a:r>
              <a:rPr lang="en-US" dirty="0" smtClean="0"/>
              <a:t> all humans are mortal and ram is human. So deductive inference rule can be ram is mortal ( general to specific)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43800" y="25146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Knowledge </a:t>
            </a:r>
          </a:p>
          <a:p>
            <a:pPr algn="ctr"/>
            <a:r>
              <a:rPr lang="en-US" dirty="0" smtClean="0"/>
              <a:t>Base</a:t>
            </a:r>
            <a:endParaRPr lang="en-US" dirty="0"/>
          </a:p>
        </p:txBody>
      </p:sp>
      <p:sp>
        <p:nvSpPr>
          <p:cNvPr id="5" name="Rectangle 4"/>
          <p:cNvSpPr/>
          <p:nvPr/>
        </p:nvSpPr>
        <p:spPr>
          <a:xfrm>
            <a:off x="2286000" y="25146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End-user </a:t>
            </a:r>
          </a:p>
          <a:p>
            <a:pPr algn="ctr"/>
            <a:r>
              <a:rPr lang="en-US" dirty="0" smtClean="0"/>
              <a:t>interface</a:t>
            </a:r>
            <a:endParaRPr lang="en-US" dirty="0"/>
          </a:p>
        </p:txBody>
      </p:sp>
      <p:sp>
        <p:nvSpPr>
          <p:cNvPr id="6" name="Rectangle 5"/>
          <p:cNvSpPr/>
          <p:nvPr/>
        </p:nvSpPr>
        <p:spPr>
          <a:xfrm>
            <a:off x="5029200" y="25908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Inference </a:t>
            </a:r>
          </a:p>
          <a:p>
            <a:pPr algn="ctr"/>
            <a:r>
              <a:rPr lang="en-US" dirty="0" smtClean="0"/>
              <a:t>Engine </a:t>
            </a:r>
            <a:endParaRPr lang="en-US" dirty="0"/>
          </a:p>
        </p:txBody>
      </p:sp>
      <p:cxnSp>
        <p:nvCxnSpPr>
          <p:cNvPr id="8" name="Straight Arrow Connector 7"/>
          <p:cNvCxnSpPr/>
          <p:nvPr/>
        </p:nvCxnSpPr>
        <p:spPr>
          <a:xfrm rot="5400000">
            <a:off x="7353300" y="20955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8039894" y="2094706"/>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V="1">
            <a:off x="7543800" y="4953000"/>
            <a:ext cx="990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629400" y="914400"/>
            <a:ext cx="1295400" cy="369332"/>
          </a:xfrm>
          <a:prstGeom prst="rect">
            <a:avLst/>
          </a:prstGeom>
          <a:noFill/>
        </p:spPr>
        <p:txBody>
          <a:bodyPr wrap="square" rtlCol="0">
            <a:spAutoFit/>
          </a:bodyPr>
          <a:lstStyle/>
          <a:p>
            <a:r>
              <a:rPr lang="en-US" dirty="0" smtClean="0"/>
              <a:t>Facts</a:t>
            </a:r>
            <a:endParaRPr lang="en-US" dirty="0"/>
          </a:p>
        </p:txBody>
      </p:sp>
      <p:sp>
        <p:nvSpPr>
          <p:cNvPr id="15" name="TextBox 14"/>
          <p:cNvSpPr txBox="1"/>
          <p:nvPr/>
        </p:nvSpPr>
        <p:spPr>
          <a:xfrm>
            <a:off x="7848600" y="1143000"/>
            <a:ext cx="1295400" cy="369332"/>
          </a:xfrm>
          <a:prstGeom prst="rect">
            <a:avLst/>
          </a:prstGeom>
          <a:noFill/>
        </p:spPr>
        <p:txBody>
          <a:bodyPr wrap="square" rtlCol="0">
            <a:spAutoFit/>
          </a:bodyPr>
          <a:lstStyle/>
          <a:p>
            <a:r>
              <a:rPr lang="en-US" dirty="0" smtClean="0"/>
              <a:t>heuristics</a:t>
            </a:r>
            <a:endParaRPr lang="en-US" dirty="0"/>
          </a:p>
        </p:txBody>
      </p:sp>
      <p:sp>
        <p:nvSpPr>
          <p:cNvPr id="16" name="TextBox 15"/>
          <p:cNvSpPr txBox="1"/>
          <p:nvPr/>
        </p:nvSpPr>
        <p:spPr>
          <a:xfrm>
            <a:off x="6858000" y="5638800"/>
            <a:ext cx="2133600" cy="923330"/>
          </a:xfrm>
          <a:prstGeom prst="rect">
            <a:avLst/>
          </a:prstGeom>
          <a:noFill/>
        </p:spPr>
        <p:txBody>
          <a:bodyPr wrap="square" rtlCol="0">
            <a:spAutoFit/>
          </a:bodyPr>
          <a:lstStyle/>
          <a:p>
            <a:r>
              <a:rPr lang="en-US" dirty="0" smtClean="0"/>
              <a:t>Knowledge representation </a:t>
            </a:r>
            <a:r>
              <a:rPr lang="en-US" dirty="0" err="1" smtClean="0"/>
              <a:t>schemans</a:t>
            </a:r>
            <a:endParaRPr lang="en-US" dirty="0"/>
          </a:p>
        </p:txBody>
      </p:sp>
      <p:cxnSp>
        <p:nvCxnSpPr>
          <p:cNvPr id="18" name="Straight Arrow Connector 17"/>
          <p:cNvCxnSpPr/>
          <p:nvPr/>
        </p:nvCxnSpPr>
        <p:spPr>
          <a:xfrm rot="10800000">
            <a:off x="6324600" y="32766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a:off x="3810000" y="34290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a:off x="1066800" y="28194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0800000">
            <a:off x="1066800" y="32766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04800" y="3581400"/>
            <a:ext cx="1828800" cy="1477328"/>
          </a:xfrm>
          <a:prstGeom prst="rect">
            <a:avLst/>
          </a:prstGeom>
          <a:noFill/>
        </p:spPr>
        <p:txBody>
          <a:bodyPr wrap="square" rtlCol="0">
            <a:spAutoFit/>
          </a:bodyPr>
          <a:lstStyle/>
          <a:p>
            <a:r>
              <a:rPr lang="en-US" dirty="0" smtClean="0"/>
              <a:t>Conclusions expertise recommendations for actions</a:t>
            </a:r>
          </a:p>
          <a:p>
            <a:endParaRPr lang="en-US" dirty="0"/>
          </a:p>
        </p:txBody>
      </p:sp>
      <p:sp>
        <p:nvSpPr>
          <p:cNvPr id="23" name="TextBox 22"/>
          <p:cNvSpPr txBox="1"/>
          <p:nvPr/>
        </p:nvSpPr>
        <p:spPr>
          <a:xfrm>
            <a:off x="609600" y="1828800"/>
            <a:ext cx="1676400" cy="646331"/>
          </a:xfrm>
          <a:prstGeom prst="rect">
            <a:avLst/>
          </a:prstGeom>
          <a:noFill/>
        </p:spPr>
        <p:txBody>
          <a:bodyPr wrap="square" rtlCol="0">
            <a:spAutoFit/>
          </a:bodyPr>
          <a:lstStyle/>
          <a:p>
            <a:r>
              <a:rPr lang="en-US" dirty="0" smtClean="0"/>
              <a:t>Explanations</a:t>
            </a:r>
          </a:p>
          <a:p>
            <a:endParaRPr lang="en-US" dirty="0"/>
          </a:p>
        </p:txBody>
      </p:sp>
      <p:cxnSp>
        <p:nvCxnSpPr>
          <p:cNvPr id="25" name="Straight Arrow Connector 24"/>
          <p:cNvCxnSpPr/>
          <p:nvPr/>
        </p:nvCxnSpPr>
        <p:spPr>
          <a:xfrm>
            <a:off x="609600" y="3048000"/>
            <a:ext cx="1676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0" y="2590800"/>
            <a:ext cx="1219200" cy="369332"/>
          </a:xfrm>
          <a:prstGeom prst="rect">
            <a:avLst/>
          </a:prstGeom>
          <a:noFill/>
        </p:spPr>
        <p:txBody>
          <a:bodyPr wrap="square" rtlCol="0">
            <a:spAutoFit/>
          </a:bodyPr>
          <a:lstStyle/>
          <a:p>
            <a:r>
              <a:rPr lang="en-US" dirty="0" err="1" smtClean="0"/>
              <a:t>querries</a:t>
            </a:r>
            <a:endParaRPr lang="en-US" dirty="0"/>
          </a:p>
        </p:txBody>
      </p:sp>
      <p:sp>
        <p:nvSpPr>
          <p:cNvPr id="27" name="TextBox 26"/>
          <p:cNvSpPr txBox="1"/>
          <p:nvPr/>
        </p:nvSpPr>
        <p:spPr>
          <a:xfrm>
            <a:off x="685800" y="5638800"/>
            <a:ext cx="4267200" cy="369332"/>
          </a:xfrm>
          <a:prstGeom prst="rect">
            <a:avLst/>
          </a:prstGeom>
          <a:noFill/>
          <a:ln w="3175">
            <a:solidFill>
              <a:schemeClr val="tx1"/>
            </a:solidFill>
          </a:ln>
        </p:spPr>
        <p:txBody>
          <a:bodyPr wrap="square" rtlCol="0">
            <a:spAutoFit/>
          </a:bodyPr>
          <a:lstStyle/>
          <a:p>
            <a:r>
              <a:rPr lang="en-US" dirty="0" smtClean="0"/>
              <a:t>Fig: knowledge </a:t>
            </a:r>
            <a:r>
              <a:rPr lang="en-US" dirty="0" err="1" smtClean="0"/>
              <a:t>representaion</a:t>
            </a:r>
            <a:r>
              <a:rPr lang="en-US" dirty="0" smtClean="0"/>
              <a:t> </a:t>
            </a:r>
            <a:r>
              <a:rPr lang="en-US" dirty="0" err="1" smtClean="0"/>
              <a:t>schemans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a:t>
            </a:r>
            <a:endParaRPr lang="en-US" dirty="0"/>
          </a:p>
        </p:txBody>
      </p:sp>
      <p:sp>
        <p:nvSpPr>
          <p:cNvPr id="3" name="Content Placeholder 2"/>
          <p:cNvSpPr>
            <a:spLocks noGrp="1"/>
          </p:cNvSpPr>
          <p:nvPr>
            <p:ph idx="1"/>
          </p:nvPr>
        </p:nvSpPr>
        <p:spPr/>
        <p:txBody>
          <a:bodyPr>
            <a:noAutofit/>
          </a:bodyPr>
          <a:lstStyle/>
          <a:p>
            <a:r>
              <a:rPr lang="en-US" sz="1900" dirty="0" smtClean="0"/>
              <a:t>Representation Adequacy: Knowledge system has the ability to represent all kinds of required knowledge in model, theory or data structure.</a:t>
            </a:r>
          </a:p>
          <a:p>
            <a:r>
              <a:rPr lang="en-US" sz="1900" dirty="0" smtClean="0"/>
              <a:t>Inferential adequacy: it is the ability to manipulate knowledge represented to produce new knowledge corresponding from original knowledge.</a:t>
            </a:r>
          </a:p>
          <a:p>
            <a:r>
              <a:rPr lang="en-US" sz="1900" dirty="0" smtClean="0"/>
              <a:t>Inferential efficiency: It is how effectively a system finds the right answer using minimal and relevant reasoning </a:t>
            </a:r>
            <a:r>
              <a:rPr lang="en-US" sz="1900" dirty="0" err="1" smtClean="0"/>
              <a:t>steps.Eg</a:t>
            </a:r>
            <a:r>
              <a:rPr lang="en-US" sz="1900" dirty="0" smtClean="0"/>
              <a:t>: When a system has many facts stored, it can draw conclusions in many ways.</a:t>
            </a:r>
            <a:br>
              <a:rPr lang="en-US" sz="1900" dirty="0" smtClean="0"/>
            </a:br>
            <a:r>
              <a:rPr lang="en-US" sz="1900" dirty="0" smtClean="0"/>
              <a:t>Inferential efficiency means:</a:t>
            </a:r>
          </a:p>
          <a:p>
            <a:pPr lvl="1"/>
            <a:r>
              <a:rPr lang="en-US" sz="1900" dirty="0" smtClean="0"/>
              <a:t>It </a:t>
            </a:r>
            <a:r>
              <a:rPr lang="en-US" sz="1900" b="1" dirty="0" smtClean="0"/>
              <a:t>chooses the most relevant facts</a:t>
            </a:r>
            <a:r>
              <a:rPr lang="en-US" sz="1900" dirty="0" smtClean="0"/>
              <a:t> </a:t>
            </a:r>
          </a:p>
          <a:p>
            <a:pPr lvl="1"/>
            <a:r>
              <a:rPr lang="en-US" sz="1900" dirty="0" smtClean="0"/>
              <a:t>It </a:t>
            </a:r>
            <a:r>
              <a:rPr lang="en-US" sz="1900" b="1" dirty="0" smtClean="0"/>
              <a:t>avoids unnecessary reasoning</a:t>
            </a:r>
            <a:r>
              <a:rPr lang="en-US" sz="1900" dirty="0" smtClean="0"/>
              <a:t> </a:t>
            </a:r>
          </a:p>
          <a:p>
            <a:pPr lvl="1"/>
            <a:r>
              <a:rPr lang="en-US" sz="1900" dirty="0" smtClean="0"/>
              <a:t>It </a:t>
            </a:r>
            <a:r>
              <a:rPr lang="en-US" sz="1900" b="1" dirty="0" smtClean="0"/>
              <a:t>finds answers faster</a:t>
            </a:r>
            <a:endParaRPr lang="en-US" sz="1900" dirty="0" smtClean="0"/>
          </a:p>
          <a:p>
            <a:r>
              <a:rPr lang="en-US" sz="1900" dirty="0" err="1" smtClean="0"/>
              <a:t>Acquisitional</a:t>
            </a:r>
            <a:r>
              <a:rPr lang="en-US" sz="1900" dirty="0" smtClean="0"/>
              <a:t> efficiency: it is the ability to take input new knowledge, skills or representation using automatic methods possible rather then reliance on human intervention.</a:t>
            </a:r>
            <a:endParaRPr lang="en-US" sz="1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73924" y="1684744"/>
            <a:ext cx="7886700" cy="5173256"/>
          </a:xfrm>
        </p:spPr>
        <p:txBody>
          <a:bodyPr/>
          <a:lstStyle/>
          <a:p>
            <a:r>
              <a:rPr lang="en-US" dirty="0" smtClean="0"/>
              <a:t>Suppose we have knowledge:</a:t>
            </a:r>
            <a:endParaRPr lang="en-US" dirty="0"/>
          </a:p>
          <a:p>
            <a:pPr lvl="1"/>
            <a:r>
              <a:rPr lang="en-US" dirty="0" smtClean="0"/>
              <a:t>A Dog </a:t>
            </a:r>
            <a:r>
              <a:rPr lang="en-US" b="1" dirty="0" smtClean="0"/>
              <a:t>is a</a:t>
            </a:r>
            <a:r>
              <a:rPr lang="en-US" dirty="0" smtClean="0"/>
              <a:t> type of Animal</a:t>
            </a:r>
          </a:p>
          <a:p>
            <a:pPr lvl="1"/>
            <a:r>
              <a:rPr lang="en-US" dirty="0" smtClean="0"/>
              <a:t>A Dog </a:t>
            </a:r>
            <a:r>
              <a:rPr lang="en-US" b="1" dirty="0" smtClean="0"/>
              <a:t>has</a:t>
            </a:r>
            <a:r>
              <a:rPr lang="en-US" dirty="0" smtClean="0"/>
              <a:t> a Tail</a:t>
            </a:r>
          </a:p>
          <a:p>
            <a:pPr lvl="1"/>
            <a:r>
              <a:rPr lang="en-US" dirty="0" smtClean="0"/>
              <a:t>A Dog </a:t>
            </a:r>
            <a:r>
              <a:rPr lang="en-US" b="1" dirty="0" smtClean="0"/>
              <a:t>can</a:t>
            </a:r>
            <a:r>
              <a:rPr lang="en-US" dirty="0" smtClean="0"/>
              <a:t> Bark</a:t>
            </a:r>
          </a:p>
          <a:p>
            <a:r>
              <a:rPr lang="en-US" dirty="0"/>
              <a:t> </a:t>
            </a:r>
            <a:r>
              <a:rPr lang="en-US" dirty="0" smtClean="0"/>
              <a:t>then this knowledge can be represented in Semantic nets as</a:t>
            </a:r>
          </a:p>
          <a:p>
            <a:pPr marL="457200" lvl="1" indent="0">
              <a:buNone/>
            </a:pPr>
            <a:endParaRPr lang="en-US" dirty="0" smtClean="0"/>
          </a:p>
          <a:p>
            <a:endParaRPr lang="en-US" dirty="0"/>
          </a:p>
          <a:p>
            <a:pPr marL="0" indent="0">
              <a:buNone/>
            </a:pPr>
            <a:endParaRPr lang="en-US" dirty="0" smtClean="0"/>
          </a:p>
        </p:txBody>
      </p:sp>
      <p:sp>
        <p:nvSpPr>
          <p:cNvPr id="6" name="Rounded Rectangle 5"/>
          <p:cNvSpPr/>
          <p:nvPr/>
        </p:nvSpPr>
        <p:spPr>
          <a:xfrm>
            <a:off x="4572000" y="54102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DOG</a:t>
            </a:r>
            <a:endParaRPr lang="en-US" dirty="0"/>
          </a:p>
        </p:txBody>
      </p:sp>
      <p:sp>
        <p:nvSpPr>
          <p:cNvPr id="7" name="Rounded Rectangle 6"/>
          <p:cNvSpPr/>
          <p:nvPr/>
        </p:nvSpPr>
        <p:spPr>
          <a:xfrm>
            <a:off x="2667000" y="48768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Animal</a:t>
            </a:r>
            <a:endParaRPr lang="en-US" dirty="0"/>
          </a:p>
        </p:txBody>
      </p:sp>
      <p:sp>
        <p:nvSpPr>
          <p:cNvPr id="8" name="Rounded Rectangle 7"/>
          <p:cNvSpPr/>
          <p:nvPr/>
        </p:nvSpPr>
        <p:spPr>
          <a:xfrm>
            <a:off x="2590800" y="59436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Bark</a:t>
            </a:r>
            <a:endParaRPr lang="en-US" dirty="0"/>
          </a:p>
        </p:txBody>
      </p:sp>
      <p:sp>
        <p:nvSpPr>
          <p:cNvPr id="9" name="Rounded Rectangle 8"/>
          <p:cNvSpPr/>
          <p:nvPr/>
        </p:nvSpPr>
        <p:spPr>
          <a:xfrm>
            <a:off x="6400800" y="46482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Tail</a:t>
            </a:r>
          </a:p>
        </p:txBody>
      </p:sp>
      <p:cxnSp>
        <p:nvCxnSpPr>
          <p:cNvPr id="11" name="Straight Arrow Connector 10"/>
          <p:cNvCxnSpPr/>
          <p:nvPr/>
        </p:nvCxnSpPr>
        <p:spPr>
          <a:xfrm rot="10800000">
            <a:off x="3581400" y="5105400"/>
            <a:ext cx="1037408" cy="537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505200" y="6019800"/>
            <a:ext cx="1053194" cy="210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p:cNvCxnSpPr>
          <p:nvPr/>
        </p:nvCxnSpPr>
        <p:spPr>
          <a:xfrm flipV="1">
            <a:off x="5492931" y="5177587"/>
            <a:ext cx="858884" cy="591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962400" y="4800600"/>
            <a:ext cx="627017" cy="369332"/>
          </a:xfrm>
          <a:prstGeom prst="rect">
            <a:avLst/>
          </a:prstGeom>
          <a:noFill/>
        </p:spPr>
        <p:txBody>
          <a:bodyPr wrap="square" rtlCol="0">
            <a:spAutoFit/>
          </a:bodyPr>
          <a:lstStyle/>
          <a:p>
            <a:r>
              <a:rPr lang="en-US" dirty="0" smtClean="0"/>
              <a:t>Is a </a:t>
            </a:r>
            <a:endParaRPr lang="en-US" dirty="0"/>
          </a:p>
        </p:txBody>
      </p:sp>
      <p:sp>
        <p:nvSpPr>
          <p:cNvPr id="17" name="TextBox 16"/>
          <p:cNvSpPr txBox="1"/>
          <p:nvPr/>
        </p:nvSpPr>
        <p:spPr>
          <a:xfrm>
            <a:off x="5486400" y="4876800"/>
            <a:ext cx="627017" cy="369332"/>
          </a:xfrm>
          <a:prstGeom prst="rect">
            <a:avLst/>
          </a:prstGeom>
          <a:noFill/>
        </p:spPr>
        <p:txBody>
          <a:bodyPr wrap="square" rtlCol="0">
            <a:spAutoFit/>
          </a:bodyPr>
          <a:lstStyle/>
          <a:p>
            <a:r>
              <a:rPr lang="en-US" dirty="0" smtClean="0"/>
              <a:t>has </a:t>
            </a:r>
            <a:endParaRPr lang="en-US" dirty="0"/>
          </a:p>
        </p:txBody>
      </p:sp>
      <p:sp>
        <p:nvSpPr>
          <p:cNvPr id="18" name="TextBox 17"/>
          <p:cNvSpPr txBox="1"/>
          <p:nvPr/>
        </p:nvSpPr>
        <p:spPr>
          <a:xfrm>
            <a:off x="3581400" y="5638800"/>
            <a:ext cx="627017" cy="369332"/>
          </a:xfrm>
          <a:prstGeom prst="rect">
            <a:avLst/>
          </a:prstGeom>
          <a:noFill/>
        </p:spPr>
        <p:txBody>
          <a:bodyPr wrap="square" rtlCol="0">
            <a:spAutoFit/>
          </a:bodyPr>
          <a:lstStyle/>
          <a:p>
            <a:r>
              <a:rPr lang="en-US" dirty="0" smtClean="0"/>
              <a:t>can</a:t>
            </a:r>
            <a:endParaRPr lang="en-US" dirty="0"/>
          </a:p>
        </p:txBody>
      </p:sp>
    </p:spTree>
    <p:extLst>
      <p:ext uri="{BB962C8B-B14F-4D97-AF65-F5344CB8AC3E}">
        <p14:creationId xmlns:p14="http://schemas.microsoft.com/office/powerpoint/2010/main" xmlns="" val="20727927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Nets</a:t>
            </a:r>
            <a:endParaRPr lang="en-US" dirty="0"/>
          </a:p>
        </p:txBody>
      </p:sp>
      <p:sp>
        <p:nvSpPr>
          <p:cNvPr id="5" name="Content Placeholder 4"/>
          <p:cNvSpPr>
            <a:spLocks noGrp="1"/>
          </p:cNvSpPr>
          <p:nvPr>
            <p:ph idx="1"/>
          </p:nvPr>
        </p:nvSpPr>
        <p:spPr/>
        <p:txBody>
          <a:bodyPr>
            <a:normAutofit fontScale="85000" lnSpcReduction="20000"/>
          </a:bodyPr>
          <a:lstStyle/>
          <a:p>
            <a:r>
              <a:rPr lang="en-US" dirty="0" smtClean="0"/>
              <a:t>A Semantic Net is a graph-based structure:</a:t>
            </a:r>
          </a:p>
          <a:p>
            <a:r>
              <a:rPr lang="en-US" dirty="0" smtClean="0"/>
              <a:t>Nodes represent concepts or entities (e.g., "Dog", "Animal", "Barks").</a:t>
            </a:r>
          </a:p>
          <a:p>
            <a:r>
              <a:rPr lang="en-US" dirty="0" smtClean="0"/>
              <a:t>Edges represent relationships between these concepts (e.g., "is a", "has", "can").</a:t>
            </a:r>
          </a:p>
          <a:p>
            <a:r>
              <a:rPr lang="en-US" dirty="0" smtClean="0"/>
              <a:t>Semantic networks often include:</a:t>
            </a:r>
          </a:p>
          <a:p>
            <a:r>
              <a:rPr lang="en-US" dirty="0" smtClean="0"/>
              <a:t>Inheritance: "A cat is a mammal" → inherits properties of mammals.</a:t>
            </a:r>
          </a:p>
          <a:p>
            <a:r>
              <a:rPr lang="en-US" dirty="0" smtClean="0"/>
              <a:t>Part-whole: “dog has tail"</a:t>
            </a:r>
          </a:p>
          <a:p>
            <a:r>
              <a:rPr lang="en-US" dirty="0" smtClean="0"/>
              <a:t>Action-capability: “Dog can Bark“</a:t>
            </a:r>
          </a:p>
          <a:p>
            <a:r>
              <a:rPr lang="en-US" dirty="0" smtClean="0"/>
              <a:t>Cause-effect: "Fire causes smoke“</a:t>
            </a:r>
          </a:p>
        </p:txBody>
      </p:sp>
    </p:spTree>
    <p:extLst>
      <p:ext uri="{BB962C8B-B14F-4D97-AF65-F5344CB8AC3E}">
        <p14:creationId xmlns:p14="http://schemas.microsoft.com/office/powerpoint/2010/main" xmlns="" val="41385922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Nets</a:t>
            </a:r>
            <a:endParaRPr lang="en-US" dirty="0"/>
          </a:p>
        </p:txBody>
      </p:sp>
      <p:sp>
        <p:nvSpPr>
          <p:cNvPr id="3" name="Content Placeholder 2"/>
          <p:cNvSpPr>
            <a:spLocks noGrp="1"/>
          </p:cNvSpPr>
          <p:nvPr>
            <p:ph idx="1"/>
          </p:nvPr>
        </p:nvSpPr>
        <p:spPr/>
        <p:txBody>
          <a:bodyPr>
            <a:normAutofit lnSpcReduction="10000"/>
          </a:bodyPr>
          <a:lstStyle/>
          <a:p>
            <a:r>
              <a:rPr lang="en-US" dirty="0" smtClean="0"/>
              <a:t>Semantic Nets in AI (also called Semantic Networks) are a way of representing knowledge using a graph of interconnected concepts. </a:t>
            </a:r>
          </a:p>
          <a:p>
            <a:r>
              <a:rPr lang="en-US" dirty="0" smtClean="0"/>
              <a:t>They're one of the earliest and most intuitive methods for representing meaning in artificial intelligence, particularly useful in natural language processing, expert systems, and knowledge representation.</a:t>
            </a:r>
          </a:p>
          <a:p>
            <a:endParaRPr lang="en-US" dirty="0"/>
          </a:p>
        </p:txBody>
      </p:sp>
    </p:spTree>
    <p:extLst>
      <p:ext uri="{BB962C8B-B14F-4D97-AF65-F5344CB8AC3E}">
        <p14:creationId xmlns:p14="http://schemas.microsoft.com/office/powerpoint/2010/main" xmlns="" val="24766168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of a semantic network</a:t>
            </a:r>
            <a:endParaRPr lang="en-US" dirty="0"/>
          </a:p>
        </p:txBody>
      </p:sp>
      <p:sp>
        <p:nvSpPr>
          <p:cNvPr id="3" name="Content Placeholder 2"/>
          <p:cNvSpPr>
            <a:spLocks noGrp="1"/>
          </p:cNvSpPr>
          <p:nvPr>
            <p:ph idx="1"/>
          </p:nvPr>
        </p:nvSpPr>
        <p:spPr/>
        <p:txBody>
          <a:bodyPr>
            <a:normAutofit fontScale="55000" lnSpcReduction="20000"/>
          </a:bodyPr>
          <a:lstStyle/>
          <a:p>
            <a:r>
              <a:rPr lang="en-US" sz="3800" dirty="0" smtClean="0"/>
              <a:t>Nodes (Concepts or Entities):</a:t>
            </a:r>
          </a:p>
          <a:p>
            <a:pPr lvl="1"/>
            <a:r>
              <a:rPr lang="en-US" sz="2900" dirty="0" smtClean="0"/>
              <a:t>Represent </a:t>
            </a:r>
            <a:r>
              <a:rPr lang="en-US" sz="2900" b="1" dirty="0" smtClean="0"/>
              <a:t>objects</a:t>
            </a:r>
            <a:r>
              <a:rPr lang="en-US" sz="2900" dirty="0" smtClean="0"/>
              <a:t>, </a:t>
            </a:r>
            <a:r>
              <a:rPr lang="en-US" sz="2900" b="1" dirty="0" smtClean="0"/>
              <a:t>concepts</a:t>
            </a:r>
            <a:r>
              <a:rPr lang="en-US" sz="2900" dirty="0" smtClean="0"/>
              <a:t>, or </a:t>
            </a:r>
            <a:r>
              <a:rPr lang="en-US" sz="2900" b="1" dirty="0" smtClean="0"/>
              <a:t>ideas</a:t>
            </a:r>
          </a:p>
          <a:p>
            <a:pPr lvl="1"/>
            <a:r>
              <a:rPr lang="en-US" sz="2900" dirty="0" err="1" smtClean="0"/>
              <a:t>Eg</a:t>
            </a:r>
            <a:r>
              <a:rPr lang="en-US" sz="2900" dirty="0" smtClean="0"/>
              <a:t> dog, animal, </a:t>
            </a:r>
            <a:r>
              <a:rPr lang="en-US" sz="2900" dirty="0" err="1" smtClean="0"/>
              <a:t>tail,bark</a:t>
            </a:r>
            <a:endParaRPr lang="en-US" sz="2900" dirty="0"/>
          </a:p>
          <a:p>
            <a:r>
              <a:rPr lang="en-US" sz="3800" b="1" dirty="0" smtClean="0"/>
              <a:t>Edges (Links or Arcs)</a:t>
            </a:r>
          </a:p>
          <a:p>
            <a:pPr lvl="1"/>
            <a:r>
              <a:rPr lang="en-US" sz="2900" dirty="0" smtClean="0"/>
              <a:t>Represent </a:t>
            </a:r>
            <a:r>
              <a:rPr lang="en-US" sz="2900" b="1" dirty="0" smtClean="0"/>
              <a:t>relationships</a:t>
            </a:r>
            <a:r>
              <a:rPr lang="en-US" sz="2900" dirty="0" smtClean="0"/>
              <a:t> between concepts.</a:t>
            </a:r>
            <a:endParaRPr lang="en-US" sz="2900" dirty="0"/>
          </a:p>
          <a:p>
            <a:pPr lvl="1"/>
            <a:r>
              <a:rPr lang="en-US" sz="2900" dirty="0" err="1" smtClean="0"/>
              <a:t>Eg</a:t>
            </a:r>
            <a:r>
              <a:rPr lang="en-US" sz="2900" dirty="0" smtClean="0"/>
              <a:t>: is a , has, can</a:t>
            </a:r>
          </a:p>
          <a:p>
            <a:r>
              <a:rPr lang="en-US" sz="3800" dirty="0" smtClean="0"/>
              <a:t>Labels:</a:t>
            </a:r>
          </a:p>
          <a:p>
            <a:pPr lvl="1"/>
            <a:r>
              <a:rPr lang="en-US" sz="2900" dirty="0" smtClean="0"/>
              <a:t>Descriptive names given to edges to define the type of relation. </a:t>
            </a:r>
          </a:p>
          <a:p>
            <a:pPr lvl="1"/>
            <a:r>
              <a:rPr lang="en-US" sz="2900" dirty="0" smtClean="0"/>
              <a:t>Examples: "is a", "part of", "has property“</a:t>
            </a:r>
          </a:p>
          <a:p>
            <a:r>
              <a:rPr lang="en-US" sz="3800" b="1" dirty="0" smtClean="0"/>
              <a:t>Inheritance</a:t>
            </a:r>
          </a:p>
          <a:p>
            <a:pPr lvl="1"/>
            <a:r>
              <a:rPr lang="en-US" sz="2900" dirty="0" smtClean="0"/>
              <a:t>A mechanism by which nodes </a:t>
            </a:r>
            <a:r>
              <a:rPr lang="en-US" sz="2900" b="1" dirty="0" smtClean="0"/>
              <a:t>inherit properties</a:t>
            </a:r>
            <a:r>
              <a:rPr lang="en-US" sz="2900" dirty="0" smtClean="0"/>
              <a:t> from parent nodes via "is-a" links.</a:t>
            </a:r>
          </a:p>
          <a:p>
            <a:r>
              <a:rPr lang="en-US" sz="3800" dirty="0" smtClean="0"/>
              <a:t>Types of relationship</a:t>
            </a:r>
          </a:p>
          <a:p>
            <a:pPr lvl="1"/>
            <a:r>
              <a:rPr lang="en-US" sz="2900" dirty="0" smtClean="0"/>
              <a:t>Inheritance: "A cat is a mammal" → inherits properties of mammals.</a:t>
            </a:r>
          </a:p>
          <a:p>
            <a:pPr lvl="1"/>
            <a:r>
              <a:rPr lang="en-US" sz="2900" dirty="0" smtClean="0"/>
              <a:t>Part-whole: “dog has tail"</a:t>
            </a:r>
          </a:p>
          <a:p>
            <a:pPr lvl="1"/>
            <a:r>
              <a:rPr lang="en-US" sz="2900" dirty="0" smtClean="0"/>
              <a:t>Action-capability: “Dog can Bark“</a:t>
            </a:r>
          </a:p>
          <a:p>
            <a:pPr lvl="1"/>
            <a:r>
              <a:rPr lang="en-US" sz="2900" dirty="0" smtClean="0"/>
              <a:t>Cause-effect: "Fire causes smoke“</a:t>
            </a:r>
          </a:p>
          <a:p>
            <a:pPr lvl="1"/>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19387301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Components</a:t>
            </a:r>
            <a:endParaRPr lang="en-US" dirty="0"/>
          </a:p>
        </p:txBody>
      </p:sp>
      <p:sp>
        <p:nvSpPr>
          <p:cNvPr id="3" name="Content Placeholder 2"/>
          <p:cNvSpPr>
            <a:spLocks noGrp="1"/>
          </p:cNvSpPr>
          <p:nvPr>
            <p:ph idx="1"/>
          </p:nvPr>
        </p:nvSpPr>
        <p:spPr/>
        <p:txBody>
          <a:bodyPr/>
          <a:lstStyle/>
          <a:p>
            <a:r>
              <a:rPr lang="en-US" dirty="0" smtClean="0"/>
              <a:t>Lexical components: Nodes, links and labels.</a:t>
            </a:r>
          </a:p>
          <a:p>
            <a:r>
              <a:rPr lang="en-US" dirty="0" smtClean="0"/>
              <a:t>Structural components:  directed links or nodes.</a:t>
            </a:r>
          </a:p>
          <a:p>
            <a:r>
              <a:rPr lang="en-US" dirty="0" smtClean="0"/>
              <a:t>Semantic : related to links or nodes for </a:t>
            </a:r>
            <a:r>
              <a:rPr lang="en-US" dirty="0" err="1" smtClean="0"/>
              <a:t>eg</a:t>
            </a:r>
            <a:r>
              <a:rPr lang="en-US" dirty="0" smtClean="0"/>
              <a:t> facts.</a:t>
            </a:r>
          </a:p>
          <a:p>
            <a:r>
              <a:rPr lang="en-US" dirty="0" smtClean="0"/>
              <a:t>Procedural: </a:t>
            </a:r>
          </a:p>
          <a:p>
            <a:pPr lvl="1"/>
            <a:r>
              <a:rPr lang="en-US" dirty="0" smtClean="0"/>
              <a:t>Constructor: creation of new links.</a:t>
            </a:r>
          </a:p>
          <a:p>
            <a:pPr lvl="1"/>
            <a:r>
              <a:rPr lang="en-US" dirty="0" smtClean="0"/>
              <a:t>Destructor: removal of new links.</a:t>
            </a:r>
            <a:endParaRPr lang="en-US" dirty="0"/>
          </a:p>
        </p:txBody>
      </p:sp>
    </p:spTree>
    <p:extLst>
      <p:ext uri="{BB962C8B-B14F-4D97-AF65-F5344CB8AC3E}">
        <p14:creationId xmlns:p14="http://schemas.microsoft.com/office/powerpoint/2010/main" xmlns="" val="22406572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Frames are data structures used in AI to represent stereotypical situations or scenarios. </a:t>
            </a:r>
          </a:p>
          <a:p>
            <a:r>
              <a:rPr lang="en-US" dirty="0" smtClean="0"/>
              <a:t>They encapsulate information about objects, events, and their interrelationships within a particular context.</a:t>
            </a:r>
          </a:p>
          <a:p>
            <a:r>
              <a:rPr lang="en-US" dirty="0" smtClean="0"/>
              <a:t> Each frame consists of a set of attributes and values, forming a template for understanding specific situations.</a:t>
            </a:r>
          </a:p>
          <a:p>
            <a:r>
              <a:rPr lang="en-US" dirty="0" smtClean="0"/>
              <a:t> Frames are designed to provide a structured way to capture the essential aspects of a situation, facilitating easier retrieval and manipulation of information. </a:t>
            </a:r>
          </a:p>
          <a:p>
            <a:r>
              <a:rPr lang="en-US" dirty="0" smtClean="0"/>
              <a:t>They are similar to schemas or blueprints that organize knowledge into manageable chunks.</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a:t>
            </a:r>
            <a:endParaRPr lang="en-US" dirty="0"/>
          </a:p>
        </p:txBody>
      </p:sp>
      <p:sp>
        <p:nvSpPr>
          <p:cNvPr id="3" name="Content Placeholder 2"/>
          <p:cNvSpPr>
            <a:spLocks noGrp="1"/>
          </p:cNvSpPr>
          <p:nvPr>
            <p:ph idx="1"/>
          </p:nvPr>
        </p:nvSpPr>
        <p:spPr/>
        <p:txBody>
          <a:bodyPr>
            <a:normAutofit lnSpcReduction="10000"/>
          </a:bodyPr>
          <a:lstStyle/>
          <a:p>
            <a:pPr fontAlgn="base"/>
            <a:r>
              <a:rPr lang="en-US" b="1" dirty="0" smtClean="0"/>
              <a:t>Slots:</a:t>
            </a:r>
          </a:p>
          <a:p>
            <a:pPr lvl="1" fontAlgn="base"/>
            <a:r>
              <a:rPr lang="en-US" dirty="0" smtClean="0"/>
              <a:t>Slots are attributes or properties of a frame. They represent the different aspects or characteristics of the frame's concept.</a:t>
            </a:r>
          </a:p>
          <a:p>
            <a:pPr lvl="1" fontAlgn="base"/>
            <a:r>
              <a:rPr lang="en-US" i="1" dirty="0" smtClean="0"/>
              <a:t>Example:</a:t>
            </a:r>
            <a:r>
              <a:rPr lang="en-US" dirty="0" smtClean="0"/>
              <a:t> For a "Person" frame, slots might include:</a:t>
            </a:r>
          </a:p>
          <a:p>
            <a:pPr lvl="1" fontAlgn="base"/>
            <a:r>
              <a:rPr lang="en-US" b="1" dirty="0" smtClean="0"/>
              <a:t>Name:</a:t>
            </a:r>
            <a:r>
              <a:rPr lang="en-US" dirty="0" smtClean="0"/>
              <a:t> The individual's name</a:t>
            </a:r>
          </a:p>
          <a:p>
            <a:pPr lvl="1" fontAlgn="base"/>
            <a:r>
              <a:rPr lang="en-US" b="1" dirty="0" smtClean="0"/>
              <a:t>Age:</a:t>
            </a:r>
            <a:r>
              <a:rPr lang="en-US" dirty="0" smtClean="0"/>
              <a:t> The individual's age</a:t>
            </a:r>
          </a:p>
          <a:p>
            <a:pPr lvl="1" fontAlgn="base"/>
            <a:r>
              <a:rPr lang="en-US" b="1" dirty="0" smtClean="0"/>
              <a:t>Occupation:</a:t>
            </a:r>
            <a:r>
              <a:rPr lang="en-US" dirty="0" smtClean="0"/>
              <a:t> The individual's profession</a:t>
            </a:r>
          </a:p>
          <a:p>
            <a:pPr lvl="1" fontAlgn="base"/>
            <a:r>
              <a:rPr lang="en-US" b="1" dirty="0" smtClean="0"/>
              <a:t>Address:</a:t>
            </a:r>
            <a:r>
              <a:rPr lang="en-US" dirty="0" smtClean="0"/>
              <a:t> The individual's home address</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2. Facets</a:t>
            </a:r>
          </a:p>
          <a:p>
            <a:pPr lvl="1" fontAlgn="base"/>
            <a:r>
              <a:rPr lang="en-US" dirty="0" smtClean="0"/>
              <a:t>Facets provide additional details or constraints for slots, defining acceptable values or specifying how slots should be used.</a:t>
            </a:r>
          </a:p>
          <a:p>
            <a:pPr lvl="1" fontAlgn="base"/>
            <a:r>
              <a:rPr lang="en-US" i="1" dirty="0" smtClean="0"/>
              <a:t>Example:</a:t>
            </a:r>
            <a:r>
              <a:rPr lang="en-US" dirty="0" smtClean="0"/>
              <a:t> For the "Age" slot in the "Person" frame:</a:t>
            </a:r>
          </a:p>
          <a:p>
            <a:pPr lvl="1" fontAlgn="base"/>
            <a:r>
              <a:rPr lang="en-US" b="1" dirty="0" smtClean="0"/>
              <a:t>Type:</a:t>
            </a:r>
            <a:r>
              <a:rPr lang="en-US" dirty="0" smtClean="0"/>
              <a:t> Integer</a:t>
            </a:r>
          </a:p>
          <a:p>
            <a:pPr lvl="1" fontAlgn="base"/>
            <a:r>
              <a:rPr lang="en-US" b="1" dirty="0" smtClean="0"/>
              <a:t>Range:</a:t>
            </a:r>
            <a:r>
              <a:rPr lang="en-US" dirty="0" smtClean="0"/>
              <a:t> 0 to 90</a:t>
            </a:r>
          </a:p>
          <a:p>
            <a:pPr lvl="1" fontAlgn="base"/>
            <a:r>
              <a:rPr lang="en-US" b="1" dirty="0" smtClean="0"/>
              <a:t>Default Value:</a:t>
            </a:r>
            <a:r>
              <a:rPr lang="en-US" dirty="0" smtClean="0"/>
              <a:t> 20</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 Default Values</a:t>
            </a:r>
          </a:p>
          <a:p>
            <a:pPr lvl="1" fontAlgn="base"/>
            <a:r>
              <a:rPr lang="en-US" dirty="0" smtClean="0"/>
              <a:t>Default values are predefined values assigned to slots if no specific value is provided. They offer a baseline that can be overridden with more specific information.</a:t>
            </a:r>
          </a:p>
          <a:p>
            <a:pPr lvl="1" fontAlgn="base"/>
            <a:r>
              <a:rPr lang="en-US" i="1" dirty="0" smtClean="0"/>
              <a:t>Example:</a:t>
            </a:r>
            <a:r>
              <a:rPr lang="en-US" dirty="0" smtClean="0"/>
              <a:t> In a "Car" frame:</a:t>
            </a:r>
          </a:p>
          <a:p>
            <a:pPr lvl="1" fontAlgn="base"/>
            <a:r>
              <a:rPr lang="en-US" b="1" dirty="0" smtClean="0"/>
              <a:t>Make:</a:t>
            </a:r>
            <a:r>
              <a:rPr lang="en-US" dirty="0" smtClean="0"/>
              <a:t> Default value could be "Unknown"</a:t>
            </a:r>
          </a:p>
          <a:p>
            <a:pPr lvl="1" fontAlgn="base"/>
            <a:r>
              <a:rPr lang="en-US" b="1" dirty="0" smtClean="0"/>
              <a:t>Model:</a:t>
            </a:r>
            <a:r>
              <a:rPr lang="en-US" dirty="0" smtClean="0"/>
              <a:t> Default value could be "Unknown"</a:t>
            </a:r>
          </a:p>
          <a:p>
            <a:pPr lvl="1" fontAlgn="base"/>
            <a:r>
              <a:rPr lang="en-US" b="1" dirty="0" smtClean="0"/>
              <a:t>Year:</a:t>
            </a:r>
            <a:r>
              <a:rPr lang="en-US" dirty="0" smtClean="0"/>
              <a:t> Default value could be the current year</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 Procedures</a:t>
            </a:r>
          </a:p>
          <a:p>
            <a:pPr lvl="1" fontAlgn="base"/>
            <a:r>
              <a:rPr lang="en-US" dirty="0" smtClean="0"/>
              <a:t>Procedures are methods or functions associated with frames that define how the information within the frame should be processed or utilized.</a:t>
            </a:r>
          </a:p>
          <a:p>
            <a:pPr lvl="1" fontAlgn="base"/>
            <a:r>
              <a:rPr lang="en-US" i="1" dirty="0" smtClean="0"/>
              <a:t>Example:</a:t>
            </a:r>
            <a:r>
              <a:rPr lang="en-US" dirty="0" smtClean="0"/>
              <a:t> In an "Account" frame:</a:t>
            </a:r>
          </a:p>
          <a:p>
            <a:pPr lvl="1" fontAlgn="base"/>
            <a:r>
              <a:rPr lang="en-US" b="1" dirty="0" smtClean="0"/>
              <a:t>Procedure:</a:t>
            </a:r>
            <a:r>
              <a:rPr lang="en-US" dirty="0" smtClean="0"/>
              <a:t> </a:t>
            </a:r>
            <a:r>
              <a:rPr lang="en-US" dirty="0" err="1" smtClean="0"/>
              <a:t>CalculateInterest</a:t>
            </a:r>
            <a:r>
              <a:rPr lang="en-US" dirty="0" smtClean="0"/>
              <a:t> - A method to compute interest based on the account balance.</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Example of Frame Inheritance</a:t>
            </a:r>
            <a:endParaRPr lang="en-US" dirty="0"/>
          </a:p>
        </p:txBody>
      </p:sp>
      <p:sp>
        <p:nvSpPr>
          <p:cNvPr id="3" name="Content Placeholder 2"/>
          <p:cNvSpPr>
            <a:spLocks noGrp="1"/>
          </p:cNvSpPr>
          <p:nvPr>
            <p:ph idx="1"/>
          </p:nvPr>
        </p:nvSpPr>
        <p:spPr/>
        <p:txBody>
          <a:bodyPr>
            <a:noAutofit/>
          </a:bodyPr>
          <a:lstStyle/>
          <a:p>
            <a:pPr fontAlgn="base"/>
            <a:r>
              <a:rPr lang="en-US" sz="2400" dirty="0" smtClean="0">
                <a:latin typeface="Times New Roman" pitchFamily="18" charset="0"/>
                <a:cs typeface="Times New Roman" pitchFamily="18" charset="0"/>
              </a:rPr>
              <a:t>Parent</a:t>
            </a:r>
            <a:r>
              <a:rPr lang="en-US" sz="28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Frame</a:t>
            </a:r>
            <a:r>
              <a:rPr lang="en-US" sz="28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LibraryItem</a:t>
            </a:r>
            <a:r>
              <a:rPr lang="en-US" sz="2800" dirty="0" smtClean="0">
                <a:latin typeface="Times New Roman" pitchFamily="18" charset="0"/>
                <a:cs typeface="Times New Roman" pitchFamily="18" charset="0"/>
              </a:rPr>
              <a:t>“</a:t>
            </a:r>
          </a:p>
          <a:p>
            <a:pPr lvl="1" fontAlgn="base"/>
            <a:r>
              <a:rPr lang="en-US" dirty="0" smtClean="0">
                <a:latin typeface="Times New Roman" pitchFamily="18" charset="0"/>
                <a:cs typeface="Times New Roman" pitchFamily="18" charset="0"/>
              </a:rPr>
              <a:t>Attributes</a:t>
            </a:r>
            <a:r>
              <a:rPr lang="en-US" sz="1600" dirty="0" smtClean="0">
                <a:latin typeface="Times New Roman" pitchFamily="18" charset="0"/>
                <a:cs typeface="Times New Roman" pitchFamily="18" charset="0"/>
              </a:rPr>
              <a:t>:</a:t>
            </a:r>
          </a:p>
          <a:p>
            <a:pPr lvl="2" fontAlgn="base"/>
            <a:r>
              <a:rPr lang="en-US" dirty="0" smtClean="0">
                <a:latin typeface="Times New Roman" pitchFamily="18" charset="0"/>
                <a:cs typeface="Times New Roman" pitchFamily="18" charset="0"/>
              </a:rPr>
              <a:t>Title</a:t>
            </a:r>
          </a:p>
          <a:p>
            <a:pPr lvl="2" fontAlgn="base"/>
            <a:r>
              <a:rPr lang="en-US" dirty="0" smtClean="0">
                <a:latin typeface="Times New Roman" pitchFamily="18" charset="0"/>
                <a:cs typeface="Times New Roman" pitchFamily="18" charset="0"/>
              </a:rPr>
              <a:t>Author</a:t>
            </a:r>
          </a:p>
          <a:p>
            <a:pPr lvl="2" fontAlgn="base"/>
            <a:r>
              <a:rPr lang="en-US" dirty="0" smtClean="0">
                <a:latin typeface="Times New Roman" pitchFamily="18" charset="0"/>
                <a:cs typeface="Times New Roman" pitchFamily="18" charset="0"/>
              </a:rPr>
              <a:t>Publication Year</a:t>
            </a:r>
          </a:p>
          <a:p>
            <a:pPr fontAlgn="base"/>
            <a:r>
              <a:rPr lang="en-US" sz="2800" b="1" dirty="0" smtClean="0">
                <a:latin typeface="Times New Roman" pitchFamily="18" charset="0"/>
                <a:cs typeface="Times New Roman" pitchFamily="18" charset="0"/>
              </a:rPr>
              <a:t>Child Frame 1</a:t>
            </a:r>
            <a:r>
              <a:rPr lang="en-US" sz="2800" dirty="0" smtClean="0">
                <a:latin typeface="Times New Roman" pitchFamily="18" charset="0"/>
                <a:cs typeface="Times New Roman" pitchFamily="18" charset="0"/>
              </a:rPr>
              <a:t>: "Book" (inherits from "</a:t>
            </a:r>
            <a:r>
              <a:rPr lang="en-US" sz="2800" dirty="0" err="1" smtClean="0">
                <a:latin typeface="Times New Roman" pitchFamily="18" charset="0"/>
                <a:cs typeface="Times New Roman" pitchFamily="18" charset="0"/>
              </a:rPr>
              <a:t>LibraryItem</a:t>
            </a:r>
            <a:r>
              <a:rPr lang="en-US" sz="28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1" fontAlgn="base"/>
            <a:r>
              <a:rPr lang="en-US" sz="2000" b="1" dirty="0" smtClean="0">
                <a:latin typeface="Times New Roman" pitchFamily="18" charset="0"/>
                <a:cs typeface="Times New Roman" pitchFamily="18" charset="0"/>
              </a:rPr>
              <a:t>Inherited Attributes</a:t>
            </a:r>
            <a:r>
              <a:rPr lang="en-US" sz="2000" dirty="0" smtClean="0">
                <a:latin typeface="Times New Roman" pitchFamily="18" charset="0"/>
                <a:cs typeface="Times New Roman" pitchFamily="18" charset="0"/>
              </a:rPr>
              <a:t>: Title, Author, Publication Year</a:t>
            </a:r>
          </a:p>
          <a:p>
            <a:pPr lvl="1" fontAlgn="base"/>
            <a:r>
              <a:rPr lang="en-US" sz="2000" b="1" dirty="0" smtClean="0">
                <a:latin typeface="Times New Roman" pitchFamily="18" charset="0"/>
                <a:cs typeface="Times New Roman" pitchFamily="18" charset="0"/>
              </a:rPr>
              <a:t>Extended Attributes</a:t>
            </a:r>
            <a:r>
              <a:rPr lang="en-US" sz="2000" dirty="0" smtClean="0">
                <a:latin typeface="Times New Roman" pitchFamily="18" charset="0"/>
                <a:cs typeface="Times New Roman" pitchFamily="18" charset="0"/>
              </a:rPr>
              <a:t>:</a:t>
            </a:r>
          </a:p>
          <a:p>
            <a:pPr lvl="2" fontAlgn="base"/>
            <a:r>
              <a:rPr lang="en-US" sz="1800" b="1" dirty="0" smtClean="0">
                <a:latin typeface="Times New Roman" pitchFamily="18" charset="0"/>
                <a:cs typeface="Times New Roman" pitchFamily="18" charset="0"/>
              </a:rPr>
              <a:t>ISBN</a:t>
            </a:r>
            <a:endParaRPr lang="en-US" sz="1800" dirty="0" smtClean="0">
              <a:latin typeface="Times New Roman" pitchFamily="18" charset="0"/>
              <a:cs typeface="Times New Roman" pitchFamily="18" charset="0"/>
            </a:endParaRPr>
          </a:p>
          <a:p>
            <a:pPr lvl="2" fontAlgn="base"/>
            <a:r>
              <a:rPr lang="en-US" sz="1800" b="1" dirty="0" smtClean="0">
                <a:latin typeface="Times New Roman" pitchFamily="18" charset="0"/>
                <a:cs typeface="Times New Roman" pitchFamily="18" charset="0"/>
              </a:rPr>
              <a:t>Genre</a:t>
            </a:r>
            <a:endParaRPr lang="en-US" sz="1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smtClean="0">
                <a:latin typeface="Times New Roman" pitchFamily="18" charset="0"/>
                <a:cs typeface="Times New Roman" pitchFamily="18" charset="0"/>
              </a:rPr>
              <a:t>Child Frame 2: "Magazine" (inherits from "</a:t>
            </a:r>
            <a:r>
              <a:rPr lang="en-US" dirty="0" err="1" smtClean="0">
                <a:latin typeface="Times New Roman" pitchFamily="18" charset="0"/>
                <a:cs typeface="Times New Roman" pitchFamily="18" charset="0"/>
              </a:rPr>
              <a:t>LibraryItem</a:t>
            </a:r>
            <a:r>
              <a:rPr lang="en-US" dirty="0" smtClean="0">
                <a:latin typeface="Times New Roman" pitchFamily="18" charset="0"/>
                <a:cs typeface="Times New Roman" pitchFamily="18" charset="0"/>
              </a:rPr>
              <a:t>")</a:t>
            </a:r>
          </a:p>
          <a:p>
            <a:pPr lvl="1" fontAlgn="base"/>
            <a:r>
              <a:rPr lang="en-US" sz="2400" dirty="0" smtClean="0">
                <a:latin typeface="Times New Roman" pitchFamily="18" charset="0"/>
                <a:cs typeface="Times New Roman" pitchFamily="18" charset="0"/>
              </a:rPr>
              <a:t>Inherited Attributes: Title, Author, Publication Year</a:t>
            </a:r>
          </a:p>
          <a:p>
            <a:pPr lvl="1" fontAlgn="base"/>
            <a:r>
              <a:rPr lang="en-US" sz="2400" dirty="0" smtClean="0">
                <a:latin typeface="Times New Roman" pitchFamily="18" charset="0"/>
                <a:cs typeface="Times New Roman" pitchFamily="18" charset="0"/>
              </a:rPr>
              <a:t>Extended Attributes:</a:t>
            </a:r>
          </a:p>
          <a:p>
            <a:pPr lvl="2" fontAlgn="base"/>
            <a:r>
              <a:rPr lang="en-US" sz="2000" dirty="0" smtClean="0">
                <a:latin typeface="Times New Roman" pitchFamily="18" charset="0"/>
                <a:cs typeface="Times New Roman" pitchFamily="18" charset="0"/>
              </a:rPr>
              <a:t>Issue Number</a:t>
            </a:r>
          </a:p>
          <a:p>
            <a:pPr lvl="2" fontAlgn="base"/>
            <a:r>
              <a:rPr lang="en-US" sz="2000" dirty="0" smtClean="0">
                <a:latin typeface="Times New Roman" pitchFamily="18" charset="0"/>
                <a:cs typeface="Times New Roman" pitchFamily="18" charset="0"/>
              </a:rPr>
              <a:t>Publisher</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Dependencies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Conceptual Dependency originally developed to represent knowledge acquired from natural language input.</a:t>
            </a:r>
          </a:p>
          <a:p>
            <a:r>
              <a:rPr lang="en-US" dirty="0" smtClean="0"/>
              <a:t>Helps computers understand the </a:t>
            </a:r>
            <a:r>
              <a:rPr lang="en-US" b="1" dirty="0" smtClean="0"/>
              <a:t>meaning</a:t>
            </a:r>
            <a:r>
              <a:rPr lang="en-US" dirty="0" smtClean="0"/>
              <a:t> of language rather than just the words.</a:t>
            </a:r>
          </a:p>
          <a:p>
            <a:r>
              <a:rPr lang="en-US" dirty="0" smtClean="0"/>
              <a:t> The goals of this theory are: </a:t>
            </a:r>
          </a:p>
          <a:p>
            <a:r>
              <a:rPr lang="en-US" dirty="0" smtClean="0"/>
              <a:t>To help in the drawing of conclusion from sentences. </a:t>
            </a:r>
          </a:p>
          <a:p>
            <a:pPr lvl="1"/>
            <a:r>
              <a:rPr lang="en-US" dirty="0" err="1" smtClean="0"/>
              <a:t>Eg</a:t>
            </a:r>
            <a:r>
              <a:rPr lang="en-US" dirty="0" smtClean="0"/>
              <a:t>: The system should be able to infer information that is not explicitly stated.</a:t>
            </a:r>
          </a:p>
          <a:p>
            <a:pPr lvl="1"/>
            <a:r>
              <a:rPr lang="en-US" dirty="0" smtClean="0"/>
              <a:t> Example: Sentence: "Ram gave </a:t>
            </a:r>
            <a:r>
              <a:rPr lang="en-US" dirty="0" err="1" smtClean="0"/>
              <a:t>Sita</a:t>
            </a:r>
            <a:r>
              <a:rPr lang="en-US" dirty="0" smtClean="0"/>
              <a:t> a book." </a:t>
            </a:r>
          </a:p>
          <a:p>
            <a:pPr lvl="1"/>
            <a:r>
              <a:rPr lang="en-US" dirty="0" smtClean="0"/>
              <a:t>The system can conclude: </a:t>
            </a:r>
          </a:p>
          <a:p>
            <a:pPr lvl="1"/>
            <a:r>
              <a:rPr lang="en-US" dirty="0" smtClean="0"/>
              <a:t>Ram had the book before giving it. </a:t>
            </a:r>
          </a:p>
          <a:p>
            <a:pPr lvl="1"/>
            <a:r>
              <a:rPr lang="en-US" dirty="0" err="1" smtClean="0"/>
              <a:t>Sita</a:t>
            </a:r>
            <a:r>
              <a:rPr lang="en-US" dirty="0" smtClean="0"/>
              <a:t> has the book after receiving it.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342900" lvl="1" indent="-342900">
              <a:buFont typeface="Arial" pitchFamily="34" charset="0"/>
              <a:buChar char="•"/>
            </a:pPr>
            <a:r>
              <a:rPr lang="en-US" dirty="0" smtClean="0"/>
              <a:t>To be independent of the words used in the original input. </a:t>
            </a:r>
          </a:p>
          <a:p>
            <a:pPr lvl="1"/>
            <a:r>
              <a:rPr lang="en-US" sz="2400" dirty="0" smtClean="0"/>
              <a:t>Different sentences with the same meaning should have the same internal representation. Example: "John gave Mary a pen." </a:t>
            </a:r>
          </a:p>
          <a:p>
            <a:pPr lvl="1"/>
            <a:r>
              <a:rPr lang="en-US" sz="2400" dirty="0" smtClean="0"/>
              <a:t>"Mary received a pen from John." </a:t>
            </a:r>
          </a:p>
          <a:p>
            <a:pPr lvl="1"/>
            <a:r>
              <a:rPr lang="en-US" sz="2400" dirty="0" smtClean="0"/>
              <a:t>Although the wording is different, both sentences represent the same action of transferring possession.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Examples of Primitive Acts </a:t>
            </a:r>
            <a:endParaRPr lang="en-US" dirty="0"/>
          </a:p>
        </p:txBody>
      </p:sp>
      <p:sp>
        <p:nvSpPr>
          <p:cNvPr id="3" name="Content Placeholder 2"/>
          <p:cNvSpPr>
            <a:spLocks noGrp="1"/>
          </p:cNvSpPr>
          <p:nvPr>
            <p:ph idx="1"/>
          </p:nvPr>
        </p:nvSpPr>
        <p:spPr/>
        <p:txBody>
          <a:bodyPr>
            <a:normAutofit fontScale="47500" lnSpcReduction="20000"/>
          </a:bodyPr>
          <a:lstStyle/>
          <a:p>
            <a:r>
              <a:rPr lang="en-US" sz="6000" dirty="0" smtClean="0"/>
              <a:t>ATRANS -- Transfer of an abstract relationship. e.g. give. </a:t>
            </a:r>
          </a:p>
          <a:p>
            <a:r>
              <a:rPr lang="en-US" sz="6000" dirty="0" smtClean="0"/>
              <a:t>PTRANS -- Transfer of the physical location of an object. e.g. go. </a:t>
            </a:r>
          </a:p>
          <a:p>
            <a:r>
              <a:rPr lang="en-US" sz="6000" dirty="0" smtClean="0"/>
              <a:t>PROPEL -- Application of a physical force to an object. e.g. push. </a:t>
            </a:r>
          </a:p>
          <a:p>
            <a:r>
              <a:rPr lang="en-US" sz="6000" dirty="0" smtClean="0"/>
              <a:t>MTRANS -- Transfer of mental information. e.g. tell. </a:t>
            </a:r>
          </a:p>
          <a:p>
            <a:r>
              <a:rPr lang="en-US" sz="6000" dirty="0" smtClean="0"/>
              <a:t>MBUILD -- Construct new information from old. e.g. decide. </a:t>
            </a:r>
          </a:p>
          <a:p>
            <a:r>
              <a:rPr lang="en-US" sz="6000" dirty="0" smtClean="0"/>
              <a:t>SPEAK -- Utter a sound. e.g. say.</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ATTEND -- Focus a sense on a stimulus. e.g. listen, watch. </a:t>
            </a:r>
          </a:p>
          <a:p>
            <a:r>
              <a:rPr lang="en-US" dirty="0" smtClean="0"/>
              <a:t>MOVE -- Movement of a body part by owner. e.g. punch, kick. </a:t>
            </a:r>
          </a:p>
          <a:p>
            <a:r>
              <a:rPr lang="en-US" dirty="0" smtClean="0"/>
              <a:t>GRASP -- Actor grasping an object. e.g. clutch. </a:t>
            </a:r>
          </a:p>
          <a:p>
            <a:r>
              <a:rPr lang="en-US" dirty="0" smtClean="0"/>
              <a:t>INGEST -- Actor ingesting an object. e.g. eat. </a:t>
            </a:r>
          </a:p>
          <a:p>
            <a:r>
              <a:rPr lang="en-US" dirty="0" smtClean="0"/>
              <a:t>EXPEL -- Actor getting rid of an object from body.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categories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ACT (Actions) :</a:t>
            </a:r>
          </a:p>
          <a:p>
            <a:pPr lvl="1"/>
            <a:r>
              <a:rPr lang="en-US" dirty="0" smtClean="0"/>
              <a:t>Represents an action or event (one of the CD primitives). </a:t>
            </a:r>
          </a:p>
          <a:p>
            <a:pPr lvl="1"/>
            <a:r>
              <a:rPr lang="en-US" dirty="0" smtClean="0"/>
              <a:t>Examples: eat, give, move, speak. </a:t>
            </a:r>
          </a:p>
          <a:p>
            <a:r>
              <a:rPr lang="en-US" dirty="0" smtClean="0"/>
              <a:t>PP (Picture Producer/Picture Procedure) :</a:t>
            </a:r>
          </a:p>
          <a:p>
            <a:pPr lvl="1"/>
            <a:r>
              <a:rPr lang="en-US" dirty="0" smtClean="0"/>
              <a:t>Objects Represents objects, people, or things involved in the action. </a:t>
            </a:r>
          </a:p>
          <a:p>
            <a:pPr lvl="1"/>
            <a:r>
              <a:rPr lang="en-US" dirty="0" smtClean="0"/>
              <a:t>Examples: Ram, book, ball, car. </a:t>
            </a:r>
          </a:p>
          <a:p>
            <a:r>
              <a:rPr lang="en-US" dirty="0" smtClean="0"/>
              <a:t>AA (Action Aider) </a:t>
            </a:r>
          </a:p>
          <a:p>
            <a:pPr lvl="1"/>
            <a:r>
              <a:rPr lang="en-US" dirty="0" smtClean="0"/>
              <a:t> Modifiers of actions Describes how an action is performed. </a:t>
            </a:r>
          </a:p>
          <a:p>
            <a:pPr lvl="1"/>
            <a:r>
              <a:rPr lang="en-US" dirty="0" smtClean="0"/>
              <a:t>Similar to adverbs. </a:t>
            </a:r>
          </a:p>
          <a:p>
            <a:pPr lvl="1"/>
            <a:r>
              <a:rPr lang="en-US" dirty="0" smtClean="0"/>
              <a:t>Examples: quickly, slowly, carefully. </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PA (Picture Aider) :</a:t>
            </a:r>
          </a:p>
          <a:p>
            <a:pPr lvl="1"/>
            <a:r>
              <a:rPr lang="en-US" dirty="0" smtClean="0"/>
              <a:t> Modifiers of PP's Describes the properties or attributes of objects. </a:t>
            </a:r>
          </a:p>
          <a:p>
            <a:pPr lvl="1"/>
            <a:r>
              <a:rPr lang="en-US" dirty="0" smtClean="0"/>
              <a:t>Similar to adjectives. </a:t>
            </a:r>
          </a:p>
          <a:p>
            <a:pPr lvl="1"/>
            <a:r>
              <a:rPr lang="en-US" dirty="0" smtClean="0"/>
              <a:t>Examples: red ball, tall boy, heavy box.</a:t>
            </a:r>
          </a:p>
          <a:p>
            <a:r>
              <a:rPr lang="en-US" dirty="0" smtClean="0"/>
              <a:t>Sentence: </a:t>
            </a:r>
            <a:r>
              <a:rPr lang="en-US" b="1" dirty="0" smtClean="0"/>
              <a:t>"The tall boy quickly kicked the red ball."</a:t>
            </a:r>
            <a:endParaRPr lang="en-US" dirty="0" smtClean="0"/>
          </a:p>
          <a:p>
            <a:r>
              <a:rPr lang="en-US" b="1" dirty="0" smtClean="0"/>
              <a:t>ACT:</a:t>
            </a:r>
            <a:r>
              <a:rPr lang="en-US" dirty="0" smtClean="0"/>
              <a:t> kicked </a:t>
            </a:r>
          </a:p>
          <a:p>
            <a:r>
              <a:rPr lang="en-US" b="1" dirty="0" smtClean="0"/>
              <a:t>PP:</a:t>
            </a:r>
            <a:r>
              <a:rPr lang="en-US" dirty="0" smtClean="0"/>
              <a:t> boy, ball </a:t>
            </a:r>
          </a:p>
          <a:p>
            <a:r>
              <a:rPr lang="en-US" b="1" dirty="0" smtClean="0"/>
              <a:t>AA:</a:t>
            </a:r>
            <a:r>
              <a:rPr lang="en-US" dirty="0" smtClean="0"/>
              <a:t> quickly </a:t>
            </a:r>
          </a:p>
          <a:p>
            <a:r>
              <a:rPr lang="en-US" b="1" dirty="0" smtClean="0"/>
              <a:t>PA:</a:t>
            </a:r>
            <a:r>
              <a:rPr lang="en-US" dirty="0" smtClean="0"/>
              <a:t> tall (modifies boy), red (modifies ball)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categories	</a:t>
            </a:r>
            <a:endParaRPr lang="en-US" dirty="0"/>
          </a:p>
        </p:txBody>
      </p:sp>
      <p:sp>
        <p:nvSpPr>
          <p:cNvPr id="3" name="Content Placeholder 2"/>
          <p:cNvSpPr>
            <a:spLocks noGrp="1"/>
          </p:cNvSpPr>
          <p:nvPr>
            <p:ph idx="1"/>
          </p:nvPr>
        </p:nvSpPr>
        <p:spPr/>
        <p:txBody>
          <a:bodyPr>
            <a:normAutofit/>
          </a:bodyPr>
          <a:lstStyle/>
          <a:p>
            <a:r>
              <a:rPr lang="en-US" sz="2800" dirty="0" smtClean="0"/>
              <a:t>Four conceptual categories:</a:t>
            </a:r>
          </a:p>
          <a:p>
            <a:pPr lvl="1"/>
            <a:r>
              <a:rPr lang="en-US" sz="2400" dirty="0" smtClean="0"/>
              <a:t>ACT: Actions ( one of the CD primitives)</a:t>
            </a:r>
          </a:p>
          <a:p>
            <a:pPr lvl="1"/>
            <a:r>
              <a:rPr lang="en-US" sz="2400" dirty="0" smtClean="0"/>
              <a:t>PP : Objects ( picture procedure)</a:t>
            </a:r>
          </a:p>
          <a:p>
            <a:pPr lvl="1"/>
            <a:r>
              <a:rPr lang="en-US" sz="2400" dirty="0" smtClean="0"/>
              <a:t>AA : modifier of actions ( action aiders)</a:t>
            </a:r>
          </a:p>
          <a:p>
            <a:pPr lvl="1"/>
            <a:r>
              <a:rPr lang="en-US" sz="2400" dirty="0" smtClean="0"/>
              <a:t>PA : Modifiers of PP’s ( picture aiders)</a:t>
            </a:r>
          </a:p>
          <a:p>
            <a:r>
              <a:rPr lang="en-US" sz="2800" dirty="0" smtClean="0"/>
              <a:t>Example1: I gave a book to the man. </a:t>
            </a:r>
          </a:p>
          <a:p>
            <a:pPr lvl="1"/>
            <a:r>
              <a:rPr lang="en-US" sz="2400" dirty="0" smtClean="0"/>
              <a:t>CD representation as follows:</a:t>
            </a:r>
          </a:p>
          <a:p>
            <a:pPr lvl="1"/>
            <a:r>
              <a:rPr lang="en-US" dirty="0" smtClean="0"/>
              <a:t>I            </a:t>
            </a:r>
            <a:r>
              <a:rPr lang="en-US" sz="2400" dirty="0" smtClean="0"/>
              <a:t>ATRANS</a:t>
            </a:r>
            <a:r>
              <a:rPr lang="en-US" dirty="0" smtClean="0"/>
              <a:t>        </a:t>
            </a:r>
            <a:r>
              <a:rPr lang="en-US" sz="2400" dirty="0" smtClean="0"/>
              <a:t>BOOK</a:t>
            </a:r>
            <a:r>
              <a:rPr lang="en-US" dirty="0" smtClean="0"/>
              <a:t> </a:t>
            </a:r>
          </a:p>
          <a:p>
            <a:pPr marL="457200" lvl="1" indent="0">
              <a:buNone/>
            </a:pPr>
            <a:r>
              <a:rPr lang="en-US" dirty="0" smtClean="0"/>
              <a:t> </a:t>
            </a:r>
          </a:p>
        </p:txBody>
      </p:sp>
      <p:sp>
        <p:nvSpPr>
          <p:cNvPr id="4" name="Left-Right Arrow 3"/>
          <p:cNvSpPr/>
          <p:nvPr/>
        </p:nvSpPr>
        <p:spPr>
          <a:xfrm>
            <a:off x="1600200" y="4953000"/>
            <a:ext cx="644237" cy="18010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H="1">
            <a:off x="3352800" y="5105400"/>
            <a:ext cx="5611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562600" y="4648200"/>
            <a:ext cx="10391" cy="8866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62600" y="4648200"/>
            <a:ext cx="613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0800000">
            <a:off x="5562600" y="5562600"/>
            <a:ext cx="765464"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4876800" y="5105400"/>
            <a:ext cx="6754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6172200" y="4495800"/>
            <a:ext cx="838200" cy="4849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MAN</a:t>
            </a:r>
            <a:endParaRPr lang="en-US" dirty="0"/>
          </a:p>
        </p:txBody>
      </p:sp>
      <p:sp>
        <p:nvSpPr>
          <p:cNvPr id="31" name="Rectangle 30"/>
          <p:cNvSpPr/>
          <p:nvPr/>
        </p:nvSpPr>
        <p:spPr>
          <a:xfrm>
            <a:off x="6248400" y="5334000"/>
            <a:ext cx="301337" cy="42949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a:t>
            </a:r>
          </a:p>
        </p:txBody>
      </p:sp>
    </p:spTree>
    <p:extLst>
      <p:ext uri="{BB962C8B-B14F-4D97-AF65-F5344CB8AC3E}">
        <p14:creationId xmlns:p14="http://schemas.microsoft.com/office/powerpoint/2010/main" xmlns="" val="30131651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Where,             indicates direction of dependency.</a:t>
            </a:r>
          </a:p>
          <a:p>
            <a:pPr marL="0" indent="0">
              <a:buNone/>
            </a:pPr>
            <a:r>
              <a:rPr lang="en-US" dirty="0" smtClean="0"/>
              <a:t> 		       indicates direction of dependency.</a:t>
            </a:r>
            <a:endParaRPr lang="en-US" dirty="0"/>
          </a:p>
        </p:txBody>
      </p:sp>
      <p:cxnSp>
        <p:nvCxnSpPr>
          <p:cNvPr id="4" name="Straight Arrow Connector 3"/>
          <p:cNvCxnSpPr/>
          <p:nvPr/>
        </p:nvCxnSpPr>
        <p:spPr>
          <a:xfrm flipH="1" flipV="1">
            <a:off x="2362200" y="1828800"/>
            <a:ext cx="415637" cy="6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Left-Right Arrow 5"/>
          <p:cNvSpPr/>
          <p:nvPr/>
        </p:nvSpPr>
        <p:spPr>
          <a:xfrm>
            <a:off x="1905000" y="2895600"/>
            <a:ext cx="561110" cy="13854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9144701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Rule 1: PP       ACT : it describes the relationship between an actor and the event he or she causes.</a:t>
            </a:r>
          </a:p>
          <a:p>
            <a:pPr lvl="1"/>
            <a:r>
              <a:rPr lang="en-US" dirty="0" err="1" smtClean="0"/>
              <a:t>Eg</a:t>
            </a:r>
            <a:r>
              <a:rPr lang="en-US" dirty="0" smtClean="0"/>
              <a:t>: John went.</a:t>
            </a:r>
          </a:p>
          <a:p>
            <a:pPr lvl="1"/>
            <a:r>
              <a:rPr lang="en-US" dirty="0" smtClean="0"/>
              <a:t>John  	 PTRANS </a:t>
            </a:r>
          </a:p>
          <a:p>
            <a:r>
              <a:rPr lang="en-US" dirty="0" smtClean="0"/>
              <a:t>Rule 2: ACT        PP: it describes relationship between ACT and a PP (object) of ACT.</a:t>
            </a:r>
          </a:p>
          <a:p>
            <a:pPr lvl="1"/>
            <a:r>
              <a:rPr lang="en-US" dirty="0" err="1" smtClean="0"/>
              <a:t>Eg</a:t>
            </a:r>
            <a:r>
              <a:rPr lang="en-US" dirty="0" smtClean="0"/>
              <a:t>: John pushed the bike.</a:t>
            </a:r>
          </a:p>
          <a:p>
            <a:pPr lvl="1"/>
            <a:r>
              <a:rPr lang="en-US" dirty="0" smtClean="0"/>
              <a:t>CD representation is : john         PROFEL        bike.</a:t>
            </a:r>
          </a:p>
          <a:p>
            <a:r>
              <a:rPr lang="en-US" dirty="0" smtClean="0"/>
              <a:t>Rule 3: PP       </a:t>
            </a:r>
            <a:r>
              <a:rPr lang="en-US" dirty="0" err="1" smtClean="0"/>
              <a:t>PP</a:t>
            </a:r>
            <a:r>
              <a:rPr lang="en-US" dirty="0" smtClean="0"/>
              <a:t> : It describes relationship between two PP one of which belongs to set defined by the other.</a:t>
            </a:r>
          </a:p>
          <a:p>
            <a:pPr lvl="1"/>
            <a:r>
              <a:rPr lang="en-US" dirty="0" err="1" smtClean="0"/>
              <a:t>Eg</a:t>
            </a:r>
            <a:r>
              <a:rPr lang="en-US" dirty="0" smtClean="0"/>
              <a:t>: John is a doctor.</a:t>
            </a:r>
          </a:p>
          <a:p>
            <a:pPr lvl="1"/>
            <a:r>
              <a:rPr lang="en-US" dirty="0" smtClean="0"/>
              <a:t>CD representation is : John            doctor</a:t>
            </a:r>
          </a:p>
          <a:p>
            <a:pPr lvl="1"/>
            <a:endParaRPr lang="en-US" dirty="0"/>
          </a:p>
        </p:txBody>
      </p:sp>
      <p:sp>
        <p:nvSpPr>
          <p:cNvPr id="4" name="Left-Right Arrow 3"/>
          <p:cNvSpPr/>
          <p:nvPr/>
        </p:nvSpPr>
        <p:spPr>
          <a:xfrm>
            <a:off x="2286000" y="1676400"/>
            <a:ext cx="259773" cy="1524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eft-Right Arrow 4"/>
          <p:cNvSpPr/>
          <p:nvPr/>
        </p:nvSpPr>
        <p:spPr>
          <a:xfrm>
            <a:off x="2057400" y="2743200"/>
            <a:ext cx="298739" cy="1017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2438400" y="3124200"/>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Left-Right Arrow 12"/>
          <p:cNvSpPr/>
          <p:nvPr/>
        </p:nvSpPr>
        <p:spPr>
          <a:xfrm>
            <a:off x="4419600" y="4038600"/>
            <a:ext cx="311727" cy="11083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H="1">
            <a:off x="5791200" y="4114800"/>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09800" y="4495800"/>
            <a:ext cx="324716" cy="1385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495800" y="5486400"/>
            <a:ext cx="467590" cy="138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7974124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92500" lnSpcReduction="20000"/>
          </a:bodyPr>
          <a:lstStyle/>
          <a:p>
            <a:r>
              <a:rPr lang="en-US" dirty="0" smtClean="0"/>
              <a:t>Rule 4: PP       </a:t>
            </a:r>
            <a:r>
              <a:rPr lang="en-US" dirty="0" err="1" smtClean="0"/>
              <a:t>PP</a:t>
            </a:r>
            <a:endParaRPr lang="en-US" dirty="0" smtClean="0"/>
          </a:p>
          <a:p>
            <a:pPr lvl="1"/>
            <a:r>
              <a:rPr lang="en-US" dirty="0" smtClean="0"/>
              <a:t>It describes the relationship between two PP’s one of which provides a ownership kind of information about the other.</a:t>
            </a:r>
          </a:p>
          <a:p>
            <a:pPr lvl="1"/>
            <a:r>
              <a:rPr lang="en-US" dirty="0" smtClean="0"/>
              <a:t>Eg5: John’s dog.</a:t>
            </a:r>
          </a:p>
          <a:p>
            <a:pPr lvl="1"/>
            <a:r>
              <a:rPr lang="en-US" dirty="0" smtClean="0"/>
              <a:t>CD representation is : dog            john</a:t>
            </a:r>
          </a:p>
          <a:p>
            <a:r>
              <a:rPr lang="en-US" dirty="0" smtClean="0"/>
              <a:t>Rule 5: PP     PA : it describes the relationship between a PP and PA that is asserted to describe it.</a:t>
            </a:r>
          </a:p>
          <a:p>
            <a:pPr lvl="1"/>
            <a:r>
              <a:rPr lang="en-US" dirty="0" err="1" smtClean="0"/>
              <a:t>Eg</a:t>
            </a:r>
            <a:r>
              <a:rPr lang="en-US" dirty="0" smtClean="0"/>
              <a:t>: John is fat.</a:t>
            </a:r>
          </a:p>
          <a:p>
            <a:pPr lvl="1"/>
            <a:r>
              <a:rPr lang="en-US" dirty="0" smtClean="0"/>
              <a:t>CD is represented as : John      weight ( &gt;80).</a:t>
            </a:r>
          </a:p>
        </p:txBody>
      </p:sp>
      <p:cxnSp>
        <p:nvCxnSpPr>
          <p:cNvPr id="5" name="Straight Arrow Connector 4"/>
          <p:cNvCxnSpPr/>
          <p:nvPr/>
        </p:nvCxnSpPr>
        <p:spPr>
          <a:xfrm flipH="1">
            <a:off x="2590800" y="1828800"/>
            <a:ext cx="3325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4953000" y="3657600"/>
            <a:ext cx="4883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800600" y="3124200"/>
            <a:ext cx="716971" cy="2078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Poss</a:t>
            </a:r>
            <a:r>
              <a:rPr lang="en-US" dirty="0" smtClean="0"/>
              <a:t>-by</a:t>
            </a:r>
            <a:endParaRPr lang="en-US" dirty="0"/>
          </a:p>
        </p:txBody>
      </p:sp>
      <p:sp>
        <p:nvSpPr>
          <p:cNvPr id="11" name="Left-Right Arrow 10"/>
          <p:cNvSpPr/>
          <p:nvPr/>
        </p:nvSpPr>
        <p:spPr>
          <a:xfrm>
            <a:off x="2514600" y="4038600"/>
            <a:ext cx="228599" cy="8529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4953000" y="5638800"/>
            <a:ext cx="228599" cy="8529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4829664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Scripts</a:t>
            </a:r>
            <a:endParaRPr lang="en-US" dirty="0"/>
          </a:p>
        </p:txBody>
      </p:sp>
      <p:sp>
        <p:nvSpPr>
          <p:cNvPr id="3" name="Content Placeholder 2"/>
          <p:cNvSpPr>
            <a:spLocks noGrp="1"/>
          </p:cNvSpPr>
          <p:nvPr>
            <p:ph idx="1"/>
          </p:nvPr>
        </p:nvSpPr>
        <p:spPr/>
        <p:txBody>
          <a:bodyPr/>
          <a:lstStyle/>
          <a:p>
            <a:r>
              <a:rPr lang="en-US" dirty="0" smtClean="0"/>
              <a:t>Used for knowledge representation.</a:t>
            </a:r>
          </a:p>
          <a:p>
            <a:r>
              <a:rPr lang="en-US" dirty="0" smtClean="0"/>
              <a:t>Scripts is a structure that prescribes a set of circumstances which could be expected to follow on from one another.</a:t>
            </a:r>
          </a:p>
          <a:p>
            <a:r>
              <a:rPr lang="en-US" dirty="0" smtClean="0"/>
              <a:t>Considered to consist of a no. of slots or frames but with more specialized roles.</a:t>
            </a:r>
          </a:p>
          <a:p>
            <a:endParaRPr lang="en-US" dirty="0"/>
          </a:p>
        </p:txBody>
      </p:sp>
    </p:spTree>
    <p:extLst>
      <p:ext uri="{BB962C8B-B14F-4D97-AF65-F5344CB8AC3E}">
        <p14:creationId xmlns:p14="http://schemas.microsoft.com/office/powerpoint/2010/main" xmlns="" val="347423976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65119" y="2050572"/>
            <a:ext cx="5278582" cy="4170119"/>
          </a:xfrm>
          <a:prstGeom prst="rect">
            <a:avLst/>
          </a:prstGeom>
        </p:spPr>
      </p:pic>
    </p:spTree>
    <p:extLst>
      <p:ext uri="{BB962C8B-B14F-4D97-AF65-F5344CB8AC3E}">
        <p14:creationId xmlns:p14="http://schemas.microsoft.com/office/powerpoint/2010/main" xmlns="" val="42548604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815614" y="1853334"/>
            <a:ext cx="4993227" cy="4351338"/>
          </a:xfrm>
          <a:prstGeom prst="rect">
            <a:avLst/>
          </a:prstGeom>
        </p:spPr>
      </p:pic>
    </p:spTree>
    <p:extLst>
      <p:ext uri="{BB962C8B-B14F-4D97-AF65-F5344CB8AC3E}">
        <p14:creationId xmlns:p14="http://schemas.microsoft.com/office/powerpoint/2010/main" xmlns="" val="24959736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scripts</a:t>
            </a:r>
            <a:endParaRPr lang="en-US" dirty="0"/>
          </a:p>
        </p:txBody>
      </p:sp>
      <p:sp>
        <p:nvSpPr>
          <p:cNvPr id="3" name="Content Placeholder 2"/>
          <p:cNvSpPr>
            <a:spLocks noGrp="1"/>
          </p:cNvSpPr>
          <p:nvPr>
            <p:ph idx="1"/>
          </p:nvPr>
        </p:nvSpPr>
        <p:spPr/>
        <p:txBody>
          <a:bodyPr>
            <a:noAutofit/>
          </a:bodyPr>
          <a:lstStyle/>
          <a:p>
            <a:r>
              <a:rPr lang="en-US" sz="2000" dirty="0" smtClean="0"/>
              <a:t>Roles: person involved in events. </a:t>
            </a:r>
            <a:r>
              <a:rPr lang="en-US" sz="2000" dirty="0" err="1" smtClean="0"/>
              <a:t>Eg</a:t>
            </a:r>
            <a:r>
              <a:rPr lang="en-US" sz="2000" dirty="0" smtClean="0"/>
              <a:t>: student appears exam. Here student is roles.</a:t>
            </a:r>
          </a:p>
          <a:p>
            <a:r>
              <a:rPr lang="en-US" sz="2000" dirty="0" smtClean="0"/>
              <a:t>Props: objects involved in event. </a:t>
            </a:r>
            <a:r>
              <a:rPr lang="en-US" sz="2000" dirty="0" err="1" smtClean="0"/>
              <a:t>Eg</a:t>
            </a:r>
            <a:r>
              <a:rPr lang="en-US" sz="2000" dirty="0" smtClean="0"/>
              <a:t>: for student to appear in exam pen, pencil are pros.</a:t>
            </a:r>
          </a:p>
          <a:p>
            <a:r>
              <a:rPr lang="en-US" sz="2000" dirty="0" smtClean="0"/>
              <a:t>Entry conditions: condition that need to be satisfied before event occur in scripts. For </a:t>
            </a:r>
            <a:r>
              <a:rPr lang="en-US" sz="2000" dirty="0" err="1" smtClean="0"/>
              <a:t>eg</a:t>
            </a:r>
            <a:r>
              <a:rPr lang="en-US" sz="2000" dirty="0" smtClean="0"/>
              <a:t>: entry condition can be student must clear </a:t>
            </a:r>
            <a:r>
              <a:rPr lang="en-US" sz="2000" dirty="0" err="1" smtClean="0"/>
              <a:t>tution</a:t>
            </a:r>
            <a:r>
              <a:rPr lang="en-US" sz="2000" dirty="0" smtClean="0"/>
              <a:t> fee or exam must be conducted.</a:t>
            </a:r>
          </a:p>
          <a:p>
            <a:r>
              <a:rPr lang="en-US" sz="2000" dirty="0" smtClean="0"/>
              <a:t>Results: results that will be true when event occurs mentioned in scripts.eg: students starts writing on answer sheet when he gets question paper so students writing is result.</a:t>
            </a:r>
          </a:p>
          <a:p>
            <a:r>
              <a:rPr lang="en-US" sz="2000" dirty="0" smtClean="0"/>
              <a:t>Track: variations on the script. For </a:t>
            </a:r>
            <a:r>
              <a:rPr lang="en-US" sz="2000" dirty="0" err="1" smtClean="0"/>
              <a:t>eg</a:t>
            </a:r>
            <a:r>
              <a:rPr lang="en-US" sz="2000" dirty="0" smtClean="0"/>
              <a:t> if we have script student going on exam then same slots may be shared on </a:t>
            </a:r>
            <a:r>
              <a:rPr lang="en-US" sz="2000" dirty="0" err="1" smtClean="0"/>
              <a:t>loksewa</a:t>
            </a:r>
            <a:r>
              <a:rPr lang="en-US" sz="2000" dirty="0" smtClean="0"/>
              <a:t> exam script and also on college board exam scripts.</a:t>
            </a:r>
          </a:p>
          <a:p>
            <a:r>
              <a:rPr lang="en-US" sz="2000" dirty="0" smtClean="0"/>
              <a:t>Scenes: sequence of events occur.</a:t>
            </a:r>
          </a:p>
          <a:p>
            <a:endParaRPr lang="en-US" sz="2000" dirty="0"/>
          </a:p>
        </p:txBody>
      </p:sp>
    </p:spTree>
    <p:extLst>
      <p:ext uri="{BB962C8B-B14F-4D97-AF65-F5344CB8AC3E}">
        <p14:creationId xmlns:p14="http://schemas.microsoft.com/office/powerpoint/2010/main" xmlns="" val="3647144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Rule based systems ( Production System)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rule based system  ( or production system) is a knowledge Based System ( KBS) in which the language is stored as rules, where the rules come from human experts in a particular domain.</a:t>
            </a:r>
          </a:p>
          <a:p>
            <a:r>
              <a:rPr lang="en-US" dirty="0" smtClean="0"/>
              <a:t>It represent knowledge in the form of condition-action pairs called production rules.</a:t>
            </a:r>
          </a:p>
          <a:p>
            <a:r>
              <a:rPr lang="en-US" dirty="0" smtClean="0"/>
              <a:t>If condition C is satisfied then the action A is appropriate.</a:t>
            </a:r>
          </a:p>
          <a:p>
            <a:r>
              <a:rPr lang="en-US" dirty="0" smtClean="0"/>
              <a:t>Example:</a:t>
            </a:r>
          </a:p>
          <a:p>
            <a:pPr lvl="1"/>
            <a:r>
              <a:rPr lang="en-US" dirty="0" smtClean="0"/>
              <a:t>If it is raining then open the umbrella.</a:t>
            </a:r>
          </a:p>
          <a:p>
            <a:pPr lvl="1"/>
            <a:r>
              <a:rPr lang="en-US" dirty="0" smtClean="0"/>
              <a:t>If Ram is a man then Ram is a person.</a:t>
            </a:r>
            <a:endParaRPr lang="en-US" dirty="0"/>
          </a:p>
        </p:txBody>
      </p:sp>
    </p:spTree>
    <p:extLst>
      <p:ext uri="{BB962C8B-B14F-4D97-AF65-F5344CB8AC3E}">
        <p14:creationId xmlns:p14="http://schemas.microsoft.com/office/powerpoint/2010/main" xmlns="" val="42824665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RBS the knowledge is separated from AI reasoning processes, which means that new RBS are easy to create.</a:t>
            </a:r>
          </a:p>
          <a:p>
            <a:r>
              <a:rPr lang="en-US" dirty="0" smtClean="0"/>
              <a:t>The syntax is :</a:t>
            </a:r>
          </a:p>
          <a:p>
            <a:pPr lvl="1"/>
            <a:r>
              <a:rPr lang="en-US" dirty="0" smtClean="0"/>
              <a:t>IF &lt; premise&gt; THEN &lt; action&gt;</a:t>
            </a:r>
          </a:p>
          <a:p>
            <a:r>
              <a:rPr lang="en-US" dirty="0" smtClean="0"/>
              <a:t>Components:</a:t>
            </a:r>
          </a:p>
          <a:p>
            <a:pPr lvl="1"/>
            <a:r>
              <a:rPr lang="en-US" dirty="0" smtClean="0"/>
              <a:t>Working memory: small memory into which only appropriate rules are copied.</a:t>
            </a:r>
          </a:p>
          <a:p>
            <a:pPr lvl="1"/>
            <a:r>
              <a:rPr lang="en-US" dirty="0" smtClean="0"/>
              <a:t>Rule Based: to facilitate efficient access to the antecedent.</a:t>
            </a:r>
          </a:p>
          <a:p>
            <a:pPr lvl="2"/>
            <a:r>
              <a:rPr lang="en-US" dirty="0" err="1" smtClean="0"/>
              <a:t>Eg</a:t>
            </a:r>
            <a:r>
              <a:rPr lang="en-US" dirty="0" smtClean="0"/>
              <a:t>: IF (temperature &gt; 100°F)  THEN (status = "overheated"), here temperature &gt; 100°F is antecedent.</a:t>
            </a:r>
          </a:p>
          <a:p>
            <a:pPr lvl="1"/>
            <a:r>
              <a:rPr lang="en-US" dirty="0" smtClean="0"/>
              <a:t>Interpreter: processing engine.</a:t>
            </a:r>
          </a:p>
          <a:p>
            <a:pPr lvl="2"/>
            <a:endParaRPr lang="en-US" dirty="0" smtClean="0"/>
          </a:p>
        </p:txBody>
      </p:sp>
    </p:spTree>
    <p:extLst>
      <p:ext uri="{BB962C8B-B14F-4D97-AF65-F5344CB8AC3E}">
        <p14:creationId xmlns:p14="http://schemas.microsoft.com/office/powerpoint/2010/main" xmlns="" val="28070303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Tautology</a:t>
            </a:r>
            <a:endParaRPr lang="en-US" dirty="0"/>
          </a:p>
        </p:txBody>
      </p:sp>
      <p:sp>
        <p:nvSpPr>
          <p:cNvPr id="3" name="Content Placeholder 2"/>
          <p:cNvSpPr>
            <a:spLocks noGrp="1"/>
          </p:cNvSpPr>
          <p:nvPr>
            <p:ph idx="1"/>
          </p:nvPr>
        </p:nvSpPr>
        <p:spPr/>
        <p:txBody>
          <a:bodyPr>
            <a:normAutofit fontScale="92500" lnSpcReduction="20000"/>
          </a:bodyPr>
          <a:lstStyle/>
          <a:p>
            <a:r>
              <a:rPr lang="en-US" dirty="0"/>
              <a:t>T</a:t>
            </a:r>
            <a:r>
              <a:rPr lang="en-US" dirty="0" smtClean="0"/>
              <a:t>autology is a statement that is always true, no matter what the truth values of its components are.</a:t>
            </a:r>
          </a:p>
          <a:p>
            <a:r>
              <a:rPr lang="en-US" dirty="0" smtClean="0"/>
              <a:t>It’s a formula or proposition that cannot be false under any interpretation.</a:t>
            </a:r>
          </a:p>
          <a:p>
            <a:r>
              <a:rPr lang="en-US" dirty="0" smtClean="0"/>
              <a:t>Examples of tautologies:</a:t>
            </a:r>
          </a:p>
          <a:p>
            <a:r>
              <a:rPr lang="en-US" dirty="0" smtClean="0"/>
              <a:t>“It will either rain tomorrow or it will not rain tomorrow.”</a:t>
            </a:r>
            <a:br>
              <a:rPr lang="en-US" dirty="0" smtClean="0"/>
            </a:br>
            <a:r>
              <a:rPr lang="en-US" dirty="0" smtClean="0"/>
              <a:t>(This is always true because it covers all possibilities.)</a:t>
            </a:r>
          </a:p>
          <a:p>
            <a:r>
              <a:rPr lang="en-US" dirty="0" smtClean="0"/>
              <a:t>In logic notation:</a:t>
            </a:r>
          </a:p>
          <a:p>
            <a:endParaRPr lang="en-US" dirty="0" smtClean="0"/>
          </a:p>
          <a:p>
            <a:endParaRPr lang="en-US" dirty="0"/>
          </a:p>
        </p:txBody>
      </p:sp>
      <p:pic>
        <p:nvPicPr>
          <p:cNvPr id="5" name="Picture 4"/>
          <p:cNvPicPr>
            <a:picLocks noChangeAspect="1"/>
          </p:cNvPicPr>
          <p:nvPr/>
        </p:nvPicPr>
        <p:blipFill>
          <a:blip r:embed="rId2"/>
          <a:stretch>
            <a:fillRect/>
          </a:stretch>
        </p:blipFill>
        <p:spPr>
          <a:xfrm>
            <a:off x="3657600" y="5410200"/>
            <a:ext cx="1141108" cy="728256"/>
          </a:xfrm>
          <a:prstGeom prst="rect">
            <a:avLst/>
          </a:prstGeom>
        </p:spPr>
      </p:pic>
    </p:spTree>
    <p:extLst>
      <p:ext uri="{BB962C8B-B14F-4D97-AF65-F5344CB8AC3E}">
        <p14:creationId xmlns:p14="http://schemas.microsoft.com/office/powerpoint/2010/main" xmlns="" val="31661998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Validity in propositional logic</a:t>
            </a:r>
            <a:endParaRPr lang="en-US" dirty="0"/>
          </a:p>
        </p:txBody>
      </p:sp>
      <p:sp>
        <p:nvSpPr>
          <p:cNvPr id="3" name="Content Placeholder 2"/>
          <p:cNvSpPr>
            <a:spLocks noGrp="1"/>
          </p:cNvSpPr>
          <p:nvPr>
            <p:ph idx="1"/>
          </p:nvPr>
        </p:nvSpPr>
        <p:spPr/>
        <p:txBody>
          <a:bodyPr/>
          <a:lstStyle/>
          <a:p>
            <a:r>
              <a:rPr lang="en-US" sz="2800" dirty="0" smtClean="0"/>
              <a:t>A sentence is said to be valid if it is true in all models.</a:t>
            </a:r>
          </a:p>
          <a:p>
            <a:r>
              <a:rPr lang="en-US" sz="2800" dirty="0" smtClean="0"/>
              <a:t>Valid sentences are also knows as tautologies.</a:t>
            </a:r>
          </a:p>
          <a:p>
            <a:r>
              <a:rPr lang="en-US" sz="2800" dirty="0" smtClean="0"/>
              <a:t>Every valid sentence is logically equivalent to TRUE.</a:t>
            </a:r>
          </a:p>
          <a:p>
            <a:r>
              <a:rPr lang="en-US" dirty="0" err="1" smtClean="0"/>
              <a:t>Eg</a:t>
            </a:r>
            <a:r>
              <a:rPr lang="en-US" dirty="0" smtClean="0"/>
              <a:t>: A</a:t>
            </a:r>
            <a:r>
              <a:rPr lang="en-US" sz="3600" dirty="0" smtClean="0"/>
              <a:t>∨</a:t>
            </a:r>
            <a:r>
              <a:rPr lang="en-US" dirty="0" smtClean="0"/>
              <a:t>¬A</a:t>
            </a:r>
          </a:p>
          <a:p>
            <a:r>
              <a:rPr lang="en-US" dirty="0" smtClean="0"/>
              <a:t>Prove how </a:t>
            </a:r>
            <a:r>
              <a:rPr lang="en-US" sz="2400" dirty="0" smtClean="0"/>
              <a:t>: A</a:t>
            </a:r>
            <a:r>
              <a:rPr lang="en-US" sz="3200" dirty="0" smtClean="0"/>
              <a:t>∨</a:t>
            </a:r>
            <a:r>
              <a:rPr lang="en-US" sz="2400" dirty="0" smtClean="0"/>
              <a:t>¬A is valid? Use truth table.</a:t>
            </a:r>
          </a:p>
          <a:p>
            <a:pPr marL="0" indent="0">
              <a:buNone/>
            </a:pP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xmlns="" val="2202134853"/>
              </p:ext>
            </p:extLst>
          </p:nvPr>
        </p:nvGraphicFramePr>
        <p:xfrm>
          <a:off x="1191492" y="4501957"/>
          <a:ext cx="2133600" cy="1473200"/>
        </p:xfrm>
        <a:graphic>
          <a:graphicData uri="http://schemas.openxmlformats.org/drawingml/2006/table">
            <a:tbl>
              <a:tblPr firstRow="1" bandRow="1">
                <a:tableStyleId>{5940675A-B579-460E-94D1-54222C63F5DA}</a:tableStyleId>
              </a:tblPr>
              <a:tblGrid>
                <a:gridCol w="711200">
                  <a:extLst>
                    <a:ext uri="{9D8B030D-6E8A-4147-A177-3AD203B41FA5}">
                      <a16:colId xmlns:a16="http://schemas.microsoft.com/office/drawing/2014/main" xmlns="" val="2009603941"/>
                    </a:ext>
                  </a:extLst>
                </a:gridCol>
                <a:gridCol w="711200">
                  <a:extLst>
                    <a:ext uri="{9D8B030D-6E8A-4147-A177-3AD203B41FA5}">
                      <a16:colId xmlns:a16="http://schemas.microsoft.com/office/drawing/2014/main" xmlns="" val="2337613610"/>
                    </a:ext>
                  </a:extLst>
                </a:gridCol>
                <a:gridCol w="711200">
                  <a:extLst>
                    <a:ext uri="{9D8B030D-6E8A-4147-A177-3AD203B41FA5}">
                      <a16:colId xmlns:a16="http://schemas.microsoft.com/office/drawing/2014/main" xmlns="" val="968818849"/>
                    </a:ext>
                  </a:extLst>
                </a:gridCol>
              </a:tblGrid>
              <a:tr h="370840">
                <a:tc>
                  <a:txBody>
                    <a:bodyPr/>
                    <a:lstStyle/>
                    <a:p>
                      <a:r>
                        <a:rPr lang="en-US" dirty="0" smtClean="0"/>
                        <a:t>A</a:t>
                      </a:r>
                      <a:endParaRPr lang="en-US" dirty="0"/>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a:t>
                      </a:r>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a:t>
                      </a:r>
                      <a:r>
                        <a:rPr lang="en-US" sz="2400" dirty="0" smtClean="0"/>
                        <a:t>∨</a:t>
                      </a:r>
                      <a:r>
                        <a:rPr lang="en-US" dirty="0" smtClean="0"/>
                        <a:t>¬A</a:t>
                      </a:r>
                    </a:p>
                    <a:p>
                      <a:endParaRPr lang="en-US" dirty="0"/>
                    </a:p>
                  </a:txBody>
                  <a:tcPr marL="68580" marR="68580"/>
                </a:tc>
                <a:extLst>
                  <a:ext uri="{0D108BD9-81ED-4DB2-BD59-A6C34878D82A}">
                    <a16:rowId xmlns:a16="http://schemas.microsoft.com/office/drawing/2014/main" xmlns="" val="346752345"/>
                  </a:ext>
                </a:extLst>
              </a:tr>
              <a:tr h="370840">
                <a:tc>
                  <a:txBody>
                    <a:bodyPr/>
                    <a:lstStyle/>
                    <a:p>
                      <a:r>
                        <a:rPr lang="en-US" dirty="0" smtClean="0"/>
                        <a:t>T</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extLst>
                  <a:ext uri="{0D108BD9-81ED-4DB2-BD59-A6C34878D82A}">
                    <a16:rowId xmlns:a16="http://schemas.microsoft.com/office/drawing/2014/main" xmlns="" val="3844310459"/>
                  </a:ext>
                </a:extLst>
              </a:tr>
              <a:tr h="370840">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T</a:t>
                      </a:r>
                      <a:endParaRPr lang="en-US" dirty="0"/>
                    </a:p>
                  </a:txBody>
                  <a:tcPr marL="68580" marR="68580"/>
                </a:tc>
                <a:extLst>
                  <a:ext uri="{0D108BD9-81ED-4DB2-BD59-A6C34878D82A}">
                    <a16:rowId xmlns:a16="http://schemas.microsoft.com/office/drawing/2014/main" xmlns="" val="482374339"/>
                  </a:ext>
                </a:extLst>
              </a:tr>
            </a:tbl>
          </a:graphicData>
        </a:graphic>
      </p:graphicFrame>
    </p:spTree>
    <p:extLst>
      <p:ext uri="{BB962C8B-B14F-4D97-AF65-F5344CB8AC3E}">
        <p14:creationId xmlns:p14="http://schemas.microsoft.com/office/powerpoint/2010/main" xmlns="" val="20212417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Satisfiability in propositional logic</a:t>
            </a:r>
            <a:endParaRPr lang="en-US" dirty="0"/>
          </a:p>
        </p:txBody>
      </p:sp>
      <p:sp>
        <p:nvSpPr>
          <p:cNvPr id="3" name="Content Placeholder 2"/>
          <p:cNvSpPr>
            <a:spLocks noGrp="1"/>
          </p:cNvSpPr>
          <p:nvPr>
            <p:ph idx="1"/>
          </p:nvPr>
        </p:nvSpPr>
        <p:spPr/>
        <p:txBody>
          <a:bodyPr/>
          <a:lstStyle/>
          <a:p>
            <a:r>
              <a:rPr lang="en-US" dirty="0" smtClean="0"/>
              <a:t>A sentence is satisfiable if it is true in some model.</a:t>
            </a:r>
          </a:p>
          <a:p>
            <a:pPr lvl="1"/>
            <a:r>
              <a:rPr lang="en-US" dirty="0" err="1" smtClean="0"/>
              <a:t>Eg</a:t>
            </a:r>
            <a:r>
              <a:rPr lang="en-US" dirty="0" smtClean="0"/>
              <a:t>: : A</a:t>
            </a:r>
            <a:r>
              <a:rPr lang="en-US" sz="3200" b="1" dirty="0" smtClean="0"/>
              <a:t>∨</a:t>
            </a:r>
            <a:r>
              <a:rPr lang="en-US" dirty="0" smtClean="0"/>
              <a:t>A</a:t>
            </a:r>
          </a:p>
          <a:p>
            <a:r>
              <a:rPr lang="en-US" dirty="0" smtClean="0"/>
              <a:t>A sentence is unsatisfiable if it is true in no model.</a:t>
            </a:r>
          </a:p>
          <a:p>
            <a:pPr lvl="1"/>
            <a:r>
              <a:rPr lang="en-US" dirty="0" err="1" smtClean="0"/>
              <a:t>Eg</a:t>
            </a:r>
            <a:r>
              <a:rPr lang="en-US" dirty="0" smtClean="0"/>
              <a:t>: A</a:t>
            </a:r>
            <a:r>
              <a:rPr lang="en-US" sz="3200" b="1" dirty="0"/>
              <a:t>∧</a:t>
            </a:r>
            <a:r>
              <a:rPr lang="en-US" dirty="0" smtClean="0"/>
              <a:t>¬A</a:t>
            </a:r>
          </a:p>
          <a:p>
            <a:pPr lvl="1"/>
            <a:endParaRPr lang="en-US" dirty="0" smtClean="0"/>
          </a:p>
          <a:p>
            <a:endParaRPr lang="en-US" dirty="0" smtClean="0"/>
          </a:p>
        </p:txBody>
      </p:sp>
    </p:spTree>
    <p:extLst>
      <p:ext uri="{BB962C8B-B14F-4D97-AF65-F5344CB8AC3E}">
        <p14:creationId xmlns:p14="http://schemas.microsoft.com/office/powerpoint/2010/main" xmlns="" val="9212721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Forward chaining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Forward chaining is the logical process of inferring unknown truth from know data in knowledge base and moving forward using determined conditions and rules to find a solution.</a:t>
            </a:r>
          </a:p>
          <a:p>
            <a:r>
              <a:rPr lang="en-US" dirty="0" smtClean="0"/>
              <a:t>It is also known as data driven reasoning.</a:t>
            </a:r>
          </a:p>
          <a:p>
            <a:r>
              <a:rPr lang="en-US" dirty="0" smtClean="0"/>
              <a:t>It is a process of making conclusion based on known facts of data by starting from the initial state and reach the goal state.</a:t>
            </a:r>
          </a:p>
          <a:p>
            <a:r>
              <a:rPr lang="en-US" dirty="0" smtClean="0"/>
              <a:t>Forward chaining is commonly used in expert system.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Background Chaining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background chaining algorithm is a form of reasoning, which starts with the goal and works background, chaining through rules to find known facts support the goal.</a:t>
            </a:r>
          </a:p>
          <a:p>
            <a:r>
              <a:rPr lang="en-US" dirty="0" smtClean="0"/>
              <a:t>It is based on modus ponens inference rules.</a:t>
            </a:r>
          </a:p>
          <a:p>
            <a:r>
              <a:rPr lang="en-US" dirty="0" smtClean="0"/>
              <a:t>A background chaining, the goal is broken into sub-goal or sub-goals to prove the facts true.</a:t>
            </a:r>
          </a:p>
          <a:p>
            <a:r>
              <a:rPr lang="en-US" dirty="0" smtClean="0"/>
              <a:t>It is called a goal-driven approach as a list of goal decides which rules are selected and used.</a:t>
            </a:r>
          </a:p>
          <a:p>
            <a:r>
              <a:rPr lang="en-US" dirty="0" smtClean="0"/>
              <a:t>Backward-chaining algorithm is used in game theory, automated theorem proving tools, inference engines, and various AI applications.</a:t>
            </a:r>
          </a:p>
          <a:p>
            <a:r>
              <a:rPr lang="en-US" dirty="0" smtClean="0"/>
              <a:t>The backward-chaining method mostly used a depth-first search strategy for proof.</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Lifting  </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In Artificial Intelligence (AI), lifting refers to reasoning or representing problems at an abstract, symbolic level using variables and general rules, rather than at the concrete or specific (ground) level.</a:t>
            </a:r>
          </a:p>
          <a:p>
            <a:r>
              <a:rPr lang="en-US" dirty="0" smtClean="0"/>
              <a:t>Lifting in Logical Inference</a:t>
            </a:r>
          </a:p>
          <a:p>
            <a:pPr lvl="1"/>
            <a:r>
              <a:rPr lang="en-US" dirty="0" smtClean="0"/>
              <a:t>∀x (Human(x) → Mortal(x)) → </a:t>
            </a:r>
            <a:r>
              <a:rPr lang="en-US" i="1" dirty="0" smtClean="0"/>
              <a:t>All humans are mortal</a:t>
            </a:r>
          </a:p>
          <a:p>
            <a:pPr lvl="1"/>
            <a:r>
              <a:rPr lang="en-US" dirty="0" smtClean="0"/>
              <a:t>Human(Socrates) → </a:t>
            </a:r>
            <a:r>
              <a:rPr lang="en-US" i="1" dirty="0" smtClean="0"/>
              <a:t>Socrates is a human</a:t>
            </a:r>
          </a:p>
          <a:p>
            <a:pPr lvl="1"/>
            <a:r>
              <a:rPr lang="en-US" dirty="0" smtClean="0"/>
              <a:t>Lifting: Instead of applying this rule separately for each human, the rule is </a:t>
            </a:r>
            <a:r>
              <a:rPr lang="en-US" b="1" dirty="0" smtClean="0"/>
              <a:t>lifted</a:t>
            </a:r>
            <a:r>
              <a:rPr lang="en-US" dirty="0" smtClean="0"/>
              <a:t>: it applies </a:t>
            </a:r>
            <a:r>
              <a:rPr lang="en-US" b="1" dirty="0" smtClean="0"/>
              <a:t>generically to any </a:t>
            </a:r>
            <a:r>
              <a:rPr lang="en-US" dirty="0" smtClean="0"/>
              <a:t>x</a:t>
            </a:r>
          </a:p>
          <a:p>
            <a:r>
              <a:rPr lang="en-US" dirty="0" smtClean="0"/>
              <a:t>Lifting in Machine Learning (Inductive Logic Programming)</a:t>
            </a:r>
          </a:p>
          <a:p>
            <a:pPr lvl="1"/>
            <a:r>
              <a:rPr lang="en-US" dirty="0" smtClean="0"/>
              <a:t>You have training data</a:t>
            </a:r>
          </a:p>
          <a:p>
            <a:pPr lvl="1"/>
            <a:r>
              <a:rPr lang="en-US" dirty="0" smtClean="0"/>
              <a:t>Cat(Whiskers)</a:t>
            </a:r>
          </a:p>
          <a:p>
            <a:pPr lvl="1"/>
            <a:r>
              <a:rPr lang="en-US" dirty="0" err="1" smtClean="0"/>
              <a:t>HasTail</a:t>
            </a:r>
            <a:r>
              <a:rPr lang="en-US" dirty="0" smtClean="0"/>
              <a:t>(Whiskers)</a:t>
            </a:r>
          </a:p>
          <a:p>
            <a:pPr lvl="1"/>
            <a:r>
              <a:rPr lang="en-US" dirty="0" smtClean="0"/>
              <a:t>Cat(Felix)</a:t>
            </a:r>
          </a:p>
          <a:p>
            <a:pPr lvl="1"/>
            <a:r>
              <a:rPr lang="en-US" dirty="0" err="1" smtClean="0"/>
              <a:t>HasTail</a:t>
            </a:r>
            <a:r>
              <a:rPr lang="en-US" dirty="0" smtClean="0"/>
              <a:t>(Felix)</a:t>
            </a:r>
          </a:p>
          <a:p>
            <a:pPr lvl="1"/>
            <a:r>
              <a:rPr lang="en-US" dirty="0" smtClean="0"/>
              <a:t>Learn a </a:t>
            </a:r>
            <a:r>
              <a:rPr lang="en-US" b="1" dirty="0" smtClean="0"/>
              <a:t>general rule</a:t>
            </a:r>
            <a:r>
              <a:rPr lang="en-US" dirty="0" smtClean="0"/>
              <a:t>: ∀x. Cat(x) → </a:t>
            </a:r>
            <a:r>
              <a:rPr lang="en-US" dirty="0" err="1" smtClean="0"/>
              <a:t>HasTail</a:t>
            </a:r>
            <a:r>
              <a:rPr lang="en-US" dirty="0" smtClean="0"/>
              <a:t>(x)</a:t>
            </a:r>
          </a:p>
          <a:p>
            <a:endParaRPr lang="en-US" dirty="0"/>
          </a:p>
        </p:txBody>
      </p:sp>
    </p:spTree>
    <p:extLst>
      <p:ext uri="{BB962C8B-B14F-4D97-AF65-F5344CB8AC3E}">
        <p14:creationId xmlns:p14="http://schemas.microsoft.com/office/powerpoint/2010/main" xmlns="" val="42244904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FOPL (First-Order Predicate Logic)</a:t>
            </a:r>
            <a:endParaRPr lang="en-US" dirty="0"/>
          </a:p>
        </p:txBody>
      </p:sp>
      <p:sp>
        <p:nvSpPr>
          <p:cNvPr id="3" name="Content Placeholder 2"/>
          <p:cNvSpPr>
            <a:spLocks noGrp="1"/>
          </p:cNvSpPr>
          <p:nvPr>
            <p:ph idx="1"/>
          </p:nvPr>
        </p:nvSpPr>
        <p:spPr/>
        <p:txBody>
          <a:bodyPr>
            <a:normAutofit fontScale="92500" lnSpcReduction="10000"/>
          </a:bodyPr>
          <a:lstStyle/>
          <a:p>
            <a:r>
              <a:rPr lang="en-US" sz="2800" dirty="0" smtClean="0">
                <a:latin typeface="+mj-lt"/>
              </a:rPr>
              <a:t>First-Order </a:t>
            </a:r>
            <a:r>
              <a:rPr lang="en-US" sz="2800" dirty="0" smtClean="0">
                <a:latin typeface="+mj-lt"/>
              </a:rPr>
              <a:t>Predicate Logic is a system of logic that represents objects, their properties, and the relationships between objects using predicates, variables, constants, functions, logical connectives, and quantifiers</a:t>
            </a:r>
            <a:r>
              <a:rPr lang="en-US" sz="2800" dirty="0" smtClean="0">
                <a:latin typeface="+mj-lt"/>
              </a:rPr>
              <a:t>.</a:t>
            </a:r>
          </a:p>
          <a:p>
            <a:r>
              <a:rPr lang="en-US" sz="2800" dirty="0" smtClean="0"/>
              <a:t>For example, suppose the universe of discourse is </a:t>
            </a:r>
            <a:r>
              <a:rPr lang="en-US" sz="2800" b="1" dirty="0" smtClean="0"/>
              <a:t>student in BSCSIT 4</a:t>
            </a:r>
            <a:r>
              <a:rPr lang="en-US" sz="2800" b="1" baseline="30000" dirty="0" smtClean="0"/>
              <a:t>th</a:t>
            </a:r>
            <a:r>
              <a:rPr lang="en-US" sz="2800" b="1" dirty="0" smtClean="0"/>
              <a:t> </a:t>
            </a:r>
            <a:r>
              <a:rPr lang="en-US" sz="2800" b="1" dirty="0" err="1" smtClean="0"/>
              <a:t>sem</a:t>
            </a:r>
            <a:r>
              <a:rPr lang="en-US" sz="2800" b="1" dirty="0" smtClean="0"/>
              <a:t> </a:t>
            </a:r>
            <a:r>
              <a:rPr lang="en-US" sz="2800" dirty="0" smtClean="0"/>
              <a:t>then</a:t>
            </a:r>
            <a:r>
              <a:rPr lang="en-US" sz="2800" b="1" dirty="0" smtClean="0"/>
              <a:t>,</a:t>
            </a:r>
            <a:endParaRPr lang="en-US" sz="2800" b="1" dirty="0" smtClean="0"/>
          </a:p>
          <a:p>
            <a:pPr lvl="1"/>
            <a:r>
              <a:rPr lang="en-US" sz="2400" b="1" dirty="0" smtClean="0">
                <a:latin typeface="+mj-lt"/>
                <a:cs typeface="Times New Roman" pitchFamily="18" charset="0"/>
              </a:rPr>
              <a:t>Objects</a:t>
            </a:r>
            <a:r>
              <a:rPr lang="en-US" sz="2400" b="1" dirty="0" smtClean="0">
                <a:latin typeface="+mj-lt"/>
                <a:cs typeface="Times New Roman" pitchFamily="18" charset="0"/>
                <a:sym typeface="Wingdings" pitchFamily="2" charset="2"/>
              </a:rPr>
              <a:t>: ( </a:t>
            </a:r>
            <a:r>
              <a:rPr lang="en-US" sz="2400" b="1" dirty="0" err="1" smtClean="0">
                <a:latin typeface="+mj-lt"/>
                <a:cs typeface="Times New Roman" pitchFamily="18" charset="0"/>
                <a:sym typeface="Wingdings" pitchFamily="2" charset="2"/>
              </a:rPr>
              <a:t>Shyam</a:t>
            </a:r>
            <a:r>
              <a:rPr lang="en-US" sz="2400" b="1" dirty="0" smtClean="0">
                <a:latin typeface="+mj-lt"/>
                <a:cs typeface="Times New Roman" pitchFamily="18" charset="0"/>
                <a:sym typeface="Wingdings" pitchFamily="2" charset="2"/>
              </a:rPr>
              <a:t>, </a:t>
            </a:r>
            <a:r>
              <a:rPr lang="en-US" sz="2400" b="1" dirty="0" err="1" smtClean="0">
                <a:latin typeface="+mj-lt"/>
                <a:cs typeface="Times New Roman" pitchFamily="18" charset="0"/>
                <a:sym typeface="Wingdings" pitchFamily="2" charset="2"/>
              </a:rPr>
              <a:t>Sahan</a:t>
            </a:r>
            <a:r>
              <a:rPr lang="en-US" sz="2400" b="1" dirty="0" smtClean="0">
                <a:latin typeface="+mj-lt"/>
                <a:cs typeface="Times New Roman" pitchFamily="18" charset="0"/>
                <a:sym typeface="Wingdings" pitchFamily="2" charset="2"/>
              </a:rPr>
              <a:t>, </a:t>
            </a:r>
            <a:r>
              <a:rPr lang="en-US" sz="2400" b="1" dirty="0" err="1" smtClean="0">
                <a:latin typeface="+mj-lt"/>
                <a:cs typeface="Times New Roman" pitchFamily="18" charset="0"/>
                <a:sym typeface="Wingdings" pitchFamily="2" charset="2"/>
              </a:rPr>
              <a:t>Sohil</a:t>
            </a:r>
            <a:r>
              <a:rPr lang="en-US" sz="2400" b="1" dirty="0" smtClean="0">
                <a:latin typeface="+mj-lt"/>
                <a:cs typeface="Times New Roman" pitchFamily="18" charset="0"/>
                <a:sym typeface="Wingdings" pitchFamily="2" charset="2"/>
              </a:rPr>
              <a:t>, </a:t>
            </a:r>
            <a:r>
              <a:rPr lang="en-US" sz="2400" b="1" dirty="0" err="1" smtClean="0">
                <a:latin typeface="+mj-lt"/>
                <a:cs typeface="Times New Roman" pitchFamily="18" charset="0"/>
                <a:sym typeface="Wingdings" pitchFamily="2" charset="2"/>
              </a:rPr>
              <a:t>Anushka</a:t>
            </a:r>
            <a:r>
              <a:rPr lang="en-US" sz="2400" b="1" dirty="0" smtClean="0">
                <a:latin typeface="+mj-lt"/>
                <a:cs typeface="Times New Roman" pitchFamily="18" charset="0"/>
                <a:sym typeface="Wingdings" pitchFamily="2" charset="2"/>
              </a:rPr>
              <a:t>)</a:t>
            </a:r>
          </a:p>
          <a:p>
            <a:pPr lvl="1"/>
            <a:r>
              <a:rPr lang="en-US" sz="2400" b="1" dirty="0" smtClean="0">
                <a:latin typeface="+mj-lt"/>
                <a:cs typeface="Times New Roman" pitchFamily="18" charset="0"/>
                <a:sym typeface="Wingdings" pitchFamily="2" charset="2"/>
              </a:rPr>
              <a:t>Student (x)</a:t>
            </a:r>
          </a:p>
          <a:p>
            <a:pPr lvl="1"/>
            <a:r>
              <a:rPr lang="en-US" sz="2400" b="1" dirty="0" smtClean="0">
                <a:latin typeface="+mj-lt"/>
                <a:cs typeface="Times New Roman" pitchFamily="18" charset="0"/>
                <a:sym typeface="Wingdings" pitchFamily="2" charset="2"/>
              </a:rPr>
              <a:t>x holds any value of </a:t>
            </a:r>
            <a:r>
              <a:rPr lang="en-US" sz="2400" b="1" dirty="0" smtClean="0">
                <a:latin typeface="+mj-lt"/>
                <a:cs typeface="Times New Roman" pitchFamily="18" charset="0"/>
                <a:sym typeface="Wingdings" pitchFamily="2" charset="2"/>
              </a:rPr>
              <a:t>objects.</a:t>
            </a:r>
          </a:p>
          <a:p>
            <a:pPr lvl="1"/>
            <a:r>
              <a:rPr lang="en-US" sz="2400" b="1" dirty="0" smtClean="0">
                <a:latin typeface="+mj-lt"/>
                <a:cs typeface="Times New Roman" pitchFamily="18" charset="0"/>
                <a:sym typeface="Wingdings" pitchFamily="2" charset="2"/>
              </a:rPr>
              <a:t>In FOPL objects are represented by  “CONSTANT”.</a:t>
            </a:r>
          </a:p>
          <a:p>
            <a:pPr lvl="1"/>
            <a:r>
              <a:rPr lang="en-US" sz="2400" b="1" dirty="0" smtClean="0">
                <a:latin typeface="+mj-lt"/>
                <a:cs typeface="Times New Roman" pitchFamily="18" charset="0"/>
                <a:sym typeface="Wingdings" pitchFamily="2" charset="2"/>
              </a:rPr>
              <a:t>‘Student’ is predicate. </a:t>
            </a:r>
          </a:p>
          <a:p>
            <a:pPr lvl="1"/>
            <a:endParaRPr lang="en-US" sz="2400" b="1" dirty="0" smtClean="0">
              <a:latin typeface="+mj-lt"/>
              <a:cs typeface="Times New Roman" pitchFamily="18" charset="0"/>
              <a:sym typeface="Wingdings" pitchFamily="2" charset="2"/>
            </a:endParaRPr>
          </a:p>
          <a:p>
            <a:pPr lvl="1"/>
            <a:endParaRPr lang="en-US" sz="2400"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Components of FOPL</a:t>
            </a:r>
            <a:endParaRPr lang="en-US" dirty="0"/>
          </a:p>
        </p:txBody>
      </p:sp>
      <p:sp>
        <p:nvSpPr>
          <p:cNvPr id="3" name="Content Placeholder 2"/>
          <p:cNvSpPr>
            <a:spLocks noGrp="1"/>
          </p:cNvSpPr>
          <p:nvPr>
            <p:ph idx="1"/>
          </p:nvPr>
        </p:nvSpPr>
        <p:spPr/>
        <p:txBody>
          <a:bodyPr>
            <a:noAutofit/>
          </a:bodyPr>
          <a:lstStyle/>
          <a:p>
            <a:r>
              <a:rPr lang="en-US" sz="2400" b="1" dirty="0" smtClean="0">
                <a:latin typeface="+mj-lt"/>
                <a:cs typeface="Times New Roman" pitchFamily="18" charset="0"/>
              </a:rPr>
              <a:t>Constants</a:t>
            </a:r>
            <a:r>
              <a:rPr lang="en-US" sz="2400" dirty="0" smtClean="0">
                <a:latin typeface="+mj-lt"/>
                <a:cs typeface="Times New Roman" pitchFamily="18" charset="0"/>
              </a:rPr>
              <a:t> </a:t>
            </a:r>
          </a:p>
          <a:p>
            <a:pPr lvl="1"/>
            <a:r>
              <a:rPr lang="en-US" sz="1800" dirty="0" smtClean="0">
                <a:latin typeface="+mj-lt"/>
                <a:cs typeface="Times New Roman" pitchFamily="18" charset="0"/>
              </a:rPr>
              <a:t>Represent specific objects. </a:t>
            </a:r>
          </a:p>
          <a:p>
            <a:pPr lvl="2"/>
            <a:r>
              <a:rPr lang="en-US" sz="1800" dirty="0" smtClean="0">
                <a:latin typeface="+mj-lt"/>
                <a:cs typeface="Times New Roman" pitchFamily="18" charset="0"/>
              </a:rPr>
              <a:t>Examples: </a:t>
            </a:r>
            <a:r>
              <a:rPr lang="en-US" sz="1600" dirty="0" smtClean="0">
                <a:latin typeface="+mj-lt"/>
                <a:cs typeface="Times New Roman" pitchFamily="18" charset="0"/>
              </a:rPr>
              <a:t>Ram ,Kathmandu .5</a:t>
            </a:r>
            <a:endParaRPr lang="en-US" sz="1800" dirty="0" smtClean="0">
              <a:latin typeface="+mj-lt"/>
              <a:cs typeface="Times New Roman" pitchFamily="18" charset="0"/>
            </a:endParaRPr>
          </a:p>
          <a:p>
            <a:r>
              <a:rPr lang="en-US" sz="2400" b="1" dirty="0" smtClean="0">
                <a:latin typeface="+mj-lt"/>
                <a:cs typeface="Times New Roman" pitchFamily="18" charset="0"/>
              </a:rPr>
              <a:t>Variables</a:t>
            </a:r>
            <a:r>
              <a:rPr lang="en-US" sz="2400" dirty="0" smtClean="0">
                <a:latin typeface="+mj-lt"/>
                <a:cs typeface="Times New Roman" pitchFamily="18" charset="0"/>
              </a:rPr>
              <a:t> </a:t>
            </a:r>
          </a:p>
          <a:p>
            <a:pPr lvl="1"/>
            <a:r>
              <a:rPr lang="en-US" sz="1800" dirty="0" smtClean="0">
                <a:latin typeface="+mj-lt"/>
                <a:cs typeface="Times New Roman" pitchFamily="18" charset="0"/>
              </a:rPr>
              <a:t>Represent any object in the universe of discourse. </a:t>
            </a:r>
          </a:p>
          <a:p>
            <a:pPr lvl="1"/>
            <a:r>
              <a:rPr lang="en-US" sz="1800" dirty="0" smtClean="0">
                <a:latin typeface="+mj-lt"/>
                <a:cs typeface="Times New Roman" pitchFamily="18" charset="0"/>
              </a:rPr>
              <a:t>Examples: </a:t>
            </a:r>
            <a:r>
              <a:rPr lang="en-US" sz="1600" dirty="0" smtClean="0">
                <a:latin typeface="+mj-lt"/>
                <a:cs typeface="Times New Roman" pitchFamily="18" charset="0"/>
              </a:rPr>
              <a:t>x ,y ,z </a:t>
            </a:r>
          </a:p>
          <a:p>
            <a:r>
              <a:rPr lang="en-US" sz="2400" b="1" dirty="0" smtClean="0">
                <a:latin typeface="+mj-lt"/>
                <a:cs typeface="Times New Roman" pitchFamily="18" charset="0"/>
              </a:rPr>
              <a:t>Predicates</a:t>
            </a:r>
            <a:r>
              <a:rPr lang="en-US" sz="2400" dirty="0" smtClean="0">
                <a:latin typeface="+mj-lt"/>
                <a:cs typeface="Times New Roman" pitchFamily="18" charset="0"/>
              </a:rPr>
              <a:t> </a:t>
            </a:r>
          </a:p>
          <a:p>
            <a:pPr lvl="1"/>
            <a:r>
              <a:rPr lang="en-US" sz="1800" dirty="0" smtClean="0">
                <a:latin typeface="+mj-lt"/>
                <a:cs typeface="Times New Roman" pitchFamily="18" charset="0"/>
              </a:rPr>
              <a:t>Represent properties of objects or relationships between objects. </a:t>
            </a:r>
          </a:p>
          <a:p>
            <a:pPr lvl="1"/>
            <a:r>
              <a:rPr lang="en-US" sz="1800" dirty="0" smtClean="0">
                <a:latin typeface="+mj-lt"/>
                <a:cs typeface="Times New Roman" pitchFamily="18" charset="0"/>
              </a:rPr>
              <a:t>Examples: </a:t>
            </a:r>
          </a:p>
          <a:p>
            <a:pPr lvl="2"/>
            <a:r>
              <a:rPr lang="en-US" sz="1600" dirty="0" smtClean="0">
                <a:latin typeface="+mj-lt"/>
                <a:cs typeface="Times New Roman" pitchFamily="18" charset="0"/>
              </a:rPr>
              <a:t>Student(x) → x is a student. </a:t>
            </a:r>
          </a:p>
          <a:p>
            <a:pPr lvl="2"/>
            <a:r>
              <a:rPr lang="en-US" sz="1600" dirty="0" smtClean="0">
                <a:latin typeface="+mj-lt"/>
                <a:cs typeface="Times New Roman" pitchFamily="18" charset="0"/>
              </a:rPr>
              <a:t>Likes(Ram, Apple) → Ram likes apples. </a:t>
            </a:r>
          </a:p>
          <a:p>
            <a:pPr lvl="2"/>
            <a:r>
              <a:rPr lang="en-US" sz="1600" dirty="0" smtClean="0">
                <a:latin typeface="+mj-lt"/>
                <a:cs typeface="Times New Roman" pitchFamily="18" charset="0"/>
              </a:rPr>
              <a:t>Greater(5, 3) → 5 is greater than 3.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Functions</a:t>
            </a:r>
            <a:r>
              <a:rPr lang="en-US" dirty="0" smtClean="0"/>
              <a:t> </a:t>
            </a:r>
          </a:p>
          <a:p>
            <a:pPr lvl="1"/>
            <a:r>
              <a:rPr lang="en-US" dirty="0" smtClean="0"/>
              <a:t>Return an object. </a:t>
            </a:r>
          </a:p>
          <a:p>
            <a:pPr lvl="1"/>
            <a:r>
              <a:rPr lang="en-US" dirty="0" smtClean="0"/>
              <a:t>Examples: </a:t>
            </a:r>
            <a:r>
              <a:rPr lang="en-US" dirty="0" smtClean="0"/>
              <a:t>Ram's </a:t>
            </a:r>
            <a:r>
              <a:rPr lang="en-US" dirty="0" smtClean="0"/>
              <a:t>father is </a:t>
            </a:r>
            <a:r>
              <a:rPr lang="en-US" dirty="0" err="1" smtClean="0"/>
              <a:t>Shyam</a:t>
            </a:r>
            <a:r>
              <a:rPr lang="en-US" dirty="0" smtClean="0"/>
              <a:t>. </a:t>
            </a:r>
            <a:endParaRPr lang="en-US" dirty="0" smtClean="0"/>
          </a:p>
          <a:p>
            <a:pPr lvl="2"/>
            <a:r>
              <a:rPr lang="en-US" dirty="0" smtClean="0"/>
              <a:t>It can be written as </a:t>
            </a:r>
            <a:r>
              <a:rPr lang="en-US" dirty="0" err="1" smtClean="0"/>
              <a:t>FatherOf</a:t>
            </a:r>
            <a:r>
              <a:rPr lang="en-US" dirty="0" smtClean="0"/>
              <a:t>(Ram) = </a:t>
            </a:r>
            <a:r>
              <a:rPr lang="en-US" dirty="0" err="1" smtClean="0"/>
              <a:t>Shyam</a:t>
            </a:r>
            <a:endParaRPr lang="en-US" dirty="0" smtClean="0"/>
          </a:p>
          <a:p>
            <a:pPr lvl="1"/>
            <a:r>
              <a:rPr lang="en-US" dirty="0" smtClean="0"/>
              <a:t>Here:</a:t>
            </a:r>
          </a:p>
          <a:p>
            <a:pPr lvl="1"/>
            <a:r>
              <a:rPr lang="en-US" b="1" dirty="0" smtClean="0"/>
              <a:t>Input:</a:t>
            </a:r>
            <a:r>
              <a:rPr lang="en-US" dirty="0" smtClean="0"/>
              <a:t> Ram (an object) </a:t>
            </a:r>
          </a:p>
          <a:p>
            <a:pPr lvl="1"/>
            <a:r>
              <a:rPr lang="en-US" b="1" dirty="0" smtClean="0"/>
              <a:t>Function:</a:t>
            </a:r>
            <a:r>
              <a:rPr lang="en-US" dirty="0" smtClean="0"/>
              <a:t> </a:t>
            </a:r>
            <a:r>
              <a:rPr lang="en-US" dirty="0" err="1" smtClean="0"/>
              <a:t>FatherOf</a:t>
            </a:r>
            <a:r>
              <a:rPr lang="en-US" dirty="0" smtClean="0"/>
              <a:t> </a:t>
            </a:r>
          </a:p>
          <a:p>
            <a:pPr lvl="1"/>
            <a:r>
              <a:rPr lang="en-US" b="1" dirty="0" smtClean="0"/>
              <a:t>Output:</a:t>
            </a:r>
            <a:r>
              <a:rPr lang="en-US" dirty="0" smtClean="0"/>
              <a:t> </a:t>
            </a:r>
            <a:r>
              <a:rPr lang="en-US" dirty="0" err="1" smtClean="0"/>
              <a:t>Shyam</a:t>
            </a:r>
            <a:r>
              <a:rPr lang="en-US" dirty="0" smtClean="0"/>
              <a:t> (another object)</a:t>
            </a:r>
          </a:p>
          <a:p>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lvl="2"/>
            <a:endParaRPr lang="en-US" dirty="0" smtClean="0"/>
          </a:p>
          <a:p>
            <a:r>
              <a:rPr lang="en-US" b="1" dirty="0" smtClean="0"/>
              <a:t>Logical Connectives</a:t>
            </a:r>
            <a:r>
              <a:rPr lang="en-US" dirty="0" smtClean="0"/>
              <a:t> </a:t>
            </a:r>
          </a:p>
          <a:p>
            <a:pPr lvl="1"/>
            <a:r>
              <a:rPr lang="en-US" dirty="0" smtClean="0"/>
              <a:t>∧ (AND) </a:t>
            </a:r>
          </a:p>
          <a:p>
            <a:pPr lvl="1"/>
            <a:r>
              <a:rPr lang="en-US" dirty="0" smtClean="0"/>
              <a:t>∨ (OR) </a:t>
            </a:r>
          </a:p>
          <a:p>
            <a:pPr lvl="1"/>
            <a:r>
              <a:rPr lang="en-US" dirty="0" smtClean="0"/>
              <a:t>¬ (NOT) </a:t>
            </a:r>
          </a:p>
          <a:p>
            <a:pPr lvl="1"/>
            <a:r>
              <a:rPr lang="en-US" dirty="0" smtClean="0"/>
              <a:t>→ (IMPLIES) </a:t>
            </a:r>
          </a:p>
          <a:p>
            <a:pPr lvl="1"/>
            <a:r>
              <a:rPr lang="en-US" dirty="0" smtClean="0"/>
              <a:t>↔ (IF AND ONLY IF) </a:t>
            </a:r>
          </a:p>
          <a:p>
            <a:r>
              <a:rPr lang="en-US" b="1" dirty="0" smtClean="0"/>
              <a:t>Quantifiers</a:t>
            </a:r>
            <a:r>
              <a:rPr lang="en-US" dirty="0" smtClean="0"/>
              <a:t> </a:t>
            </a:r>
          </a:p>
          <a:p>
            <a:pPr lvl="1"/>
            <a:r>
              <a:rPr lang="en-US" b="1" dirty="0" smtClean="0"/>
              <a:t>Universal Quantifier (∀)</a:t>
            </a:r>
            <a:r>
              <a:rPr lang="en-US" dirty="0" smtClean="0"/>
              <a:t>: "For all" </a:t>
            </a:r>
          </a:p>
          <a:p>
            <a:pPr lvl="2"/>
            <a:r>
              <a:rPr lang="en-US" dirty="0" smtClean="0"/>
              <a:t>Example:</a:t>
            </a:r>
          </a:p>
          <a:p>
            <a:pPr lvl="2"/>
            <a:r>
              <a:rPr lang="en-US" dirty="0" smtClean="0"/>
              <a:t>∀</a:t>
            </a:r>
            <a:r>
              <a:rPr lang="en-US" dirty="0" err="1" smtClean="0"/>
              <a:t>xStudent</a:t>
            </a:r>
            <a:r>
              <a:rPr lang="en-US" dirty="0" smtClean="0"/>
              <a:t>(x)→Human(x) </a:t>
            </a:r>
          </a:p>
          <a:p>
            <a:pPr lvl="2"/>
            <a:r>
              <a:rPr lang="en-US" dirty="0" smtClean="0"/>
              <a:t>Meaning</a:t>
            </a:r>
            <a:r>
              <a:rPr lang="en-US" dirty="0" smtClean="0"/>
              <a:t>: Every student is a human</a:t>
            </a:r>
            <a:r>
              <a:rPr lang="en-US" dirty="0" smtClean="0"/>
              <a:t>.</a:t>
            </a:r>
            <a:endParaRPr lang="en-US" b="1" dirty="0" smtClean="0"/>
          </a:p>
          <a:p>
            <a:pPr lvl="1"/>
            <a:r>
              <a:rPr lang="en-US" b="1" dirty="0" smtClean="0"/>
              <a:t>Existential </a:t>
            </a:r>
            <a:r>
              <a:rPr lang="en-US" b="1" dirty="0" smtClean="0"/>
              <a:t>Quantifier (∃)</a:t>
            </a:r>
            <a:r>
              <a:rPr lang="en-US" dirty="0" smtClean="0"/>
              <a:t>: "There exists" </a:t>
            </a:r>
          </a:p>
          <a:p>
            <a:pPr lvl="2"/>
            <a:r>
              <a:rPr lang="en-US" dirty="0" smtClean="0"/>
              <a:t>Example:</a:t>
            </a:r>
          </a:p>
          <a:p>
            <a:pPr lvl="2"/>
            <a:r>
              <a:rPr lang="en-US" dirty="0" smtClean="0"/>
              <a:t>Student(x</a:t>
            </a:r>
            <a:r>
              <a:rPr lang="en-US" dirty="0" smtClean="0"/>
              <a:t>)∃</a:t>
            </a:r>
            <a:r>
              <a:rPr lang="en-US" dirty="0" err="1" smtClean="0"/>
              <a:t>xStudent</a:t>
            </a:r>
            <a:r>
              <a:rPr lang="en-US" dirty="0" smtClean="0"/>
              <a:t>(x) </a:t>
            </a:r>
            <a:endParaRPr lang="en-US" dirty="0" smtClean="0"/>
          </a:p>
          <a:p>
            <a:pPr lvl="2"/>
            <a:r>
              <a:rPr lang="en-US" dirty="0" smtClean="0"/>
              <a:t>Meaning</a:t>
            </a:r>
            <a:r>
              <a:rPr lang="en-US" dirty="0" smtClean="0"/>
              <a:t>: There exists at least one student.</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Quantifier </a:t>
            </a:r>
            <a:endParaRPr lang="en-US" dirty="0"/>
          </a:p>
        </p:txBody>
      </p:sp>
      <p:sp>
        <p:nvSpPr>
          <p:cNvPr id="3" name="Content Placeholder 2"/>
          <p:cNvSpPr>
            <a:spLocks noGrp="1"/>
          </p:cNvSpPr>
          <p:nvPr>
            <p:ph idx="1"/>
          </p:nvPr>
        </p:nvSpPr>
        <p:spPr/>
        <p:txBody>
          <a:bodyPr/>
          <a:lstStyle/>
          <a:p>
            <a:r>
              <a:rPr lang="en-US" dirty="0" smtClean="0"/>
              <a:t>∀</a:t>
            </a:r>
            <a:r>
              <a:rPr lang="en-US" dirty="0" err="1" smtClean="0"/>
              <a:t>x∀</a:t>
            </a:r>
            <a:r>
              <a:rPr lang="en-US" dirty="0" err="1" smtClean="0"/>
              <a:t>y</a:t>
            </a:r>
            <a:r>
              <a:rPr lang="en-US" dirty="0" smtClean="0"/>
              <a:t>≡∀</a:t>
            </a:r>
            <a:r>
              <a:rPr lang="en-US" dirty="0" err="1" smtClean="0"/>
              <a:t>y∀</a:t>
            </a:r>
            <a:r>
              <a:rPr lang="en-US" dirty="0" err="1" smtClean="0"/>
              <a:t>x</a:t>
            </a:r>
            <a:endParaRPr lang="en-US" dirty="0" smtClean="0"/>
          </a:p>
          <a:p>
            <a:r>
              <a:rPr lang="en-US" dirty="0" smtClean="0"/>
              <a:t>∃</a:t>
            </a:r>
            <a:r>
              <a:rPr lang="en-US" dirty="0" err="1" smtClean="0"/>
              <a:t>x∃</a:t>
            </a:r>
            <a:r>
              <a:rPr lang="en-US" dirty="0" err="1" smtClean="0"/>
              <a:t>y</a:t>
            </a:r>
            <a:r>
              <a:rPr lang="en-US" dirty="0" smtClean="0"/>
              <a:t>≡∃</a:t>
            </a:r>
            <a:r>
              <a:rPr lang="en-US" dirty="0" err="1" smtClean="0"/>
              <a:t>y∃</a:t>
            </a:r>
            <a:r>
              <a:rPr lang="en-US" dirty="0" err="1" smtClean="0"/>
              <a:t>x</a:t>
            </a:r>
            <a:endParaRPr lang="en-US" dirty="0" smtClean="0"/>
          </a:p>
          <a:p>
            <a:r>
              <a:rPr lang="en-US" dirty="0" smtClean="0"/>
              <a:t>∀</a:t>
            </a:r>
            <a:r>
              <a:rPr lang="en-US" dirty="0" err="1" smtClean="0"/>
              <a:t>x∃</a:t>
            </a:r>
            <a:r>
              <a:rPr lang="en-US" dirty="0" err="1" smtClean="0"/>
              <a:t>y</a:t>
            </a:r>
            <a:r>
              <a:rPr lang="en-US" dirty="0" smtClean="0"/>
              <a:t> not equals </a:t>
            </a:r>
            <a:r>
              <a:rPr lang="en-US" dirty="0" err="1" smtClean="0"/>
              <a:t>to∃</a:t>
            </a:r>
            <a:r>
              <a:rPr lang="en-US" dirty="0" err="1" smtClean="0"/>
              <a:t>y∀x</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uncertain knowledge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Agents need to handle </a:t>
            </a:r>
            <a:r>
              <a:rPr lang="en-US" dirty="0" err="1" smtClean="0"/>
              <a:t>uncertainity</a:t>
            </a:r>
            <a:r>
              <a:rPr lang="en-US" dirty="0" smtClean="0"/>
              <a:t> whether due to partial observability, no-determinism or combination of both.</a:t>
            </a:r>
          </a:p>
          <a:p>
            <a:r>
              <a:rPr lang="en-US" dirty="0" smtClean="0"/>
              <a:t>An agent may never know for certain what state it in or where it will end up after sequence of actions.</a:t>
            </a:r>
          </a:p>
          <a:p>
            <a:r>
              <a:rPr lang="en-US" dirty="0" smtClean="0"/>
              <a:t>Although agent already have the knowledge about environment but due to some external natural factor agent will not be able to achieve actual mathematical interpretation goal, so it must take decision by analyzing external factors and that decision is called rational decision.</a:t>
            </a:r>
          </a:p>
          <a:p>
            <a:r>
              <a:rPr lang="en-US" dirty="0" err="1" smtClean="0"/>
              <a:t>Eg</a:t>
            </a:r>
            <a:r>
              <a:rPr lang="en-US" dirty="0" smtClean="0"/>
              <a:t> automated decision.</a:t>
            </a:r>
          </a:p>
        </p:txBody>
      </p:sp>
    </p:spTree>
    <p:extLst>
      <p:ext uri="{BB962C8B-B14F-4D97-AF65-F5344CB8AC3E}">
        <p14:creationId xmlns:p14="http://schemas.microsoft.com/office/powerpoint/2010/main" xmlns="" val="360944956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Lets take another example of uncertain knowledge in simple rule.</a:t>
            </a:r>
          </a:p>
          <a:p>
            <a:pPr lvl="1"/>
            <a:r>
              <a:rPr lang="en-US" dirty="0" smtClean="0"/>
              <a:t>Toothache              </a:t>
            </a:r>
            <a:r>
              <a:rPr lang="en-US" dirty="0" err="1" smtClean="0"/>
              <a:t>cravity</a:t>
            </a:r>
            <a:endParaRPr lang="en-US" dirty="0"/>
          </a:p>
          <a:p>
            <a:r>
              <a:rPr lang="en-US" dirty="0" smtClean="0"/>
              <a:t>The rule itself is wrong in real scenario, not all patients with toothache have cavities, some of them have gum disease or any other problems.</a:t>
            </a:r>
          </a:p>
          <a:p>
            <a:r>
              <a:rPr lang="en-US" dirty="0" smtClean="0"/>
              <a:t>Now the rule becomes:</a:t>
            </a:r>
          </a:p>
          <a:p>
            <a:pPr lvl="1"/>
            <a:r>
              <a:rPr lang="en-US" dirty="0" smtClean="0"/>
              <a:t>Toothache      cavity ∨gum disjunction ∨ disease etc.</a:t>
            </a:r>
          </a:p>
          <a:p>
            <a:r>
              <a:rPr lang="en-US" dirty="0" smtClean="0"/>
              <a:t>Unfortunately in order to make rule true we have to add almost unlimited list of possible problems.</a:t>
            </a:r>
          </a:p>
          <a:p>
            <a:r>
              <a:rPr lang="en-US" dirty="0" smtClean="0"/>
              <a:t>So to move from one state to another state any fixed rule is applied, this case is considered as condition of uncertainty.</a:t>
            </a:r>
          </a:p>
          <a:p>
            <a:r>
              <a:rPr lang="en-US" dirty="0" smtClean="0"/>
              <a:t>The only decision of uncertainty will be generated from probability theory.</a:t>
            </a:r>
          </a:p>
        </p:txBody>
      </p:sp>
      <p:cxnSp>
        <p:nvCxnSpPr>
          <p:cNvPr id="5" name="Straight Arrow Connector 4"/>
          <p:cNvCxnSpPr/>
          <p:nvPr/>
        </p:nvCxnSpPr>
        <p:spPr>
          <a:xfrm>
            <a:off x="2514600" y="2057400"/>
            <a:ext cx="6096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2438400" y="3581400"/>
            <a:ext cx="208721" cy="6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8034810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variables</a:t>
            </a:r>
            <a:endParaRPr lang="en-US" dirty="0"/>
          </a:p>
        </p:txBody>
      </p:sp>
      <p:sp>
        <p:nvSpPr>
          <p:cNvPr id="3" name="Content Placeholder 2"/>
          <p:cNvSpPr>
            <a:spLocks noGrp="1"/>
          </p:cNvSpPr>
          <p:nvPr>
            <p:ph idx="1"/>
          </p:nvPr>
        </p:nvSpPr>
        <p:spPr/>
        <p:txBody>
          <a:bodyPr/>
          <a:lstStyle/>
          <a:p>
            <a:r>
              <a:rPr lang="en-US" dirty="0" smtClean="0"/>
              <a:t>The variables whose possible values are numerical outcomes of a random phenomena is known as random variable.</a:t>
            </a:r>
          </a:p>
          <a:p>
            <a:r>
              <a:rPr lang="en-US" dirty="0" smtClean="0"/>
              <a:t>There are two types:</a:t>
            </a:r>
          </a:p>
          <a:p>
            <a:pPr lvl="1"/>
            <a:r>
              <a:rPr lang="en-US" dirty="0" smtClean="0"/>
              <a:t>Discrete</a:t>
            </a:r>
          </a:p>
          <a:p>
            <a:pPr lvl="1"/>
            <a:r>
              <a:rPr lang="en-US" dirty="0" smtClean="0"/>
              <a:t>Continuous </a:t>
            </a:r>
            <a:endParaRPr lang="en-US" dirty="0"/>
          </a:p>
        </p:txBody>
      </p:sp>
    </p:spTree>
    <p:extLst>
      <p:ext uri="{BB962C8B-B14F-4D97-AF65-F5344CB8AC3E}">
        <p14:creationId xmlns:p14="http://schemas.microsoft.com/office/powerpoint/2010/main" xmlns="" val="20314664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 and its 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Simply probability is a number that reflects the chance or likelihood of that particular even occurrence.</a:t>
            </a:r>
          </a:p>
          <a:p>
            <a:r>
              <a:rPr lang="en-US" dirty="0" smtClean="0"/>
              <a:t>The degree of belief in proposition in the absence of any other information is called unconditional or prior probability.</a:t>
            </a:r>
          </a:p>
          <a:p>
            <a:r>
              <a:rPr lang="en-US" dirty="0" err="1" smtClean="0"/>
              <a:t>Eg</a:t>
            </a:r>
            <a:r>
              <a:rPr lang="en-US" dirty="0" smtClean="0"/>
              <a:t>: </a:t>
            </a:r>
          </a:p>
          <a:p>
            <a:pPr lvl="1"/>
            <a:r>
              <a:rPr lang="en-US" dirty="0" smtClean="0"/>
              <a:t>P(A) = total number of ways that event A occurred/total number of possible outcomes</a:t>
            </a:r>
          </a:p>
          <a:p>
            <a:r>
              <a:rPr lang="en-US" dirty="0" smtClean="0"/>
              <a:t>The probability of the event occurring with some relationship to one or more events is called conditional or posterior probability.</a:t>
            </a:r>
          </a:p>
          <a:p>
            <a:pPr lvl="1"/>
            <a:r>
              <a:rPr lang="en-US" dirty="0" err="1" smtClean="0"/>
              <a:t>Eg</a:t>
            </a:r>
            <a:r>
              <a:rPr lang="en-US" smtClean="0"/>
              <a:t>: P(A/B</a:t>
            </a:r>
            <a:r>
              <a:rPr lang="en-US" dirty="0" smtClean="0"/>
              <a:t>) = P(A^B)/P(B)</a:t>
            </a:r>
          </a:p>
          <a:p>
            <a:r>
              <a:rPr lang="en-US" dirty="0" smtClean="0"/>
              <a:t>Decision theory=Probability theory + utility theory.</a:t>
            </a:r>
          </a:p>
        </p:txBody>
      </p:sp>
    </p:spTree>
    <p:extLst>
      <p:ext uri="{BB962C8B-B14F-4D97-AF65-F5344CB8AC3E}">
        <p14:creationId xmlns:p14="http://schemas.microsoft.com/office/powerpoint/2010/main" xmlns="" val="231806398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Inference using Full Joint Distribution</a:t>
            </a:r>
            <a:endParaRPr lang="en-US" dirty="0"/>
          </a:p>
        </p:txBody>
      </p:sp>
      <p:sp>
        <p:nvSpPr>
          <p:cNvPr id="3" name="Content Placeholder 2"/>
          <p:cNvSpPr>
            <a:spLocks noGrp="1"/>
          </p:cNvSpPr>
          <p:nvPr>
            <p:ph idx="1"/>
          </p:nvPr>
        </p:nvSpPr>
        <p:spPr/>
        <p:txBody>
          <a:bodyPr/>
          <a:lstStyle/>
          <a:p>
            <a:r>
              <a:rPr lang="en-US" dirty="0" smtClean="0"/>
              <a:t>The process of generating knowledge by using joint </a:t>
            </a:r>
            <a:r>
              <a:rPr lang="en-US" dirty="0" err="1" smtClean="0"/>
              <a:t>probabilty</a:t>
            </a:r>
            <a:r>
              <a:rPr lang="en-US" dirty="0" smtClean="0"/>
              <a:t> is called an inference using full joint probability distribution.</a:t>
            </a:r>
          </a:p>
          <a:p>
            <a:r>
              <a:rPr lang="en-US" dirty="0" smtClean="0"/>
              <a:t>It is the statistical measure that calculate the likelihood of two events occurring together at same point of time.</a:t>
            </a:r>
            <a:endParaRPr lang="en-US" dirty="0"/>
          </a:p>
        </p:txBody>
      </p:sp>
    </p:spTree>
    <p:extLst>
      <p:ext uri="{BB962C8B-B14F-4D97-AF65-F5344CB8AC3E}">
        <p14:creationId xmlns:p14="http://schemas.microsoft.com/office/powerpoint/2010/main" xmlns="" val="389787778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1043798" y="2053187"/>
            <a:ext cx="1729029" cy="1028844"/>
          </a:xfrm>
          <a:prstGeom prst="rect">
            <a:avLst/>
          </a:prstGeom>
        </p:spPr>
      </p:pic>
      <p:pic>
        <p:nvPicPr>
          <p:cNvPr id="5" name="Picture 4"/>
          <p:cNvPicPr>
            <a:picLocks noChangeAspect="1"/>
          </p:cNvPicPr>
          <p:nvPr/>
        </p:nvPicPr>
        <p:blipFill>
          <a:blip r:embed="rId3"/>
          <a:stretch>
            <a:fillRect/>
          </a:stretch>
        </p:blipFill>
        <p:spPr>
          <a:xfrm>
            <a:off x="1043799" y="2567609"/>
            <a:ext cx="4929875" cy="3766931"/>
          </a:xfrm>
          <a:prstGeom prst="rect">
            <a:avLst/>
          </a:prstGeom>
        </p:spPr>
      </p:pic>
    </p:spTree>
    <p:extLst>
      <p:ext uri="{BB962C8B-B14F-4D97-AF65-F5344CB8AC3E}">
        <p14:creationId xmlns:p14="http://schemas.microsoft.com/office/powerpoint/2010/main" xmlns="" val="54214293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43332" y="1917930"/>
            <a:ext cx="5294258" cy="1171739"/>
          </a:xfrm>
          <a:prstGeom prst="rect">
            <a:avLst/>
          </a:prstGeom>
        </p:spPr>
      </p:pic>
      <p:pic>
        <p:nvPicPr>
          <p:cNvPr id="5" name="Picture 4"/>
          <p:cNvPicPr>
            <a:picLocks noChangeAspect="1"/>
          </p:cNvPicPr>
          <p:nvPr/>
        </p:nvPicPr>
        <p:blipFill>
          <a:blip r:embed="rId3"/>
          <a:stretch>
            <a:fillRect/>
          </a:stretch>
        </p:blipFill>
        <p:spPr>
          <a:xfrm>
            <a:off x="1427772" y="3208920"/>
            <a:ext cx="5115639" cy="2534004"/>
          </a:xfrm>
          <a:prstGeom prst="rect">
            <a:avLst/>
          </a:prstGeom>
        </p:spPr>
      </p:pic>
    </p:spTree>
    <p:extLst>
      <p:ext uri="{BB962C8B-B14F-4D97-AF65-F5344CB8AC3E}">
        <p14:creationId xmlns:p14="http://schemas.microsoft.com/office/powerpoint/2010/main" xmlns="" val="401059746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 rules and its uses</a:t>
            </a:r>
            <a:endParaRPr lang="en-US" dirty="0"/>
          </a:p>
        </p:txBody>
      </p:sp>
      <p:sp>
        <p:nvSpPr>
          <p:cNvPr id="3" name="Content Placeholder 2"/>
          <p:cNvSpPr>
            <a:spLocks noGrp="1"/>
          </p:cNvSpPr>
          <p:nvPr>
            <p:ph idx="1"/>
          </p:nvPr>
        </p:nvSpPr>
        <p:spPr/>
        <p:txBody>
          <a:bodyPr/>
          <a:lstStyle/>
          <a:p>
            <a:r>
              <a:rPr lang="en-US" dirty="0" smtClean="0"/>
              <a:t>Bayes’ Theorem is a rule in probability theory that describes how to update the probability of a hypothesis A based on new evidence B.</a:t>
            </a:r>
          </a:p>
          <a:p>
            <a:r>
              <a:rPr lang="en-US" dirty="0" smtClean="0"/>
              <a:t>It relates the conditional and marginal probabilities of random events.</a:t>
            </a:r>
            <a:endParaRPr lang="en-US" dirty="0"/>
          </a:p>
        </p:txBody>
      </p:sp>
      <p:pic>
        <p:nvPicPr>
          <p:cNvPr id="4" name="Picture 3"/>
          <p:cNvPicPr>
            <a:picLocks noChangeAspect="1"/>
          </p:cNvPicPr>
          <p:nvPr/>
        </p:nvPicPr>
        <p:blipFill>
          <a:blip r:embed="rId2"/>
          <a:stretch>
            <a:fillRect/>
          </a:stretch>
        </p:blipFill>
        <p:spPr>
          <a:xfrm>
            <a:off x="5791200" y="4191000"/>
            <a:ext cx="2829526" cy="897594"/>
          </a:xfrm>
          <a:prstGeom prst="rect">
            <a:avLst/>
          </a:prstGeom>
        </p:spPr>
      </p:pic>
      <p:pic>
        <p:nvPicPr>
          <p:cNvPr id="5" name="Picture 4"/>
          <p:cNvPicPr>
            <a:picLocks noChangeAspect="1"/>
          </p:cNvPicPr>
          <p:nvPr/>
        </p:nvPicPr>
        <p:blipFill>
          <a:blip r:embed="rId3"/>
          <a:stretch>
            <a:fillRect/>
          </a:stretch>
        </p:blipFill>
        <p:spPr>
          <a:xfrm>
            <a:off x="2478510" y="4591183"/>
            <a:ext cx="3093676" cy="1228896"/>
          </a:xfrm>
          <a:prstGeom prst="rect">
            <a:avLst/>
          </a:prstGeom>
        </p:spPr>
      </p:pic>
    </p:spTree>
    <p:extLst>
      <p:ext uri="{BB962C8B-B14F-4D97-AF65-F5344CB8AC3E}">
        <p14:creationId xmlns:p14="http://schemas.microsoft.com/office/powerpoint/2010/main" xmlns="" val="9897643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088025" y="2096500"/>
            <a:ext cx="4620887" cy="4033977"/>
          </a:xfrm>
          <a:prstGeom prst="rect">
            <a:avLst/>
          </a:prstGeom>
        </p:spPr>
      </p:pic>
    </p:spTree>
    <p:extLst>
      <p:ext uri="{BB962C8B-B14F-4D97-AF65-F5344CB8AC3E}">
        <p14:creationId xmlns:p14="http://schemas.microsoft.com/office/powerpoint/2010/main" xmlns="" val="427332694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Uses </a:t>
            </a:r>
            <a:endParaRPr lang="en-US" dirty="0"/>
          </a:p>
        </p:txBody>
      </p:sp>
      <p:sp>
        <p:nvSpPr>
          <p:cNvPr id="3" name="Content Placeholder 2"/>
          <p:cNvSpPr>
            <a:spLocks noGrp="1"/>
          </p:cNvSpPr>
          <p:nvPr>
            <p:ph idx="1"/>
          </p:nvPr>
        </p:nvSpPr>
        <p:spPr/>
        <p:txBody>
          <a:bodyPr/>
          <a:lstStyle/>
          <a:p>
            <a:r>
              <a:rPr lang="en-US" dirty="0" smtClean="0"/>
              <a:t>It is widely used to provide probabilistic prediction in AI.</a:t>
            </a:r>
          </a:p>
          <a:p>
            <a:r>
              <a:rPr lang="en-US" dirty="0" smtClean="0"/>
              <a:t>In finance, </a:t>
            </a:r>
            <a:r>
              <a:rPr lang="en-US" dirty="0" err="1" smtClean="0"/>
              <a:t>Baye’s</a:t>
            </a:r>
            <a:r>
              <a:rPr lang="en-US" dirty="0" smtClean="0"/>
              <a:t> theorem can be used to rate the risk of lending money to potential borrowers.</a:t>
            </a:r>
          </a:p>
          <a:p>
            <a:r>
              <a:rPr lang="en-US" dirty="0" smtClean="0"/>
              <a:t>It allows to update predicted probabilities of an event by incorporating new information.</a:t>
            </a:r>
            <a:endParaRPr lang="en-US" dirty="0"/>
          </a:p>
        </p:txBody>
      </p:sp>
    </p:spTree>
    <p:extLst>
      <p:ext uri="{BB962C8B-B14F-4D97-AF65-F5344CB8AC3E}">
        <p14:creationId xmlns:p14="http://schemas.microsoft.com/office/powerpoint/2010/main" xmlns="" val="225536680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Bayesian Network</a:t>
            </a:r>
            <a:endParaRPr lang="en-US" dirty="0"/>
          </a:p>
        </p:txBody>
      </p:sp>
      <p:sp>
        <p:nvSpPr>
          <p:cNvPr id="3" name="Content Placeholder 2"/>
          <p:cNvSpPr>
            <a:spLocks noGrp="1"/>
          </p:cNvSpPr>
          <p:nvPr>
            <p:ph idx="1"/>
          </p:nvPr>
        </p:nvSpPr>
        <p:spPr/>
        <p:txBody>
          <a:bodyPr/>
          <a:lstStyle/>
          <a:p>
            <a:r>
              <a:rPr lang="en-US" dirty="0" smtClean="0"/>
              <a:t>It is probabilistic graphical model that represents a set of variables and their conditional dependencies through a Directed </a:t>
            </a:r>
            <a:r>
              <a:rPr lang="en-US" dirty="0"/>
              <a:t>A</a:t>
            </a:r>
            <a:r>
              <a:rPr lang="en-US" dirty="0" smtClean="0"/>
              <a:t>cyclic Graph (DAG).</a:t>
            </a:r>
          </a:p>
          <a:p>
            <a:endParaRPr lang="en-US" dirty="0"/>
          </a:p>
          <a:p>
            <a:endParaRPr lang="en-US" dirty="0" smtClean="0"/>
          </a:p>
        </p:txBody>
      </p:sp>
      <p:sp>
        <p:nvSpPr>
          <p:cNvPr id="4" name="Oval 3"/>
          <p:cNvSpPr/>
          <p:nvPr/>
        </p:nvSpPr>
        <p:spPr>
          <a:xfrm>
            <a:off x="3200400" y="3962400"/>
            <a:ext cx="1113182" cy="7818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a:t>
            </a:r>
            <a:endParaRPr lang="en-US" dirty="0"/>
          </a:p>
        </p:txBody>
      </p:sp>
      <p:sp>
        <p:nvSpPr>
          <p:cNvPr id="5" name="Oval 4"/>
          <p:cNvSpPr/>
          <p:nvPr/>
        </p:nvSpPr>
        <p:spPr>
          <a:xfrm>
            <a:off x="4114800" y="5715000"/>
            <a:ext cx="1113182" cy="7818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
            </a:r>
            <a:endParaRPr lang="en-US" dirty="0"/>
          </a:p>
        </p:txBody>
      </p:sp>
      <p:sp>
        <p:nvSpPr>
          <p:cNvPr id="6" name="Oval 5"/>
          <p:cNvSpPr/>
          <p:nvPr/>
        </p:nvSpPr>
        <p:spPr>
          <a:xfrm>
            <a:off x="5562600" y="4038600"/>
            <a:ext cx="1113182" cy="781878"/>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smtClean="0"/>
              <a:t>C</a:t>
            </a:r>
            <a:endParaRPr lang="en-US" dirty="0"/>
          </a:p>
        </p:txBody>
      </p:sp>
      <p:cxnSp>
        <p:nvCxnSpPr>
          <p:cNvPr id="8" name="Straight Arrow Connector 7"/>
          <p:cNvCxnSpPr>
            <a:endCxn id="5" idx="1"/>
          </p:cNvCxnSpPr>
          <p:nvPr/>
        </p:nvCxnSpPr>
        <p:spPr>
          <a:xfrm>
            <a:off x="3686174" y="4751043"/>
            <a:ext cx="591647" cy="1078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029200" y="4800600"/>
            <a:ext cx="626165" cy="963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4" idx="6"/>
          </p:cNvCxnSpPr>
          <p:nvPr/>
        </p:nvCxnSpPr>
        <p:spPr>
          <a:xfrm rot="10800000">
            <a:off x="4313582" y="4353339"/>
            <a:ext cx="1249018"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0658896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4" name="Oval 3"/>
          <p:cNvSpPr/>
          <p:nvPr/>
        </p:nvSpPr>
        <p:spPr>
          <a:xfrm>
            <a:off x="5546035" y="1690688"/>
            <a:ext cx="1520687" cy="8802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Rain</a:t>
            </a:r>
            <a:endParaRPr lang="en-US" sz="2800" dirty="0"/>
          </a:p>
        </p:txBody>
      </p:sp>
      <p:sp>
        <p:nvSpPr>
          <p:cNvPr id="5" name="Oval 4"/>
          <p:cNvSpPr/>
          <p:nvPr/>
        </p:nvSpPr>
        <p:spPr>
          <a:xfrm>
            <a:off x="4124740" y="3896485"/>
            <a:ext cx="1625048" cy="88023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smtClean="0"/>
              <a:t>Grass Wet</a:t>
            </a:r>
            <a:endParaRPr lang="en-US" sz="2400" dirty="0"/>
          </a:p>
        </p:txBody>
      </p:sp>
      <p:sp>
        <p:nvSpPr>
          <p:cNvPr id="6" name="Oval 5"/>
          <p:cNvSpPr/>
          <p:nvPr/>
        </p:nvSpPr>
        <p:spPr>
          <a:xfrm>
            <a:off x="2800350" y="1690688"/>
            <a:ext cx="1520687" cy="88023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smtClean="0"/>
              <a:t>Sprinkler</a:t>
            </a:r>
            <a:endParaRPr lang="en-US" sz="2400" dirty="0"/>
          </a:p>
        </p:txBody>
      </p:sp>
      <p:sp>
        <p:nvSpPr>
          <p:cNvPr id="7" name="Left Arrow 6"/>
          <p:cNvSpPr/>
          <p:nvPr/>
        </p:nvSpPr>
        <p:spPr>
          <a:xfrm>
            <a:off x="4321036" y="2003323"/>
            <a:ext cx="1224998" cy="2678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 Arrow 8"/>
          <p:cNvSpPr/>
          <p:nvPr/>
        </p:nvSpPr>
        <p:spPr>
          <a:xfrm rot="18558452">
            <a:off x="4843404" y="3139869"/>
            <a:ext cx="1678086" cy="1841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rot="2733444">
            <a:off x="3109874" y="3225330"/>
            <a:ext cx="1845436" cy="1315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622804015"/>
              </p:ext>
            </p:extLst>
          </p:nvPr>
        </p:nvGraphicFramePr>
        <p:xfrm>
          <a:off x="567354" y="2737402"/>
          <a:ext cx="1867732" cy="1110024"/>
        </p:xfrm>
        <a:graphic>
          <a:graphicData uri="http://schemas.openxmlformats.org/drawingml/2006/table">
            <a:tbl>
              <a:tblPr firstRow="1" bandRow="1">
                <a:tableStyleId>{5940675A-B579-460E-94D1-54222C63F5DA}</a:tableStyleId>
              </a:tblPr>
              <a:tblGrid>
                <a:gridCol w="933866">
                  <a:extLst>
                    <a:ext uri="{9D8B030D-6E8A-4147-A177-3AD203B41FA5}">
                      <a16:colId xmlns:a16="http://schemas.microsoft.com/office/drawing/2014/main" xmlns="" val="3515210645"/>
                    </a:ext>
                  </a:extLst>
                </a:gridCol>
                <a:gridCol w="933866">
                  <a:extLst>
                    <a:ext uri="{9D8B030D-6E8A-4147-A177-3AD203B41FA5}">
                      <a16:colId xmlns:a16="http://schemas.microsoft.com/office/drawing/2014/main" xmlns="" val="459704449"/>
                    </a:ext>
                  </a:extLst>
                </a:gridCol>
              </a:tblGrid>
              <a:tr h="463506">
                <a:tc>
                  <a:txBody>
                    <a:bodyPr/>
                    <a:lstStyle/>
                    <a:p>
                      <a:r>
                        <a:rPr lang="en-US" dirty="0" smtClean="0"/>
                        <a:t>R</a:t>
                      </a:r>
                      <a:endParaRPr lang="en-US" dirty="0"/>
                    </a:p>
                  </a:txBody>
                  <a:tcPr marL="68580" marR="68580"/>
                </a:tc>
                <a:tc>
                  <a:txBody>
                    <a:bodyPr/>
                    <a:lstStyle/>
                    <a:p>
                      <a:r>
                        <a:rPr lang="en-US" dirty="0" smtClean="0"/>
                        <a:t>NOT RAIN</a:t>
                      </a:r>
                      <a:endParaRPr lang="en-US" dirty="0"/>
                    </a:p>
                  </a:txBody>
                  <a:tcPr marL="68580" marR="68580"/>
                </a:tc>
                <a:extLst>
                  <a:ext uri="{0D108BD9-81ED-4DB2-BD59-A6C34878D82A}">
                    <a16:rowId xmlns:a16="http://schemas.microsoft.com/office/drawing/2014/main" xmlns="" val="400662505"/>
                  </a:ext>
                </a:extLst>
              </a:tr>
              <a:tr h="469944">
                <a:tc>
                  <a:txBody>
                    <a:bodyPr/>
                    <a:lstStyle/>
                    <a:p>
                      <a:r>
                        <a:rPr lang="en-US" dirty="0" smtClean="0"/>
                        <a:t>0.2</a:t>
                      </a:r>
                      <a:endParaRPr lang="en-US" dirty="0"/>
                    </a:p>
                  </a:txBody>
                  <a:tcPr marL="68580" marR="68580"/>
                </a:tc>
                <a:tc>
                  <a:txBody>
                    <a:bodyPr/>
                    <a:lstStyle/>
                    <a:p>
                      <a:r>
                        <a:rPr lang="en-US" dirty="0" smtClean="0"/>
                        <a:t>0.8</a:t>
                      </a:r>
                      <a:endParaRPr lang="en-US" dirty="0"/>
                    </a:p>
                  </a:txBody>
                  <a:tcPr marL="68580" marR="68580"/>
                </a:tc>
                <a:extLst>
                  <a:ext uri="{0D108BD9-81ED-4DB2-BD59-A6C34878D82A}">
                    <a16:rowId xmlns:a16="http://schemas.microsoft.com/office/drawing/2014/main" xmlns="" val="2017341300"/>
                  </a:ext>
                </a:extLst>
              </a:tr>
            </a:tbl>
          </a:graphicData>
        </a:graphic>
      </p:graphicFrame>
      <p:sp>
        <p:nvSpPr>
          <p:cNvPr id="13" name="Rectangle 12"/>
          <p:cNvSpPr/>
          <p:nvPr/>
        </p:nvSpPr>
        <p:spPr>
          <a:xfrm>
            <a:off x="785190" y="2220483"/>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RAIN</a:t>
            </a:r>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xmlns="" val="1552776725"/>
              </p:ext>
            </p:extLst>
          </p:nvPr>
        </p:nvGraphicFramePr>
        <p:xfrm>
          <a:off x="567354" y="4549545"/>
          <a:ext cx="1977058" cy="1112520"/>
        </p:xfrm>
        <a:graphic>
          <a:graphicData uri="http://schemas.openxmlformats.org/drawingml/2006/table">
            <a:tbl>
              <a:tblPr firstRow="1" bandRow="1">
                <a:tableStyleId>{5940675A-B579-460E-94D1-54222C63F5DA}</a:tableStyleId>
              </a:tblPr>
              <a:tblGrid>
                <a:gridCol w="988529">
                  <a:extLst>
                    <a:ext uri="{9D8B030D-6E8A-4147-A177-3AD203B41FA5}">
                      <a16:colId xmlns:a16="http://schemas.microsoft.com/office/drawing/2014/main" xmlns="" val="3368159915"/>
                    </a:ext>
                  </a:extLst>
                </a:gridCol>
                <a:gridCol w="988529">
                  <a:extLst>
                    <a:ext uri="{9D8B030D-6E8A-4147-A177-3AD203B41FA5}">
                      <a16:colId xmlns:a16="http://schemas.microsoft.com/office/drawing/2014/main" xmlns="" val="3956838487"/>
                    </a:ext>
                  </a:extLst>
                </a:gridCol>
              </a:tblGrid>
              <a:tr h="370840">
                <a:tc>
                  <a:txBody>
                    <a:bodyPr/>
                    <a:lstStyle/>
                    <a:p>
                      <a:r>
                        <a:rPr lang="en-US" dirty="0" smtClean="0"/>
                        <a:t>Rain</a:t>
                      </a:r>
                      <a:endParaRPr lang="en-US" dirty="0"/>
                    </a:p>
                  </a:txBody>
                  <a:tcPr marL="68580" marR="68580"/>
                </a:tc>
                <a:tc>
                  <a:txBody>
                    <a:bodyPr/>
                    <a:lstStyle/>
                    <a:p>
                      <a:r>
                        <a:rPr lang="en-US" dirty="0" smtClean="0"/>
                        <a:t>Sprinkler</a:t>
                      </a:r>
                      <a:endParaRPr lang="en-US" dirty="0"/>
                    </a:p>
                  </a:txBody>
                  <a:tcPr marL="68580" marR="68580"/>
                </a:tc>
                <a:extLst>
                  <a:ext uri="{0D108BD9-81ED-4DB2-BD59-A6C34878D82A}">
                    <a16:rowId xmlns:a16="http://schemas.microsoft.com/office/drawing/2014/main" xmlns="" val="1070128948"/>
                  </a:ext>
                </a:extLst>
              </a:tr>
              <a:tr h="370840">
                <a:tc>
                  <a:txBody>
                    <a:bodyPr/>
                    <a:lstStyle/>
                    <a:p>
                      <a:r>
                        <a:rPr lang="en-US" dirty="0" smtClean="0"/>
                        <a:t>F</a:t>
                      </a:r>
                      <a:endParaRPr lang="en-US" dirty="0"/>
                    </a:p>
                  </a:txBody>
                  <a:tcPr marL="68580" marR="68580"/>
                </a:tc>
                <a:tc>
                  <a:txBody>
                    <a:bodyPr/>
                    <a:lstStyle/>
                    <a:p>
                      <a:r>
                        <a:rPr lang="en-US" dirty="0" smtClean="0"/>
                        <a:t>0.4</a:t>
                      </a:r>
                      <a:endParaRPr lang="en-US" dirty="0"/>
                    </a:p>
                  </a:txBody>
                  <a:tcPr marL="68580" marR="68580"/>
                </a:tc>
                <a:extLst>
                  <a:ext uri="{0D108BD9-81ED-4DB2-BD59-A6C34878D82A}">
                    <a16:rowId xmlns:a16="http://schemas.microsoft.com/office/drawing/2014/main" xmlns="" val="2443264945"/>
                  </a:ext>
                </a:extLst>
              </a:tr>
              <a:tr h="370840">
                <a:tc>
                  <a:txBody>
                    <a:bodyPr/>
                    <a:lstStyle/>
                    <a:p>
                      <a:r>
                        <a:rPr lang="en-US" dirty="0" smtClean="0"/>
                        <a:t>T</a:t>
                      </a:r>
                      <a:endParaRPr lang="en-US" dirty="0"/>
                    </a:p>
                  </a:txBody>
                  <a:tcPr marL="68580" marR="68580"/>
                </a:tc>
                <a:tc>
                  <a:txBody>
                    <a:bodyPr/>
                    <a:lstStyle/>
                    <a:p>
                      <a:r>
                        <a:rPr lang="en-US" dirty="0" smtClean="0"/>
                        <a:t>0.01</a:t>
                      </a:r>
                      <a:endParaRPr lang="en-US" dirty="0"/>
                    </a:p>
                  </a:txBody>
                  <a:tcPr marL="68580" marR="68580"/>
                </a:tc>
                <a:extLst>
                  <a:ext uri="{0D108BD9-81ED-4DB2-BD59-A6C34878D82A}">
                    <a16:rowId xmlns:a16="http://schemas.microsoft.com/office/drawing/2014/main" xmlns="" val="227517375"/>
                  </a:ext>
                </a:extLst>
              </a:tr>
            </a:tbl>
          </a:graphicData>
        </a:graphic>
      </p:graphicFrame>
      <p:sp>
        <p:nvSpPr>
          <p:cNvPr id="15" name="Rectangle 14"/>
          <p:cNvSpPr/>
          <p:nvPr/>
        </p:nvSpPr>
        <p:spPr>
          <a:xfrm>
            <a:off x="934690" y="3993984"/>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Sprinkler </a:t>
            </a:r>
            <a:endParaRPr lang="en-US" dirty="0"/>
          </a:p>
        </p:txBody>
      </p:sp>
      <p:graphicFrame>
        <p:nvGraphicFramePr>
          <p:cNvPr id="16" name="Table 15"/>
          <p:cNvGraphicFramePr>
            <a:graphicFrameLocks noGrp="1"/>
          </p:cNvGraphicFramePr>
          <p:nvPr>
            <p:extLst>
              <p:ext uri="{D42A27DB-BD31-4B8C-83A1-F6EECF244321}">
                <p14:modId xmlns:p14="http://schemas.microsoft.com/office/powerpoint/2010/main" xmlns="" val="848813871"/>
              </p:ext>
            </p:extLst>
          </p:nvPr>
        </p:nvGraphicFramePr>
        <p:xfrm>
          <a:off x="2536549" y="4549545"/>
          <a:ext cx="1276349" cy="1381760"/>
        </p:xfrm>
        <a:graphic>
          <a:graphicData uri="http://schemas.openxmlformats.org/drawingml/2006/table">
            <a:tbl>
              <a:tblPr firstRow="1" bandRow="1">
                <a:tableStyleId>{5940675A-B579-460E-94D1-54222C63F5DA}</a:tableStyleId>
              </a:tblPr>
              <a:tblGrid>
                <a:gridCol w="1276349">
                  <a:extLst>
                    <a:ext uri="{9D8B030D-6E8A-4147-A177-3AD203B41FA5}">
                      <a16:colId xmlns:a16="http://schemas.microsoft.com/office/drawing/2014/main" xmlns="" val="1258865779"/>
                    </a:ext>
                  </a:extLst>
                </a:gridCol>
              </a:tblGrid>
              <a:tr h="370840">
                <a:tc>
                  <a:txBody>
                    <a:bodyPr/>
                    <a:lstStyle/>
                    <a:p>
                      <a:r>
                        <a:rPr lang="en-US" dirty="0" smtClean="0"/>
                        <a:t>NOT Sprinkler</a:t>
                      </a:r>
                      <a:endParaRPr lang="en-US" dirty="0"/>
                    </a:p>
                  </a:txBody>
                  <a:tcPr marL="68580" marR="68580"/>
                </a:tc>
                <a:extLst>
                  <a:ext uri="{0D108BD9-81ED-4DB2-BD59-A6C34878D82A}">
                    <a16:rowId xmlns:a16="http://schemas.microsoft.com/office/drawing/2014/main" xmlns="" val="13804750"/>
                  </a:ext>
                </a:extLst>
              </a:tr>
              <a:tr h="370840">
                <a:tc>
                  <a:txBody>
                    <a:bodyPr/>
                    <a:lstStyle/>
                    <a:p>
                      <a:r>
                        <a:rPr lang="en-US" dirty="0" smtClean="0"/>
                        <a:t>0.6</a:t>
                      </a:r>
                      <a:endParaRPr lang="en-US" dirty="0"/>
                    </a:p>
                  </a:txBody>
                  <a:tcPr marL="68580" marR="68580"/>
                </a:tc>
                <a:extLst>
                  <a:ext uri="{0D108BD9-81ED-4DB2-BD59-A6C34878D82A}">
                    <a16:rowId xmlns:a16="http://schemas.microsoft.com/office/drawing/2014/main" xmlns="" val="1296687843"/>
                  </a:ext>
                </a:extLst>
              </a:tr>
              <a:tr h="370840">
                <a:tc>
                  <a:txBody>
                    <a:bodyPr/>
                    <a:lstStyle/>
                    <a:p>
                      <a:r>
                        <a:rPr lang="en-US" dirty="0" smtClean="0"/>
                        <a:t>0.99</a:t>
                      </a:r>
                      <a:endParaRPr lang="en-US" dirty="0"/>
                    </a:p>
                  </a:txBody>
                  <a:tcPr marL="68580" marR="68580"/>
                </a:tc>
                <a:extLst>
                  <a:ext uri="{0D108BD9-81ED-4DB2-BD59-A6C34878D82A}">
                    <a16:rowId xmlns:a16="http://schemas.microsoft.com/office/drawing/2014/main" xmlns="" val="1110746154"/>
                  </a:ext>
                </a:extLst>
              </a:tr>
            </a:tbl>
          </a:graphicData>
        </a:graphic>
      </p:graphicFrame>
      <p:sp>
        <p:nvSpPr>
          <p:cNvPr id="17" name="Rectangle 16"/>
          <p:cNvSpPr/>
          <p:nvPr/>
        </p:nvSpPr>
        <p:spPr>
          <a:xfrm>
            <a:off x="6800768" y="3522337"/>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Grass Wet </a:t>
            </a:r>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xmlns="" val="2482349140"/>
              </p:ext>
            </p:extLst>
          </p:nvPr>
        </p:nvGraphicFramePr>
        <p:xfrm>
          <a:off x="5869885" y="4178705"/>
          <a:ext cx="3161472" cy="2123440"/>
        </p:xfrm>
        <a:graphic>
          <a:graphicData uri="http://schemas.openxmlformats.org/drawingml/2006/table">
            <a:tbl>
              <a:tblPr firstRow="1" bandRow="1">
                <a:tableStyleId>{5940675A-B579-460E-94D1-54222C63F5DA}</a:tableStyleId>
              </a:tblPr>
              <a:tblGrid>
                <a:gridCol w="790368">
                  <a:extLst>
                    <a:ext uri="{9D8B030D-6E8A-4147-A177-3AD203B41FA5}">
                      <a16:colId xmlns:a16="http://schemas.microsoft.com/office/drawing/2014/main" xmlns="" val="2384238558"/>
                    </a:ext>
                  </a:extLst>
                </a:gridCol>
                <a:gridCol w="790368">
                  <a:extLst>
                    <a:ext uri="{9D8B030D-6E8A-4147-A177-3AD203B41FA5}">
                      <a16:colId xmlns:a16="http://schemas.microsoft.com/office/drawing/2014/main" xmlns="" val="3720803542"/>
                    </a:ext>
                  </a:extLst>
                </a:gridCol>
                <a:gridCol w="790368">
                  <a:extLst>
                    <a:ext uri="{9D8B030D-6E8A-4147-A177-3AD203B41FA5}">
                      <a16:colId xmlns:a16="http://schemas.microsoft.com/office/drawing/2014/main" xmlns="" val="255350228"/>
                    </a:ext>
                  </a:extLst>
                </a:gridCol>
                <a:gridCol w="790368">
                  <a:extLst>
                    <a:ext uri="{9D8B030D-6E8A-4147-A177-3AD203B41FA5}">
                      <a16:colId xmlns:a16="http://schemas.microsoft.com/office/drawing/2014/main" xmlns="" val="1552205955"/>
                    </a:ext>
                  </a:extLst>
                </a:gridCol>
              </a:tblGrid>
              <a:tr h="370840">
                <a:tc>
                  <a:txBody>
                    <a:bodyPr/>
                    <a:lstStyle/>
                    <a:p>
                      <a:r>
                        <a:rPr lang="en-US" dirty="0" smtClean="0"/>
                        <a:t>Sprinkler</a:t>
                      </a:r>
                      <a:endParaRPr lang="en-US" dirty="0"/>
                    </a:p>
                  </a:txBody>
                  <a:tcPr marL="68580" marR="68580"/>
                </a:tc>
                <a:tc>
                  <a:txBody>
                    <a:bodyPr/>
                    <a:lstStyle/>
                    <a:p>
                      <a:r>
                        <a:rPr lang="en-US" dirty="0" smtClean="0"/>
                        <a:t>Rain</a:t>
                      </a:r>
                      <a:endParaRPr lang="en-US" dirty="0"/>
                    </a:p>
                  </a:txBody>
                  <a:tcPr marL="68580" marR="68580"/>
                </a:tc>
                <a:tc>
                  <a:txBody>
                    <a:bodyPr/>
                    <a:lstStyle/>
                    <a:p>
                      <a:r>
                        <a:rPr lang="en-US" dirty="0" smtClean="0"/>
                        <a:t>Wet</a:t>
                      </a:r>
                      <a:endParaRPr lang="en-US" dirty="0"/>
                    </a:p>
                  </a:txBody>
                  <a:tcPr marL="68580" marR="68580"/>
                </a:tc>
                <a:tc>
                  <a:txBody>
                    <a:bodyPr/>
                    <a:lstStyle/>
                    <a:p>
                      <a:r>
                        <a:rPr lang="en-US" dirty="0" smtClean="0"/>
                        <a:t>NOT Wet</a:t>
                      </a:r>
                      <a:endParaRPr lang="en-US" dirty="0"/>
                    </a:p>
                  </a:txBody>
                  <a:tcPr marL="68580" marR="68580"/>
                </a:tc>
                <a:extLst>
                  <a:ext uri="{0D108BD9-81ED-4DB2-BD59-A6C34878D82A}">
                    <a16:rowId xmlns:a16="http://schemas.microsoft.com/office/drawing/2014/main" xmlns="" val="299672566"/>
                  </a:ext>
                </a:extLst>
              </a:tr>
              <a:tr h="370840">
                <a:tc>
                  <a:txBody>
                    <a:bodyPr/>
                    <a:lstStyle/>
                    <a:p>
                      <a:r>
                        <a:rPr lang="en-US" dirty="0" smtClean="0"/>
                        <a:t>F</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0.0</a:t>
                      </a:r>
                      <a:endParaRPr lang="en-US" dirty="0"/>
                    </a:p>
                  </a:txBody>
                  <a:tcPr marL="68580" marR="68580"/>
                </a:tc>
                <a:tc>
                  <a:txBody>
                    <a:bodyPr/>
                    <a:lstStyle/>
                    <a:p>
                      <a:r>
                        <a:rPr lang="en-US" smtClean="0"/>
                        <a:t>1</a:t>
                      </a:r>
                      <a:endParaRPr lang="en-US" dirty="0"/>
                    </a:p>
                  </a:txBody>
                  <a:tcPr marL="68580" marR="68580"/>
                </a:tc>
                <a:extLst>
                  <a:ext uri="{0D108BD9-81ED-4DB2-BD59-A6C34878D82A}">
                    <a16:rowId xmlns:a16="http://schemas.microsoft.com/office/drawing/2014/main" xmlns="" val="1030711718"/>
                  </a:ext>
                </a:extLst>
              </a:tr>
              <a:tr h="370840">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0.8</a:t>
                      </a:r>
                      <a:endParaRPr lang="en-US" dirty="0"/>
                    </a:p>
                  </a:txBody>
                  <a:tcPr marL="68580" marR="68580"/>
                </a:tc>
                <a:tc>
                  <a:txBody>
                    <a:bodyPr/>
                    <a:lstStyle/>
                    <a:p>
                      <a:r>
                        <a:rPr lang="en-US" dirty="0" smtClean="0"/>
                        <a:t>0.2</a:t>
                      </a:r>
                      <a:endParaRPr lang="en-US" dirty="0"/>
                    </a:p>
                  </a:txBody>
                  <a:tcPr marL="68580" marR="68580"/>
                </a:tc>
                <a:extLst>
                  <a:ext uri="{0D108BD9-81ED-4DB2-BD59-A6C34878D82A}">
                    <a16:rowId xmlns:a16="http://schemas.microsoft.com/office/drawing/2014/main" xmlns="" val="3094072430"/>
                  </a:ext>
                </a:extLst>
              </a:tr>
              <a:tr h="370840">
                <a:tc>
                  <a:txBody>
                    <a:bodyPr/>
                    <a:lstStyle/>
                    <a:p>
                      <a:r>
                        <a:rPr lang="en-US" dirty="0" smtClean="0"/>
                        <a:t>T</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0.9</a:t>
                      </a:r>
                      <a:endParaRPr lang="en-US" dirty="0"/>
                    </a:p>
                  </a:txBody>
                  <a:tcPr marL="68580" marR="68580"/>
                </a:tc>
                <a:tc>
                  <a:txBody>
                    <a:bodyPr/>
                    <a:lstStyle/>
                    <a:p>
                      <a:r>
                        <a:rPr lang="en-US" dirty="0" smtClean="0"/>
                        <a:t>0.1</a:t>
                      </a:r>
                      <a:endParaRPr lang="en-US" dirty="0"/>
                    </a:p>
                  </a:txBody>
                  <a:tcPr marL="68580" marR="68580"/>
                </a:tc>
                <a:extLst>
                  <a:ext uri="{0D108BD9-81ED-4DB2-BD59-A6C34878D82A}">
                    <a16:rowId xmlns:a16="http://schemas.microsoft.com/office/drawing/2014/main" xmlns="" val="1105929168"/>
                  </a:ext>
                </a:extLst>
              </a:tr>
              <a:tr h="370840">
                <a:tc>
                  <a:txBody>
                    <a:bodyPr/>
                    <a:lstStyle/>
                    <a:p>
                      <a:r>
                        <a:rPr lang="en-US" dirty="0" smtClean="0"/>
                        <a:t>T</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0.99</a:t>
                      </a:r>
                      <a:endParaRPr lang="en-US" dirty="0"/>
                    </a:p>
                  </a:txBody>
                  <a:tcPr marL="68580" marR="68580"/>
                </a:tc>
                <a:tc>
                  <a:txBody>
                    <a:bodyPr/>
                    <a:lstStyle/>
                    <a:p>
                      <a:r>
                        <a:rPr lang="en-US" dirty="0" smtClean="0"/>
                        <a:t>0.01</a:t>
                      </a:r>
                      <a:endParaRPr lang="en-US" dirty="0"/>
                    </a:p>
                  </a:txBody>
                  <a:tcPr marL="68580" marR="68580"/>
                </a:tc>
                <a:extLst>
                  <a:ext uri="{0D108BD9-81ED-4DB2-BD59-A6C34878D82A}">
                    <a16:rowId xmlns:a16="http://schemas.microsoft.com/office/drawing/2014/main" xmlns="" val="4196553750"/>
                  </a:ext>
                </a:extLst>
              </a:tr>
            </a:tbl>
          </a:graphicData>
        </a:graphic>
      </p:graphicFrame>
    </p:spTree>
    <p:extLst>
      <p:ext uri="{BB962C8B-B14F-4D97-AF65-F5344CB8AC3E}">
        <p14:creationId xmlns:p14="http://schemas.microsoft.com/office/powerpoint/2010/main" xmlns="" val="33380095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 </a:t>
            </a:r>
            <a:r>
              <a:rPr lang="en-US" dirty="0" smtClean="0"/>
              <a:t>P ( W^S^R)=P (W|S,R) * P(S|R) * P(R)</a:t>
            </a:r>
          </a:p>
          <a:p>
            <a:pPr marL="0" indent="0">
              <a:buNone/>
            </a:pPr>
            <a:r>
              <a:rPr lang="en-US" dirty="0" smtClean="0"/>
              <a:t>=0.99*0.01*0.2</a:t>
            </a:r>
          </a:p>
          <a:p>
            <a:pPr marL="0" indent="0">
              <a:buNone/>
            </a:pPr>
            <a:r>
              <a:rPr lang="en-US" dirty="0" smtClean="0"/>
              <a:t>=0.00198</a:t>
            </a:r>
          </a:p>
          <a:p>
            <a:pPr marL="0" indent="0">
              <a:buNone/>
            </a:pPr>
            <a:endParaRPr lang="en-US" dirty="0"/>
          </a:p>
          <a:p>
            <a:pPr marL="0" indent="0">
              <a:buNone/>
            </a:pPr>
            <a:r>
              <a:rPr lang="en-US" dirty="0" smtClean="0"/>
              <a:t>Find P(</a:t>
            </a:r>
            <a:r>
              <a:rPr lang="en-US" dirty="0" err="1" smtClean="0"/>
              <a:t>W|notS,notR</a:t>
            </a:r>
            <a:r>
              <a:rPr lang="en-US" dirty="0" smtClean="0"/>
              <a:t>) </a:t>
            </a:r>
            <a:endParaRPr lang="en-US" dirty="0"/>
          </a:p>
        </p:txBody>
      </p:sp>
    </p:spTree>
    <p:extLst>
      <p:ext uri="{BB962C8B-B14F-4D97-AF65-F5344CB8AC3E}">
        <p14:creationId xmlns:p14="http://schemas.microsoft.com/office/powerpoint/2010/main" xmlns="" val="295303695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in Belief network</a:t>
            </a:r>
            <a:endParaRPr lang="en-US" dirty="0"/>
          </a:p>
        </p:txBody>
      </p:sp>
      <p:sp>
        <p:nvSpPr>
          <p:cNvPr id="3" name="Content Placeholder 2"/>
          <p:cNvSpPr>
            <a:spLocks noGrp="1"/>
          </p:cNvSpPr>
          <p:nvPr>
            <p:ph idx="1"/>
          </p:nvPr>
        </p:nvSpPr>
        <p:spPr/>
        <p:txBody>
          <a:bodyPr/>
          <a:lstStyle/>
          <a:p>
            <a:r>
              <a:rPr lang="en-US" dirty="0" smtClean="0"/>
              <a:t>Inference in belief networks means computing probabilities of some variables given known values (evidence) for others. </a:t>
            </a:r>
          </a:p>
          <a:p>
            <a:r>
              <a:rPr lang="en-US" dirty="0" smtClean="0"/>
              <a:t>This is a core function in probabilistic reasoning and AI.</a:t>
            </a:r>
            <a:endParaRPr lang="en-US" dirty="0"/>
          </a:p>
        </p:txBody>
      </p:sp>
    </p:spTree>
    <p:extLst>
      <p:ext uri="{BB962C8B-B14F-4D97-AF65-F5344CB8AC3E}">
        <p14:creationId xmlns:p14="http://schemas.microsoft.com/office/powerpoint/2010/main" xmlns="" val="66997820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Fuzzy Logic  </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word fuzzy refers to things which are not clear means uncertainty.</a:t>
            </a:r>
          </a:p>
          <a:p>
            <a:r>
              <a:rPr lang="en-US" dirty="0" err="1" smtClean="0"/>
              <a:t>Eg</a:t>
            </a:r>
            <a:r>
              <a:rPr lang="en-US" dirty="0" smtClean="0"/>
              <a:t>: I have eaten many fruits or I have slept a lot. This type of statement is represented by fuzzy logic because a lot and many means how much.</a:t>
            </a:r>
          </a:p>
          <a:p>
            <a:r>
              <a:rPr lang="en-US" dirty="0" smtClean="0"/>
              <a:t>For someone 10 hours sleep can be much or 1 kg fruits can be many or for someone that 1kg can be less.</a:t>
            </a:r>
          </a:p>
          <a:p>
            <a:r>
              <a:rPr lang="en-US" dirty="0" smtClean="0"/>
              <a:t>So degree is represented in fuzzy logic.</a:t>
            </a:r>
          </a:p>
          <a:p>
            <a:endParaRPr lang="en-US" dirty="0" smtClean="0"/>
          </a:p>
          <a:p>
            <a:r>
              <a:rPr lang="en-US" dirty="0" smtClean="0"/>
              <a:t>Any event, process or function that is changing continuously cannot always be defined as either true or false, which means that we need to  define such activities in a fuzzy manner.</a:t>
            </a:r>
          </a:p>
          <a:p>
            <a:r>
              <a:rPr lang="en-US" dirty="0" smtClean="0"/>
              <a:t>In fuzzy systems, the values are indicated by a number in the range from 0 to 1. </a:t>
            </a:r>
            <a:endParaRPr lang="en-US" dirty="0"/>
          </a:p>
          <a:p>
            <a:r>
              <a:rPr lang="en-US" dirty="0" smtClean="0"/>
              <a:t>Here 1.0 represents absolute truth and 0.0 represents absolute false.</a:t>
            </a:r>
          </a:p>
          <a:p>
            <a:r>
              <a:rPr lang="en-US" dirty="0" smtClean="0"/>
              <a:t>The number which indicates the value in fuzzy system is called truth table.</a:t>
            </a:r>
            <a:endParaRPr lang="en-US" dirty="0"/>
          </a:p>
        </p:txBody>
      </p:sp>
    </p:spTree>
    <p:extLst>
      <p:ext uri="{BB962C8B-B14F-4D97-AF65-F5344CB8AC3E}">
        <p14:creationId xmlns:p14="http://schemas.microsoft.com/office/powerpoint/2010/main" xmlns="" val="262320097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lowchart: Alternate Process 3"/>
          <p:cNvSpPr/>
          <p:nvPr/>
        </p:nvSpPr>
        <p:spPr>
          <a:xfrm>
            <a:off x="1162878" y="2809462"/>
            <a:ext cx="735496" cy="161676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898374" y="2809462"/>
            <a:ext cx="745435" cy="55659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98374" y="3843130"/>
            <a:ext cx="755374" cy="397566"/>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653748" y="2610679"/>
            <a:ext cx="1311965" cy="530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Clear</a:t>
            </a:r>
            <a:endParaRPr lang="en-US" dirty="0"/>
          </a:p>
        </p:txBody>
      </p:sp>
      <p:sp>
        <p:nvSpPr>
          <p:cNvPr id="10" name="Rectangle 9"/>
          <p:cNvSpPr/>
          <p:nvPr/>
        </p:nvSpPr>
        <p:spPr>
          <a:xfrm>
            <a:off x="2653748" y="4180026"/>
            <a:ext cx="1311965" cy="530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Clear</a:t>
            </a:r>
            <a:endParaRPr lang="en-US" dirty="0"/>
          </a:p>
        </p:txBody>
      </p:sp>
      <p:cxnSp>
        <p:nvCxnSpPr>
          <p:cNvPr id="12" name="Straight Connector 11"/>
          <p:cNvCxnSpPr>
            <a:stCxn id="9" idx="3"/>
          </p:cNvCxnSpPr>
          <p:nvPr/>
        </p:nvCxnSpPr>
        <p:spPr>
          <a:xfrm flipV="1">
            <a:off x="3965713" y="2634388"/>
            <a:ext cx="526775" cy="2413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965713" y="3087756"/>
            <a:ext cx="606287" cy="278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965713" y="4180026"/>
            <a:ext cx="725557" cy="606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965713" y="4424154"/>
            <a:ext cx="725557" cy="285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965713" y="4710113"/>
            <a:ext cx="725557" cy="654947"/>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492488" y="2411896"/>
            <a:ext cx="626165" cy="369332"/>
          </a:xfrm>
          <a:prstGeom prst="rect">
            <a:avLst/>
          </a:prstGeom>
          <a:noFill/>
        </p:spPr>
        <p:txBody>
          <a:bodyPr wrap="square" rtlCol="0">
            <a:spAutoFit/>
          </a:bodyPr>
          <a:lstStyle/>
          <a:p>
            <a:r>
              <a:rPr lang="en-US" dirty="0" smtClean="0"/>
              <a:t>yes</a:t>
            </a:r>
            <a:endParaRPr lang="en-US" dirty="0"/>
          </a:p>
        </p:txBody>
      </p:sp>
      <p:sp>
        <p:nvSpPr>
          <p:cNvPr id="24" name="TextBox 23"/>
          <p:cNvSpPr txBox="1"/>
          <p:nvPr/>
        </p:nvSpPr>
        <p:spPr>
          <a:xfrm>
            <a:off x="4631635" y="3155746"/>
            <a:ext cx="1123121" cy="369332"/>
          </a:xfrm>
          <a:prstGeom prst="rect">
            <a:avLst/>
          </a:prstGeom>
          <a:noFill/>
        </p:spPr>
        <p:txBody>
          <a:bodyPr wrap="square" rtlCol="0">
            <a:spAutoFit/>
          </a:bodyPr>
          <a:lstStyle/>
          <a:p>
            <a:r>
              <a:rPr lang="en-US" dirty="0" smtClean="0"/>
              <a:t>no</a:t>
            </a:r>
            <a:endParaRPr lang="en-US" dirty="0"/>
          </a:p>
        </p:txBody>
      </p:sp>
      <p:sp>
        <p:nvSpPr>
          <p:cNvPr id="25" name="TextBox 24"/>
          <p:cNvSpPr txBox="1"/>
          <p:nvPr/>
        </p:nvSpPr>
        <p:spPr>
          <a:xfrm>
            <a:off x="4880113" y="3884616"/>
            <a:ext cx="1023731" cy="369332"/>
          </a:xfrm>
          <a:prstGeom prst="rect">
            <a:avLst/>
          </a:prstGeom>
          <a:noFill/>
        </p:spPr>
        <p:txBody>
          <a:bodyPr wrap="square" rtlCol="0">
            <a:spAutoFit/>
          </a:bodyPr>
          <a:lstStyle/>
          <a:p>
            <a:r>
              <a:rPr lang="en-US" dirty="0" smtClean="0"/>
              <a:t>May be</a:t>
            </a:r>
            <a:endParaRPr lang="en-US" dirty="0"/>
          </a:p>
        </p:txBody>
      </p:sp>
      <p:sp>
        <p:nvSpPr>
          <p:cNvPr id="26" name="TextBox 25"/>
          <p:cNvSpPr txBox="1"/>
          <p:nvPr/>
        </p:nvSpPr>
        <p:spPr>
          <a:xfrm>
            <a:off x="4899991" y="4428820"/>
            <a:ext cx="854765" cy="369332"/>
          </a:xfrm>
          <a:prstGeom prst="rect">
            <a:avLst/>
          </a:prstGeom>
          <a:noFill/>
        </p:spPr>
        <p:txBody>
          <a:bodyPr wrap="square" rtlCol="0">
            <a:spAutoFit/>
          </a:bodyPr>
          <a:lstStyle/>
          <a:p>
            <a:r>
              <a:rPr lang="en-US" dirty="0" smtClean="0"/>
              <a:t>slightly</a:t>
            </a:r>
            <a:endParaRPr lang="en-US" dirty="0"/>
          </a:p>
        </p:txBody>
      </p:sp>
      <p:sp>
        <p:nvSpPr>
          <p:cNvPr id="27" name="TextBox 26"/>
          <p:cNvSpPr txBox="1"/>
          <p:nvPr/>
        </p:nvSpPr>
        <p:spPr>
          <a:xfrm>
            <a:off x="4880112" y="5180394"/>
            <a:ext cx="626165" cy="923330"/>
          </a:xfrm>
          <a:prstGeom prst="rect">
            <a:avLst/>
          </a:prstGeom>
          <a:noFill/>
        </p:spPr>
        <p:txBody>
          <a:bodyPr wrap="square" rtlCol="0">
            <a:spAutoFit/>
          </a:bodyPr>
          <a:lstStyle/>
          <a:p>
            <a:r>
              <a:rPr lang="en-US" dirty="0" smtClean="0"/>
              <a:t>Might be</a:t>
            </a:r>
            <a:endParaRPr lang="en-US" dirty="0"/>
          </a:p>
        </p:txBody>
      </p:sp>
      <p:sp>
        <p:nvSpPr>
          <p:cNvPr id="28" name="TextBox 27"/>
          <p:cNvSpPr txBox="1"/>
          <p:nvPr/>
        </p:nvSpPr>
        <p:spPr>
          <a:xfrm>
            <a:off x="5098775" y="2749826"/>
            <a:ext cx="2126974" cy="646331"/>
          </a:xfrm>
          <a:prstGeom prst="rect">
            <a:avLst/>
          </a:prstGeom>
          <a:noFill/>
        </p:spPr>
        <p:txBody>
          <a:bodyPr wrap="square" rtlCol="0">
            <a:spAutoFit/>
          </a:bodyPr>
          <a:lstStyle/>
          <a:p>
            <a:r>
              <a:rPr lang="en-US" dirty="0" err="1" smtClean="0"/>
              <a:t>Bivalued</a:t>
            </a:r>
            <a:r>
              <a:rPr lang="en-US" dirty="0" smtClean="0"/>
              <a:t>/Boolean logic</a:t>
            </a:r>
            <a:endParaRPr lang="en-US" dirty="0"/>
          </a:p>
        </p:txBody>
      </p:sp>
      <p:sp>
        <p:nvSpPr>
          <p:cNvPr id="29" name="TextBox 28"/>
          <p:cNvSpPr txBox="1"/>
          <p:nvPr/>
        </p:nvSpPr>
        <p:spPr>
          <a:xfrm>
            <a:off x="5754756" y="4408770"/>
            <a:ext cx="2594114" cy="646331"/>
          </a:xfrm>
          <a:prstGeom prst="rect">
            <a:avLst/>
          </a:prstGeom>
          <a:noFill/>
        </p:spPr>
        <p:txBody>
          <a:bodyPr wrap="square" rtlCol="0">
            <a:spAutoFit/>
          </a:bodyPr>
          <a:lstStyle/>
          <a:p>
            <a:r>
              <a:rPr lang="en-US" dirty="0" smtClean="0"/>
              <a:t>Multivalued logic or Fuzzy logic</a:t>
            </a:r>
            <a:endParaRPr lang="en-US" dirty="0"/>
          </a:p>
        </p:txBody>
      </p:sp>
    </p:spTree>
    <p:extLst>
      <p:ext uri="{BB962C8B-B14F-4D97-AF65-F5344CB8AC3E}">
        <p14:creationId xmlns:p14="http://schemas.microsoft.com/office/powerpoint/2010/main" xmlns="" val="397023962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725863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1283</TotalTime>
  <Words>4083</Words>
  <Application>Microsoft Office PowerPoint</Application>
  <PresentationFormat>On-screen Show (4:3)</PresentationFormat>
  <Paragraphs>519</Paragraphs>
  <Slides>73</Slides>
  <Notes>0</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Knowledge Representation</vt:lpstr>
      <vt:lpstr>Definition </vt:lpstr>
      <vt:lpstr>Slide 3</vt:lpstr>
      <vt:lpstr>Slide 4</vt:lpstr>
      <vt:lpstr>Issues in knowledge representation </vt:lpstr>
      <vt:lpstr>Slide 6</vt:lpstr>
      <vt:lpstr>Slide 7</vt:lpstr>
      <vt:lpstr>Slide 8</vt:lpstr>
      <vt:lpstr>Slide 9</vt:lpstr>
      <vt:lpstr>Slide 10</vt:lpstr>
      <vt:lpstr>Slide 11</vt:lpstr>
      <vt:lpstr>Slide 12</vt:lpstr>
      <vt:lpstr>Knowledge base representation system and its properties</vt:lpstr>
      <vt:lpstr>Slide 14</vt:lpstr>
      <vt:lpstr>Slide 15</vt:lpstr>
      <vt:lpstr>Slide 16</vt:lpstr>
      <vt:lpstr>Properties</vt:lpstr>
      <vt:lpstr>Slide 18</vt:lpstr>
      <vt:lpstr>Semantic Nets</vt:lpstr>
      <vt:lpstr>Semantic Nets</vt:lpstr>
      <vt:lpstr>Components of a semantic network</vt:lpstr>
      <vt:lpstr>General Components</vt:lpstr>
      <vt:lpstr>Frames</vt:lpstr>
      <vt:lpstr>Components</vt:lpstr>
      <vt:lpstr>Slide 25</vt:lpstr>
      <vt:lpstr>Slide 26</vt:lpstr>
      <vt:lpstr>Slide 27</vt:lpstr>
      <vt:lpstr>Example of Frame Inheritance</vt:lpstr>
      <vt:lpstr>Slide 29</vt:lpstr>
      <vt:lpstr>Conceptual Dependencies</vt:lpstr>
      <vt:lpstr>Slide 31</vt:lpstr>
      <vt:lpstr>Examples of Primitive Acts </vt:lpstr>
      <vt:lpstr>Slide 33</vt:lpstr>
      <vt:lpstr>Conceptual categories</vt:lpstr>
      <vt:lpstr>Slide 35</vt:lpstr>
      <vt:lpstr>Conceptual categories </vt:lpstr>
      <vt:lpstr>Slide 37</vt:lpstr>
      <vt:lpstr>Slide 38</vt:lpstr>
      <vt:lpstr>Slide 39</vt:lpstr>
      <vt:lpstr>Scripts</vt:lpstr>
      <vt:lpstr>Slide 41</vt:lpstr>
      <vt:lpstr>Slide 42</vt:lpstr>
      <vt:lpstr>Components of scripts</vt:lpstr>
      <vt:lpstr>Rule based systems ( Production System)</vt:lpstr>
      <vt:lpstr>Slide 45</vt:lpstr>
      <vt:lpstr>Tautology</vt:lpstr>
      <vt:lpstr>Validity in propositional logic</vt:lpstr>
      <vt:lpstr>Satisfiability in propositional logic</vt:lpstr>
      <vt:lpstr>Forward chaining</vt:lpstr>
      <vt:lpstr>Background Chaining</vt:lpstr>
      <vt:lpstr>Lifting  </vt:lpstr>
      <vt:lpstr>FOPL (First-Order Predicate Logic)</vt:lpstr>
      <vt:lpstr>Components of FOPL</vt:lpstr>
      <vt:lpstr>Slide 54</vt:lpstr>
      <vt:lpstr>Slide 55</vt:lpstr>
      <vt:lpstr>Properties of Quantifier </vt:lpstr>
      <vt:lpstr>Handling uncertain knowledge</vt:lpstr>
      <vt:lpstr>Slide 58</vt:lpstr>
      <vt:lpstr>Random variables</vt:lpstr>
      <vt:lpstr>Probability and its types</vt:lpstr>
      <vt:lpstr>Inference using Full Joint Distribution</vt:lpstr>
      <vt:lpstr>Slide 62</vt:lpstr>
      <vt:lpstr>Slide 63</vt:lpstr>
      <vt:lpstr>Bayes rules and its uses</vt:lpstr>
      <vt:lpstr>Example </vt:lpstr>
      <vt:lpstr>Uses </vt:lpstr>
      <vt:lpstr>Bayesian Network</vt:lpstr>
      <vt:lpstr>Example </vt:lpstr>
      <vt:lpstr>Slide 69</vt:lpstr>
      <vt:lpstr>Inference in Belief network</vt:lpstr>
      <vt:lpstr>Fuzzy Logic  </vt:lpstr>
      <vt:lpstr>Slide 72</vt:lpstr>
      <vt:lpstr>Slide 73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Representation</dc:title>
  <dc:creator>Acer</dc:creator>
  <cp:lastModifiedBy>Acer</cp:lastModifiedBy>
  <cp:revision>206</cp:revision>
  <dcterms:created xsi:type="dcterms:W3CDTF">2006-08-16T00:00:00Z</dcterms:created>
  <dcterms:modified xsi:type="dcterms:W3CDTF">2026-06-28T16:42:48Z</dcterms:modified>
</cp:coreProperties>
</file>