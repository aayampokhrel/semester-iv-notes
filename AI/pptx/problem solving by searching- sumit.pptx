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964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102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7320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2273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0670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500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7411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6247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406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372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838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98460-912D-4361-A04A-C76C0A626E0D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4923E-EC63-4E79-BDB0-77EB37E78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166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Problem Solving by Searching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823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solving in AI is a systematic search through a range of possible action in order to reach some predefined goal or solutions.</a:t>
            </a:r>
          </a:p>
          <a:p>
            <a:r>
              <a:rPr lang="en-US" dirty="0" smtClean="0"/>
              <a:t>There are four general states in problem solving which are as follows:</a:t>
            </a:r>
          </a:p>
          <a:p>
            <a:r>
              <a:rPr lang="en-US" dirty="0" smtClean="0"/>
              <a:t>Goal formulation: A goal is a agent that the agent is trying to reach.</a:t>
            </a:r>
          </a:p>
          <a:p>
            <a:r>
              <a:rPr lang="en-US" dirty="0"/>
              <a:t>Problem formulation: This is the process of deciding what actions and </a:t>
            </a:r>
            <a:r>
              <a:rPr lang="en-US" dirty="0" smtClean="0"/>
              <a:t>states and goal to consider.</a:t>
            </a:r>
          </a:p>
          <a:p>
            <a:r>
              <a:rPr lang="en-US" dirty="0" smtClean="0"/>
              <a:t>Search method: it determines possible sequence of actions and choose the best one.</a:t>
            </a:r>
          </a:p>
          <a:p>
            <a:r>
              <a:rPr lang="en-US" dirty="0" smtClean="0"/>
              <a:t>Execute: it provides the solution to perform action.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58852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Searching :It is commonly used method in AI for solving problems.</a:t>
            </a:r>
          </a:p>
          <a:p>
            <a:r>
              <a:rPr lang="en-US" dirty="0" smtClean="0"/>
              <a:t>The search technique explores the possible moves that one can make in a space of ‘states’ called the search space.</a:t>
            </a:r>
          </a:p>
          <a:p>
            <a:r>
              <a:rPr lang="en-US" dirty="0"/>
              <a:t>In Artificial Intelligence, a search technique is used to explore all possible configurations or states of a problem to find a solution. These states form a structure known as the search space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2013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Problem formulation: In AI, it is the process of defining a problem in a way that a computer can understand and solve it using AI techniques—especially search algorithms.</a:t>
            </a:r>
          </a:p>
          <a:p>
            <a:r>
              <a:rPr lang="en-US" dirty="0" smtClean="0"/>
              <a:t>Component of problem formulation:</a:t>
            </a:r>
          </a:p>
          <a:p>
            <a:pPr lvl="1"/>
            <a:r>
              <a:rPr lang="en-US" b="1" dirty="0" smtClean="0"/>
              <a:t>Initial State: </a:t>
            </a:r>
            <a:r>
              <a:rPr lang="en-US" dirty="0" smtClean="0"/>
              <a:t>The starting point of the problem.</a:t>
            </a:r>
          </a:p>
          <a:p>
            <a:pPr lvl="1"/>
            <a:r>
              <a:rPr lang="en-US" b="1" dirty="0" smtClean="0"/>
              <a:t>State Space: </a:t>
            </a:r>
            <a:r>
              <a:rPr lang="en-US" dirty="0" smtClean="0"/>
              <a:t>All possible states reachable from the initial state.</a:t>
            </a:r>
          </a:p>
          <a:p>
            <a:pPr lvl="1"/>
            <a:r>
              <a:rPr lang="en-US" b="1" dirty="0" smtClean="0"/>
              <a:t>Actions: </a:t>
            </a:r>
            <a:r>
              <a:rPr lang="en-US" dirty="0" smtClean="0"/>
              <a:t>Legal moves or operations that can be performed.</a:t>
            </a:r>
          </a:p>
          <a:p>
            <a:pPr lvl="1"/>
            <a:r>
              <a:rPr lang="en-US" b="1" dirty="0" smtClean="0"/>
              <a:t>Transition Model: </a:t>
            </a:r>
            <a:r>
              <a:rPr lang="en-US" dirty="0" smtClean="0"/>
              <a:t>Describes what results from performing an action in a state.</a:t>
            </a:r>
          </a:p>
          <a:p>
            <a:pPr lvl="1"/>
            <a:r>
              <a:rPr lang="en-US" b="1" dirty="0" smtClean="0"/>
              <a:t>Goal Test: </a:t>
            </a:r>
            <a:r>
              <a:rPr lang="en-US" dirty="0" smtClean="0"/>
              <a:t>Checks whether a given state is a goal state.</a:t>
            </a:r>
          </a:p>
          <a:p>
            <a:pPr lvl="1"/>
            <a:r>
              <a:rPr lang="en-US" b="1" dirty="0" smtClean="0"/>
              <a:t>Path Cost: </a:t>
            </a:r>
            <a:r>
              <a:rPr lang="en-US" dirty="0" smtClean="0"/>
              <a:t>(Optional) A numeric cost for a path, used in optimization.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Space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**see </a:t>
            </a:r>
            <a:r>
              <a:rPr lang="en-US" smtClean="0"/>
              <a:t>in copy**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703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181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Well defined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problems that lacks one or more of the below 5 properties is an ill-defined problem.</a:t>
            </a:r>
          </a:p>
          <a:p>
            <a:r>
              <a:rPr lang="en-US" dirty="0" smtClean="0"/>
              <a:t>But a well-defined problem can be defined formally by following five components:</a:t>
            </a:r>
          </a:p>
          <a:p>
            <a:r>
              <a:rPr lang="en-US" dirty="0" smtClean="0"/>
              <a:t>Initial state: state from which agent start.</a:t>
            </a:r>
          </a:p>
          <a:p>
            <a:r>
              <a:rPr lang="en-US" dirty="0" smtClean="0"/>
              <a:t>State description ( Success or function): description of possible actions available on agent.</a:t>
            </a:r>
          </a:p>
          <a:p>
            <a:r>
              <a:rPr lang="en-US" dirty="0" smtClean="0"/>
              <a:t>State space and path: all states reachable from initial by any sequence of actions is state space. Path is the sequence through state space.</a:t>
            </a:r>
          </a:p>
          <a:p>
            <a:r>
              <a:rPr lang="en-US" dirty="0" smtClean="0"/>
              <a:t>Path cost: sum of cost of each path from initial to given state.</a:t>
            </a:r>
          </a:p>
          <a:p>
            <a:r>
              <a:rPr lang="en-US" dirty="0" smtClean="0"/>
              <a:t>Goal test: determining the state is goal state or not.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376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Well defined problem: </a:t>
            </a:r>
          </a:p>
          <a:p>
            <a:pPr lvl="1"/>
            <a:r>
              <a:rPr lang="en-US" dirty="0" err="1" smtClean="0"/>
              <a:t>Vaccum</a:t>
            </a:r>
            <a:r>
              <a:rPr lang="en-US" dirty="0" smtClean="0"/>
              <a:t> world state problem</a:t>
            </a:r>
          </a:p>
          <a:p>
            <a:pPr lvl="1"/>
            <a:r>
              <a:rPr lang="en-US" dirty="0" smtClean="0"/>
              <a:t>Real world problem( used to define the time, money and human resource cost)</a:t>
            </a:r>
          </a:p>
          <a:p>
            <a:pPr lvl="1"/>
            <a:r>
              <a:rPr lang="en-US" dirty="0" smtClean="0"/>
              <a:t>Toy problem (used to compare performance of system)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903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Problems by searching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Figure bellow contains representation of  a map. The nodes represent cities, and the links represent direct road connections between cities. The number associated to a link represent the length of the corresponding road. The search problem is to find a path from a city S to a city 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6328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FIG: graph representation of map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44582" y="3148149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490651" y="2203269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275908" y="4511040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271554" y="1881052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560422" y="3378926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438399" y="4554583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663541" y="2921727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cxnSp>
        <p:nvCxnSpPr>
          <p:cNvPr id="12" name="Straight Connector 11"/>
          <p:cNvCxnSpPr>
            <a:stCxn id="4" idx="7"/>
          </p:cNvCxnSpPr>
          <p:nvPr/>
        </p:nvCxnSpPr>
        <p:spPr>
          <a:xfrm rot="5400000" flipH="1" flipV="1">
            <a:off x="1799391" y="2586446"/>
            <a:ext cx="421294" cy="969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4" idx="5"/>
          </p:cNvCxnSpPr>
          <p:nvPr/>
        </p:nvCxnSpPr>
        <p:spPr>
          <a:xfrm rot="16200000" flipH="1">
            <a:off x="1538136" y="3915572"/>
            <a:ext cx="956870" cy="983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7" idx="2"/>
          </p:cNvCxnSpPr>
          <p:nvPr/>
        </p:nvCxnSpPr>
        <p:spPr>
          <a:xfrm flipV="1">
            <a:off x="3414831" y="2338252"/>
            <a:ext cx="856723" cy="26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 rot="16200000" flipH="1">
            <a:off x="5142412" y="2503716"/>
            <a:ext cx="911114" cy="839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0" idx="2"/>
          </p:cNvCxnSpPr>
          <p:nvPr/>
        </p:nvCxnSpPr>
        <p:spPr>
          <a:xfrm flipV="1">
            <a:off x="6497666" y="3378927"/>
            <a:ext cx="1165875" cy="47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6" idx="2"/>
          </p:cNvCxnSpPr>
          <p:nvPr/>
        </p:nvCxnSpPr>
        <p:spPr>
          <a:xfrm flipV="1">
            <a:off x="3362580" y="4968240"/>
            <a:ext cx="913328" cy="164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139128" y="4284617"/>
            <a:ext cx="726098" cy="469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15291" y="2651760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900057" y="2360023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531326" y="5255623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660572" y="4589417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426823" y="1937658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323703" y="4902926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500949" y="3065417"/>
            <a:ext cx="75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3576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problem will be used to illustrate some search methods.</a:t>
            </a:r>
          </a:p>
          <a:p>
            <a:r>
              <a:rPr lang="en-US" dirty="0" smtClean="0"/>
              <a:t>Search problems are part of a large number of real world applications</a:t>
            </a:r>
          </a:p>
          <a:p>
            <a:pPr lvl="1"/>
            <a:r>
              <a:rPr lang="en-US" dirty="0" smtClean="0"/>
              <a:t>VLSI layout</a:t>
            </a:r>
          </a:p>
          <a:p>
            <a:pPr lvl="1"/>
            <a:r>
              <a:rPr lang="en-US" dirty="0" smtClean="0"/>
              <a:t>Web Search</a:t>
            </a:r>
          </a:p>
          <a:p>
            <a:pPr lvl="1"/>
            <a:r>
              <a:rPr lang="en-US" dirty="0" smtClean="0"/>
              <a:t>Path Planning</a:t>
            </a:r>
          </a:p>
          <a:p>
            <a:pPr lvl="1"/>
            <a:r>
              <a:rPr lang="en-US" dirty="0" smtClean="0"/>
              <a:t>Robot navigation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0809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techniques / search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two broad search strategies:</a:t>
            </a:r>
          </a:p>
          <a:p>
            <a:r>
              <a:rPr lang="en-US" dirty="0" smtClean="0"/>
              <a:t>Uniformed ( or blind) search methods: In the method, the order in which potential solution path is considered in arbitrary, using-no domain specific information to judge where the solution is likely to lie. </a:t>
            </a:r>
            <a:r>
              <a:rPr lang="en-US" dirty="0" err="1" smtClean="0"/>
              <a:t>Eg</a:t>
            </a:r>
            <a:r>
              <a:rPr lang="en-US" dirty="0" smtClean="0"/>
              <a:t> Breadth first search, Depth first  Search, Depth limit search, Bidirectional Search etc.</a:t>
            </a:r>
          </a:p>
          <a:p>
            <a:r>
              <a:rPr lang="en-US" dirty="0" smtClean="0"/>
              <a:t>Heuristically informed search methods: In this method, one uses domain-dependent ( heuristic ) information in order to search the space more efficiently. </a:t>
            </a:r>
            <a:r>
              <a:rPr lang="en-US" dirty="0" err="1" smtClean="0"/>
              <a:t>Eg</a:t>
            </a:r>
            <a:r>
              <a:rPr lang="en-US" dirty="0" smtClean="0"/>
              <a:t>: Greedy best first search, A* search, Hill climbing search etc.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182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evaluation of search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We can evaluate the performance of search techniques in four ways:</a:t>
            </a:r>
          </a:p>
          <a:p>
            <a:r>
              <a:rPr lang="en-US" dirty="0" smtClean="0"/>
              <a:t>Completeness: An algorithm is said to be complete if it definitely finds solution to the problem, if exist.</a:t>
            </a:r>
          </a:p>
          <a:p>
            <a:r>
              <a:rPr lang="en-US" dirty="0" smtClean="0"/>
              <a:t>Time complexity: how long ( worst or average case) does it take to find a solution? Usually in terms of number of nodes expanded.</a:t>
            </a:r>
          </a:p>
          <a:p>
            <a:r>
              <a:rPr lang="en-US" dirty="0" smtClean="0"/>
              <a:t>Space complexity: how much space is used by the algorithm? usually measured in terms of the maximum number of nodes in memory at a time.</a:t>
            </a:r>
          </a:p>
          <a:p>
            <a:r>
              <a:rPr lang="en-US" dirty="0" smtClean="0"/>
              <a:t>Optimality/ admissibility: If a solution is found, is it guaranteed to be optimal one? For example is it the one with minimum cost?</a:t>
            </a:r>
          </a:p>
          <a:p>
            <a:r>
              <a:rPr lang="en-US" dirty="0" smtClean="0"/>
              <a:t> time and space complexity are measured in terms of:</a:t>
            </a:r>
          </a:p>
          <a:p>
            <a:r>
              <a:rPr lang="en-US" dirty="0"/>
              <a:t>b</a:t>
            </a:r>
            <a:r>
              <a:rPr lang="en-US" dirty="0" smtClean="0"/>
              <a:t> =minimum branching factor (number of successor of any node) of the search tree.</a:t>
            </a:r>
          </a:p>
          <a:p>
            <a:r>
              <a:rPr lang="en-US" dirty="0" smtClean="0"/>
              <a:t>m= depth of the least-cost solution</a:t>
            </a:r>
          </a:p>
          <a:p>
            <a:r>
              <a:rPr lang="en-US" dirty="0" smtClean="0"/>
              <a:t>d= maximum length of any path in the space.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070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Uniform Cost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uninformed search algorithm.</a:t>
            </a:r>
          </a:p>
          <a:p>
            <a:r>
              <a:rPr lang="en-US" dirty="0" smtClean="0"/>
              <a:t>Finds the least-cost path from a start node to a goal node in a weighted graph.</a:t>
            </a:r>
          </a:p>
          <a:p>
            <a:r>
              <a:rPr lang="en-US" dirty="0" smtClean="0"/>
              <a:t>Variant of </a:t>
            </a:r>
            <a:r>
              <a:rPr lang="en-US" dirty="0" err="1" smtClean="0"/>
              <a:t>Dijkastra</a:t>
            </a:r>
            <a:r>
              <a:rPr lang="en-US" dirty="0" smtClean="0"/>
              <a:t> algorithm.</a:t>
            </a:r>
          </a:p>
          <a:p>
            <a:r>
              <a:rPr lang="en-US" dirty="0" smtClean="0"/>
              <a:t>Guarantees optimal solution if step costs are non-negative.</a:t>
            </a:r>
          </a:p>
          <a:p>
            <a:r>
              <a:rPr lang="en-US" dirty="0" smtClean="0"/>
              <a:t>Explores nodes with the lowest cumulative cost first.</a:t>
            </a:r>
          </a:p>
          <a:p>
            <a:r>
              <a:rPr lang="en-US" dirty="0" smtClean="0"/>
              <a:t>Uses a priority queue to manage nodes.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Consider the following graph. Let the starting node be A and the goal node be M.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3647" y="2128972"/>
            <a:ext cx="6152604" cy="363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Heuristic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Heuristic function h(n) estimates the goodness of a node n.</a:t>
            </a:r>
          </a:p>
          <a:p>
            <a:r>
              <a:rPr lang="en-US" dirty="0" smtClean="0"/>
              <a:t>It is estimate based on domain-specific information that is computable from current state description of how close we are to goal.</a:t>
            </a:r>
          </a:p>
          <a:p>
            <a:r>
              <a:rPr lang="en-US" dirty="0" smtClean="0"/>
              <a:t>h(n) = estimated cost (distance ) of minimal cost path from n to goal state.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or heuristic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Best-First Search:</a:t>
            </a:r>
          </a:p>
          <a:p>
            <a:r>
              <a:rPr lang="en-US" dirty="0" smtClean="0"/>
              <a:t>In this search we use evaluation function f(n)</a:t>
            </a:r>
            <a:r>
              <a:rPr lang="en-IN" dirty="0" smtClean="0"/>
              <a:t> that determines which node is to expand next, that means node with lowest f(n) is expanded first.</a:t>
            </a:r>
          </a:p>
          <a:p>
            <a:r>
              <a:rPr lang="en-IN" dirty="0" smtClean="0"/>
              <a:t>The major source of information for f(n) is h(n).</a:t>
            </a:r>
          </a:p>
          <a:p>
            <a:r>
              <a:rPr lang="en-IN" dirty="0" smtClean="0"/>
              <a:t>This strategy use estimates of the cost reaching the goal and try to minimize it.</a:t>
            </a:r>
          </a:p>
          <a:p>
            <a:r>
              <a:rPr lang="en-IN" dirty="0" smtClean="0"/>
              <a:t>It consists of two types based on the evaluation function with special cases which are as follows: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Greedy best-first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This method uses evaluation function to select which node to be expanded next.</a:t>
            </a:r>
          </a:p>
          <a:p>
            <a:r>
              <a:rPr lang="en-IN" dirty="0" smtClean="0"/>
              <a:t>The node with lowest evaluation is selected for expansion because it has the closest path to goal.</a:t>
            </a:r>
          </a:p>
          <a:p>
            <a:r>
              <a:rPr lang="en-IN" dirty="0" smtClean="0"/>
              <a:t>Evaluation function f(n)=h(n)</a:t>
            </a:r>
          </a:p>
          <a:p>
            <a:r>
              <a:rPr lang="en-IN" dirty="0" smtClean="0"/>
              <a:t>Estimate of cost from n to goal.</a:t>
            </a:r>
          </a:p>
          <a:p>
            <a:r>
              <a:rPr lang="en-IN" dirty="0" smtClean="0"/>
              <a:t>This algorithm has O(</a:t>
            </a:r>
            <a:r>
              <a:rPr lang="en-IN" dirty="0" err="1" smtClean="0"/>
              <a:t>b</a:t>
            </a:r>
            <a:r>
              <a:rPr lang="en-IN" baseline="30000" dirty="0" err="1" smtClean="0"/>
              <a:t>m</a:t>
            </a:r>
            <a:r>
              <a:rPr lang="en-IN" dirty="0" smtClean="0"/>
              <a:t>) space and time complexity, where b is the average branching factor and m is the maximum depth of the search tree.</a:t>
            </a:r>
            <a:endParaRPr lang="en-US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063930" y="2416629"/>
            <a:ext cx="561703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529838" y="3836126"/>
            <a:ext cx="561703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940730" y="1989908"/>
            <a:ext cx="561703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394959" y="3971109"/>
            <a:ext cx="561703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528456" y="2190206"/>
            <a:ext cx="561703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88376" y="3039292"/>
            <a:ext cx="561703" cy="3657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11" name="Straight Connector 10"/>
          <p:cNvCxnSpPr>
            <a:stCxn id="4" idx="6"/>
            <a:endCxn id="8" idx="2"/>
          </p:cNvCxnSpPr>
          <p:nvPr/>
        </p:nvCxnSpPr>
        <p:spPr>
          <a:xfrm flipV="1">
            <a:off x="2625633" y="2373086"/>
            <a:ext cx="1902823" cy="226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064033" y="2172789"/>
            <a:ext cx="1902823" cy="226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7"/>
          </p:cNvCxnSpPr>
          <p:nvPr/>
        </p:nvCxnSpPr>
        <p:spPr>
          <a:xfrm rot="5400000">
            <a:off x="5713490" y="2516580"/>
            <a:ext cx="1669005" cy="1347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7" idx="2"/>
          </p:cNvCxnSpPr>
          <p:nvPr/>
        </p:nvCxnSpPr>
        <p:spPr>
          <a:xfrm>
            <a:off x="4402183" y="3331028"/>
            <a:ext cx="992776" cy="822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7"/>
            <a:endCxn id="9" idx="3"/>
          </p:cNvCxnSpPr>
          <p:nvPr/>
        </p:nvCxnSpPr>
        <p:spPr>
          <a:xfrm rot="5400000" flipH="1" flipV="1">
            <a:off x="3220857" y="3139912"/>
            <a:ext cx="538202" cy="96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5" idx="5"/>
            <a:endCxn id="7" idx="2"/>
          </p:cNvCxnSpPr>
          <p:nvPr/>
        </p:nvCxnSpPr>
        <p:spPr>
          <a:xfrm rot="16200000" flipH="1">
            <a:off x="4199287" y="2958316"/>
            <a:ext cx="5667" cy="2385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4" idx="4"/>
            <a:endCxn id="5" idx="0"/>
          </p:cNvCxnSpPr>
          <p:nvPr/>
        </p:nvCxnSpPr>
        <p:spPr>
          <a:xfrm rot="16200000" flipH="1">
            <a:off x="2050868" y="3076303"/>
            <a:ext cx="1053737" cy="465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9" idx="0"/>
            <a:endCxn id="8" idx="4"/>
          </p:cNvCxnSpPr>
          <p:nvPr/>
        </p:nvCxnSpPr>
        <p:spPr>
          <a:xfrm rot="5400000" flipH="1" flipV="1">
            <a:off x="4247605" y="2477589"/>
            <a:ext cx="483326" cy="64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08960" y="2024743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769429" y="1680755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8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840583" y="2869475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097383" y="4267200"/>
            <a:ext cx="69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667691" y="3117668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8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165565" y="3152502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5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698274" y="2778035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7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972595" y="3357154"/>
            <a:ext cx="40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Let G be the goal node, then distance to node G from other node are:</a:t>
            </a:r>
          </a:p>
          <a:p>
            <a:pPr lvl="1"/>
            <a:r>
              <a:rPr lang="en-IN" dirty="0" smtClean="0"/>
              <a:t>S-&gt;G =12</a:t>
            </a:r>
          </a:p>
          <a:p>
            <a:pPr lvl="1"/>
            <a:r>
              <a:rPr lang="en-IN" dirty="0" smtClean="0"/>
              <a:t>B-&gt;G=4</a:t>
            </a:r>
          </a:p>
          <a:p>
            <a:pPr lvl="1"/>
            <a:r>
              <a:rPr lang="en-IN" dirty="0" smtClean="0"/>
              <a:t>E-&gt;G=</a:t>
            </a:r>
            <a:r>
              <a:rPr lang="en-US" dirty="0" smtClean="0"/>
              <a:t>7</a:t>
            </a:r>
          </a:p>
          <a:p>
            <a:pPr lvl="1"/>
            <a:r>
              <a:rPr lang="en-IN" dirty="0" smtClean="0"/>
              <a:t>D-&gt;G =5</a:t>
            </a:r>
          </a:p>
          <a:p>
            <a:pPr lvl="1"/>
            <a:r>
              <a:rPr lang="en-IN" dirty="0" smtClean="0"/>
              <a:t>C-&gt;G=3</a:t>
            </a:r>
          </a:p>
          <a:p>
            <a:r>
              <a:rPr lang="en-IN" dirty="0" smtClean="0"/>
              <a:t> now, greedy search operation is done as bellow: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53589" y="211618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798320" y="327442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09303" y="3309256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731520" y="2926080"/>
            <a:ext cx="587828" cy="27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</p:cNvCxnSpPr>
          <p:nvPr/>
        </p:nvCxnSpPr>
        <p:spPr>
          <a:xfrm rot="16200000" flipH="1">
            <a:off x="1435408" y="2793946"/>
            <a:ext cx="646204" cy="427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32856" y="2037806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H(n)=12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059575" y="4005944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74467" y="4058195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H(n)=4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5691051" y="1955074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4715692" y="2834638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6692536" y="2860765"/>
            <a:ext cx="544286" cy="6966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5364480" y="3757747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4158343" y="3688079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cxnSp>
        <p:nvCxnSpPr>
          <p:cNvPr id="23" name="Straight Connector 22"/>
          <p:cNvCxnSpPr>
            <a:stCxn id="14" idx="2"/>
            <a:endCxn id="17" idx="0"/>
          </p:cNvCxnSpPr>
          <p:nvPr/>
        </p:nvCxnSpPr>
        <p:spPr>
          <a:xfrm rot="10800000" flipV="1">
            <a:off x="5061859" y="2288176"/>
            <a:ext cx="629193" cy="5464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6"/>
            <a:endCxn id="19" idx="1"/>
          </p:cNvCxnSpPr>
          <p:nvPr/>
        </p:nvCxnSpPr>
        <p:spPr>
          <a:xfrm>
            <a:off x="6383382" y="2288177"/>
            <a:ext cx="388863" cy="67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7" idx="3"/>
            <a:endCxn id="21" idx="0"/>
          </p:cNvCxnSpPr>
          <p:nvPr/>
        </p:nvCxnSpPr>
        <p:spPr>
          <a:xfrm rot="5400000">
            <a:off x="4434774" y="3305770"/>
            <a:ext cx="452045" cy="312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7" idx="5"/>
            <a:endCxn id="20" idx="0"/>
          </p:cNvCxnSpPr>
          <p:nvPr/>
        </p:nvCxnSpPr>
        <p:spPr>
          <a:xfrm rot="16200000" flipH="1">
            <a:off x="5247783" y="3294883"/>
            <a:ext cx="521713" cy="404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83382" y="1811383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H(n)=12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136674" y="2590802"/>
            <a:ext cx="818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910148" y="2525487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H(n)=4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3931919" y="4206241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H(n)=7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316583" y="4219304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H(n)=3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404949" y="731521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1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5181601" y="792482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2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9292047" y="618310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3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10193383" y="1389016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11286308" y="2373085"/>
            <a:ext cx="544286" cy="69668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9518469" y="2621278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987244" y="2116185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H(n)=4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11312432" y="1881053"/>
            <a:ext cx="87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8725989" y="3696788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48" name="Oval 47"/>
          <p:cNvSpPr/>
          <p:nvPr/>
        </p:nvSpPr>
        <p:spPr>
          <a:xfrm>
            <a:off x="9906000" y="3740330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50" name="Straight Connector 49"/>
          <p:cNvCxnSpPr>
            <a:stCxn id="41" idx="3"/>
            <a:endCxn id="43" idx="0"/>
          </p:cNvCxnSpPr>
          <p:nvPr/>
        </p:nvCxnSpPr>
        <p:spPr>
          <a:xfrm rot="5400000">
            <a:off x="9747894" y="2074399"/>
            <a:ext cx="663620" cy="430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1" idx="4"/>
            <a:endCxn id="42" idx="1"/>
          </p:cNvCxnSpPr>
          <p:nvPr/>
        </p:nvCxnSpPr>
        <p:spPr>
          <a:xfrm rot="16200000" flipH="1">
            <a:off x="10742838" y="1851933"/>
            <a:ext cx="419890" cy="826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43" idx="3"/>
          </p:cNvCxnSpPr>
          <p:nvPr/>
        </p:nvCxnSpPr>
        <p:spPr>
          <a:xfrm rot="5400000">
            <a:off x="9084061" y="3147928"/>
            <a:ext cx="661052" cy="410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43" idx="4"/>
          </p:cNvCxnSpPr>
          <p:nvPr/>
        </p:nvCxnSpPr>
        <p:spPr>
          <a:xfrm rot="16200000" flipH="1">
            <a:off x="9802586" y="3153592"/>
            <a:ext cx="644434" cy="520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0872651" y="1206137"/>
            <a:ext cx="988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H(n)=12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8342811" y="3300550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H(n)=7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0393680" y="3352802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H(n)=3</a:t>
            </a:r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10607040" y="4624250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9427029" y="4619896"/>
            <a:ext cx="692331" cy="47026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cxnSp>
        <p:nvCxnSpPr>
          <p:cNvPr id="64" name="Straight Connector 63"/>
          <p:cNvCxnSpPr>
            <a:stCxn id="48" idx="4"/>
            <a:endCxn id="62" idx="0"/>
          </p:cNvCxnSpPr>
          <p:nvPr/>
        </p:nvCxnSpPr>
        <p:spPr>
          <a:xfrm rot="5400000">
            <a:off x="9808031" y="4175760"/>
            <a:ext cx="409301" cy="478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48" idx="5"/>
            <a:endCxn id="61" idx="0"/>
          </p:cNvCxnSpPr>
          <p:nvPr/>
        </p:nvCxnSpPr>
        <p:spPr>
          <a:xfrm rot="16200000" flipH="1">
            <a:off x="10483811" y="4154855"/>
            <a:ext cx="482524" cy="456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486502" y="4959533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H(n)=5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10728959" y="5190310"/>
            <a:ext cx="8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H(n)=0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Performance measures:</a:t>
            </a:r>
          </a:p>
          <a:p>
            <a:r>
              <a:rPr lang="en-IN" dirty="0" err="1" smtClean="0"/>
              <a:t>Completness</a:t>
            </a:r>
            <a:r>
              <a:rPr lang="en-IN" dirty="0" smtClean="0"/>
              <a:t>: it is not complete because while minimizing the value of heuristic greedy may oscillate between the two nodes</a:t>
            </a:r>
          </a:p>
          <a:p>
            <a:r>
              <a:rPr lang="en-IN" dirty="0" smtClean="0"/>
              <a:t>Time complexity: O(</a:t>
            </a:r>
            <a:r>
              <a:rPr lang="en-IN" dirty="0" err="1" smtClean="0"/>
              <a:t>b</a:t>
            </a:r>
            <a:r>
              <a:rPr lang="en-IN" baseline="30000" dirty="0" err="1" smtClean="0"/>
              <a:t>m</a:t>
            </a:r>
            <a:r>
              <a:rPr lang="en-IN" dirty="0" smtClean="0"/>
              <a:t>)</a:t>
            </a:r>
          </a:p>
          <a:p>
            <a:r>
              <a:rPr lang="en-IN" dirty="0" smtClean="0"/>
              <a:t>Space complexity : O(</a:t>
            </a:r>
            <a:r>
              <a:rPr lang="en-IN" dirty="0" err="1" smtClean="0"/>
              <a:t>b</a:t>
            </a:r>
            <a:r>
              <a:rPr lang="en-IN" baseline="30000" dirty="0" err="1" smtClean="0"/>
              <a:t>m</a:t>
            </a:r>
            <a:r>
              <a:rPr lang="en-IN" dirty="0" smtClean="0"/>
              <a:t>)</a:t>
            </a:r>
          </a:p>
          <a:p>
            <a:r>
              <a:rPr lang="en-IN" dirty="0" smtClean="0"/>
              <a:t>Optimality: it is not optimal.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A* search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Admissible heuristic:</a:t>
            </a:r>
          </a:p>
          <a:p>
            <a:r>
              <a:rPr lang="en-IN" dirty="0" smtClean="0"/>
              <a:t>A heuristic function is said to be admissible if it is no more then the lowest-cost path to the goal.</a:t>
            </a:r>
          </a:p>
          <a:p>
            <a:r>
              <a:rPr lang="en-IN" dirty="0" smtClean="0"/>
              <a:t>It is used to estimate the cost of reaching the goal state in an informed search algorithm.</a:t>
            </a:r>
          </a:p>
          <a:p>
            <a:r>
              <a:rPr lang="en-IN" dirty="0" smtClean="0"/>
              <a:t>The estimated cost must be always be lower then the actual cost reaching the goal state.</a:t>
            </a:r>
          </a:p>
          <a:p>
            <a:r>
              <a:rPr lang="en-IN" dirty="0" smtClean="0"/>
              <a:t>A* search uses heuristic function h(n)</a:t>
            </a:r>
            <a:r>
              <a:rPr lang="en-US" dirty="0" smtClean="0"/>
              <a:t> as well as the path cost to the node g(n) in computing the total cost f(n).</a:t>
            </a:r>
          </a:p>
          <a:p>
            <a:r>
              <a:rPr lang="en-US" dirty="0" smtClean="0"/>
              <a:t>f(n)=h(n)+g(n), where </a:t>
            </a:r>
          </a:p>
          <a:p>
            <a:pPr lvl="1"/>
            <a:r>
              <a:rPr lang="en-US" dirty="0" smtClean="0"/>
              <a:t>f(n) is evaluation function, </a:t>
            </a:r>
          </a:p>
          <a:p>
            <a:pPr lvl="1"/>
            <a:r>
              <a:rPr lang="en-US" dirty="0" smtClean="0"/>
              <a:t>h(n)= estimated cost from current node to goal node, </a:t>
            </a:r>
          </a:p>
          <a:p>
            <a:pPr lvl="1"/>
            <a:r>
              <a:rPr lang="en-US" dirty="0" smtClean="0"/>
              <a:t>g(n) = the cost from the start node to current node.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method follows a path of the lowest known path keeping a sorted priority queue of alternate path segments along the way.</a:t>
            </a:r>
          </a:p>
          <a:p>
            <a:r>
              <a:rPr lang="en-US" dirty="0" smtClean="0"/>
              <a:t>If path being traversed has higher cost than another path then it neglects the higher cost path and traverses lower cost path segment.</a:t>
            </a:r>
          </a:p>
          <a:p>
            <a:r>
              <a:rPr lang="en-US" dirty="0" smtClean="0"/>
              <a:t>This process continues until goal is reached.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02302" y="1800203"/>
            <a:ext cx="6192611" cy="3442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Let G be the goal node, then distance to node G from other node are:</a:t>
            </a:r>
          </a:p>
          <a:p>
            <a:pPr lvl="1"/>
            <a:r>
              <a:rPr lang="en-IN" dirty="0" smtClean="0"/>
              <a:t>S-&gt;G =12</a:t>
            </a:r>
          </a:p>
          <a:p>
            <a:pPr lvl="1"/>
            <a:r>
              <a:rPr lang="en-IN" dirty="0" smtClean="0"/>
              <a:t>B-&gt;G=4</a:t>
            </a:r>
          </a:p>
          <a:p>
            <a:pPr lvl="1"/>
            <a:r>
              <a:rPr lang="en-IN" dirty="0" smtClean="0"/>
              <a:t>E-&gt;G=</a:t>
            </a:r>
            <a:r>
              <a:rPr lang="en-US" dirty="0" smtClean="0"/>
              <a:t>7</a:t>
            </a:r>
          </a:p>
          <a:p>
            <a:pPr lvl="1"/>
            <a:r>
              <a:rPr lang="en-IN" dirty="0" smtClean="0"/>
              <a:t>D-&gt;</a:t>
            </a:r>
            <a:r>
              <a:rPr lang="en-IN" smtClean="0"/>
              <a:t>G =6</a:t>
            </a:r>
            <a:endParaRPr lang="en-IN" dirty="0" smtClean="0"/>
          </a:p>
          <a:p>
            <a:pPr lvl="1"/>
            <a:r>
              <a:rPr lang="en-IN" dirty="0" smtClean="0"/>
              <a:t>C-&gt;G=3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4949" y="731521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953589" y="211618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09303" y="3309256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798320" y="327442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cxnSp>
        <p:nvCxnSpPr>
          <p:cNvPr id="10" name="Straight Connector 9"/>
          <p:cNvCxnSpPr>
            <a:stCxn id="6" idx="3"/>
            <a:endCxn id="7" idx="0"/>
          </p:cNvCxnSpPr>
          <p:nvPr/>
        </p:nvCxnSpPr>
        <p:spPr>
          <a:xfrm rot="5400000">
            <a:off x="593009" y="2847285"/>
            <a:ext cx="624431" cy="299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5"/>
            <a:endCxn id="8" idx="1"/>
          </p:cNvCxnSpPr>
          <p:nvPr/>
        </p:nvCxnSpPr>
        <p:spPr>
          <a:xfrm rot="16200000" flipH="1">
            <a:off x="1378539" y="2850816"/>
            <a:ext cx="687162" cy="355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32856" y="2037806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74467" y="4058195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59575" y="4005944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f(n)=14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677886" y="2181497"/>
            <a:ext cx="1881051" cy="3788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F(B)=9+4=13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712720" y="2843349"/>
            <a:ext cx="1872343" cy="343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F(D)=8+6=14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939246" y="687978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2: for B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6827520" y="1693817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6113417" y="262563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7593874" y="2656114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cxnSp>
        <p:nvCxnSpPr>
          <p:cNvPr id="22" name="Straight Connector 21"/>
          <p:cNvCxnSpPr>
            <a:stCxn id="19" idx="3"/>
          </p:cNvCxnSpPr>
          <p:nvPr/>
        </p:nvCxnSpPr>
        <p:spPr>
          <a:xfrm rot="5400000">
            <a:off x="6584508" y="2320419"/>
            <a:ext cx="402362" cy="286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7420375" y="2312797"/>
            <a:ext cx="415427" cy="314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560422" y="3692434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6736080" y="3705497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30" name="Straight Connector 29"/>
          <p:cNvCxnSpPr>
            <a:stCxn id="20" idx="3"/>
            <a:endCxn id="27" idx="0"/>
          </p:cNvCxnSpPr>
          <p:nvPr/>
        </p:nvCxnSpPr>
        <p:spPr>
          <a:xfrm rot="5400000">
            <a:off x="5811619" y="3289245"/>
            <a:ext cx="498159" cy="308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0" idx="5"/>
            <a:endCxn id="28" idx="0"/>
          </p:cNvCxnSpPr>
          <p:nvPr/>
        </p:nvCxnSpPr>
        <p:spPr>
          <a:xfrm rot="16200000" flipH="1">
            <a:off x="6637691" y="3260942"/>
            <a:ext cx="511222" cy="377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59039" y="1706881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268683" y="2420984"/>
            <a:ext cx="91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f(n)=13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364581" y="2773681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f(n)=14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04949" y="2808514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798320" y="2791097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471850" y="3975464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f(n)=24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463245" y="3897086"/>
            <a:ext cx="8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f(n)=19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174378" y="2098765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776754" y="2172788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477692" y="3113314"/>
            <a:ext cx="518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7006046" y="3152503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9009017" y="3326675"/>
            <a:ext cx="1881051" cy="3788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F(E)=17+7=24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9017725" y="4027714"/>
            <a:ext cx="1872343" cy="343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F(C)=16+3=19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3109" y="1680755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87383" y="2743199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963782" y="3048000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94262" y="1994263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857897"/>
            <a:ext cx="91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51609" y="3074127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f(D)=14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4228011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936172" y="418882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13" name="Straight Connector 12"/>
          <p:cNvCxnSpPr>
            <a:stCxn id="4" idx="3"/>
            <a:endCxn id="5" idx="7"/>
          </p:cNvCxnSpPr>
          <p:nvPr/>
        </p:nvCxnSpPr>
        <p:spPr>
          <a:xfrm rot="5400000">
            <a:off x="655729" y="2471993"/>
            <a:ext cx="591366" cy="14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4" idx="5"/>
            <a:endCxn id="6" idx="1"/>
          </p:cNvCxnSpPr>
          <p:nvPr/>
        </p:nvCxnSpPr>
        <p:spPr>
          <a:xfrm rot="16200000" flipH="1">
            <a:off x="1341528" y="2421919"/>
            <a:ext cx="896167" cy="551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5" idx="4"/>
            <a:endCxn id="10" idx="7"/>
          </p:cNvCxnSpPr>
          <p:nvPr/>
        </p:nvCxnSpPr>
        <p:spPr>
          <a:xfrm rot="5400000">
            <a:off x="154160" y="3846186"/>
            <a:ext cx="916170" cy="42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5"/>
            <a:endCxn id="11" idx="0"/>
          </p:cNvCxnSpPr>
          <p:nvPr/>
        </p:nvCxnSpPr>
        <p:spPr>
          <a:xfrm rot="16200000" flipH="1">
            <a:off x="641840" y="3548325"/>
            <a:ext cx="876982" cy="404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2218" y="2242457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898468" y="2434045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02927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f(n)=24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127759" y="4929051"/>
            <a:ext cx="8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f(n)=19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492034" y="465909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3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91988" y="1719943"/>
            <a:ext cx="1881051" cy="37882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F(G)=17+0=18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3400697" y="2277292"/>
            <a:ext cx="1872343" cy="343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F(C)=13+3=16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1815737" y="4023360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2965268" y="4062548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cxnSp>
        <p:nvCxnSpPr>
          <p:cNvPr id="42" name="Straight Connector 41"/>
          <p:cNvCxnSpPr>
            <a:stCxn id="6" idx="4"/>
            <a:endCxn id="39" idx="0"/>
          </p:cNvCxnSpPr>
          <p:nvPr/>
        </p:nvCxnSpPr>
        <p:spPr>
          <a:xfrm rot="5400000">
            <a:off x="2081349" y="3794761"/>
            <a:ext cx="309154" cy="14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6" idx="5"/>
          </p:cNvCxnSpPr>
          <p:nvPr/>
        </p:nvCxnSpPr>
        <p:spPr>
          <a:xfrm rot="16200000" flipH="1">
            <a:off x="2621952" y="3549413"/>
            <a:ext cx="458969" cy="593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83723" y="4140927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f(C)=16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10071459" y="5120641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f(n)=124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393368" y="3653247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f(G)=16</a:t>
            </a:r>
            <a:endParaRPr lang="en-US" dirty="0"/>
          </a:p>
        </p:txBody>
      </p:sp>
      <p:sp>
        <p:nvSpPr>
          <p:cNvPr id="56" name="Oval 55"/>
          <p:cNvSpPr/>
          <p:nvPr/>
        </p:nvSpPr>
        <p:spPr>
          <a:xfrm>
            <a:off x="8142515" y="1075509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7271657" y="1994262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8477793" y="1985554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</a:t>
            </a:r>
            <a:endParaRPr lang="en-US" dirty="0"/>
          </a:p>
        </p:txBody>
      </p:sp>
      <p:sp>
        <p:nvSpPr>
          <p:cNvPr id="59" name="Oval 58"/>
          <p:cNvSpPr/>
          <p:nvPr/>
        </p:nvSpPr>
        <p:spPr>
          <a:xfrm>
            <a:off x="6370320" y="302187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E</a:t>
            </a:r>
            <a:endParaRPr lang="en-US" dirty="0"/>
          </a:p>
        </p:txBody>
      </p:sp>
      <p:sp>
        <p:nvSpPr>
          <p:cNvPr id="60" name="Oval 59"/>
          <p:cNvSpPr/>
          <p:nvPr/>
        </p:nvSpPr>
        <p:spPr>
          <a:xfrm>
            <a:off x="7463246" y="3087189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8447314" y="3000103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9518468" y="3026228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</a:t>
            </a:r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9056914" y="4275908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G</a:t>
            </a: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10049690" y="4328161"/>
            <a:ext cx="692331" cy="66620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B</a:t>
            </a:r>
            <a:endParaRPr lang="en-US" dirty="0"/>
          </a:p>
        </p:txBody>
      </p:sp>
      <p:cxnSp>
        <p:nvCxnSpPr>
          <p:cNvPr id="65" name="Straight Connector 64"/>
          <p:cNvCxnSpPr>
            <a:stCxn id="56" idx="3"/>
          </p:cNvCxnSpPr>
          <p:nvPr/>
        </p:nvCxnSpPr>
        <p:spPr>
          <a:xfrm rot="5400000">
            <a:off x="7809821" y="1579367"/>
            <a:ext cx="369300" cy="498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endCxn id="58" idx="0"/>
          </p:cNvCxnSpPr>
          <p:nvPr/>
        </p:nvCxnSpPr>
        <p:spPr>
          <a:xfrm rot="16200000" flipH="1">
            <a:off x="8575349" y="1736944"/>
            <a:ext cx="367530" cy="129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10995" y="1428206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9000308" y="1554479"/>
            <a:ext cx="53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8090262" y="644434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f(n)=12</a:t>
            </a:r>
            <a:endParaRPr lang="en-US" dirty="0"/>
          </a:p>
        </p:txBody>
      </p:sp>
      <p:cxnSp>
        <p:nvCxnSpPr>
          <p:cNvPr id="75" name="Straight Connector 74"/>
          <p:cNvCxnSpPr>
            <a:stCxn id="57" idx="3"/>
          </p:cNvCxnSpPr>
          <p:nvPr/>
        </p:nvCxnSpPr>
        <p:spPr>
          <a:xfrm rot="5400000">
            <a:off x="6875153" y="2519626"/>
            <a:ext cx="454616" cy="541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57" idx="4"/>
            <a:endCxn id="60" idx="0"/>
          </p:cNvCxnSpPr>
          <p:nvPr/>
        </p:nvCxnSpPr>
        <p:spPr>
          <a:xfrm rot="16200000" flipH="1">
            <a:off x="7500257" y="2778033"/>
            <a:ext cx="426721" cy="191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58" idx="3"/>
          </p:cNvCxnSpPr>
          <p:nvPr/>
        </p:nvCxnSpPr>
        <p:spPr>
          <a:xfrm rot="16200000" flipH="1">
            <a:off x="8388266" y="2745112"/>
            <a:ext cx="463324" cy="81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58" idx="5"/>
            <a:endCxn id="62" idx="0"/>
          </p:cNvCxnSpPr>
          <p:nvPr/>
        </p:nvCxnSpPr>
        <p:spPr>
          <a:xfrm rot="16200000" flipH="1">
            <a:off x="9230668" y="2392262"/>
            <a:ext cx="472032" cy="795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endCxn id="63" idx="0"/>
          </p:cNvCxnSpPr>
          <p:nvPr/>
        </p:nvCxnSpPr>
        <p:spPr>
          <a:xfrm rot="5400000">
            <a:off x="9264833" y="3808911"/>
            <a:ext cx="605245" cy="328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rot="16200000" flipH="1">
            <a:off x="9784080" y="3905794"/>
            <a:ext cx="705394" cy="287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577940" y="5050973"/>
            <a:ext cx="1084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f(n)=18</a:t>
            </a:r>
            <a:endParaRPr lang="en-US" dirty="0"/>
          </a:p>
        </p:txBody>
      </p:sp>
      <p:sp>
        <p:nvSpPr>
          <p:cNvPr id="87" name="Rectangle 86"/>
          <p:cNvSpPr/>
          <p:nvPr/>
        </p:nvSpPr>
        <p:spPr>
          <a:xfrm>
            <a:off x="6601097" y="235131"/>
            <a:ext cx="1515292" cy="60089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Step 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Evaluation / performance measures:</a:t>
            </a:r>
          </a:p>
          <a:p>
            <a:r>
              <a:rPr lang="en-US" dirty="0" smtClean="0"/>
              <a:t>Completeness: A* gives us solution.</a:t>
            </a:r>
          </a:p>
          <a:p>
            <a:r>
              <a:rPr lang="en-US" dirty="0" smtClean="0"/>
              <a:t>Time complexity: O(</a:t>
            </a:r>
            <a:r>
              <a:rPr lang="en-US" dirty="0" err="1" smtClean="0"/>
              <a:t>b</a:t>
            </a:r>
            <a:r>
              <a:rPr lang="en-US" baseline="30000" dirty="0" err="1" smtClean="0"/>
              <a:t>d</a:t>
            </a:r>
            <a:r>
              <a:rPr lang="en-US" dirty="0" smtClean="0"/>
              <a:t>)</a:t>
            </a:r>
          </a:p>
          <a:p>
            <a:r>
              <a:rPr lang="en-US" dirty="0" smtClean="0"/>
              <a:t>Space complexity: it keeps all generated nodes in memory. Hence space is the major problem not time.</a:t>
            </a:r>
          </a:p>
          <a:p>
            <a:r>
              <a:rPr lang="en-US" dirty="0" smtClean="0"/>
              <a:t>Optimality: A* gives optimal solution.</a:t>
            </a:r>
          </a:p>
          <a:p>
            <a:r>
              <a:rPr lang="en-US" dirty="0" smtClean="0"/>
              <a:t>Admissibility: A* is admissible and considers fewer nodes than any other admissible search algorithm with the same heuristic.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Hill climbing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search technique can be used to solve problems that have many solutions, some of which are better then others.</a:t>
            </a:r>
          </a:p>
          <a:p>
            <a:r>
              <a:rPr lang="en-US" dirty="0" smtClean="0"/>
              <a:t>It starts with a random solution and iteratively makes small changes to the solution, each time improving a little.</a:t>
            </a:r>
          </a:p>
          <a:p>
            <a:r>
              <a:rPr lang="en-US" dirty="0" smtClean="0"/>
              <a:t>When the algorithm cannot see any improvement anymore, it terminates.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2416628" y="2129245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393371" y="2987040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026331" y="4066903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441372" y="4036423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333897" y="3966753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419600" y="2146663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982788" y="2194560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7053943" y="3239589"/>
            <a:ext cx="666206" cy="6139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cxnSp>
        <p:nvCxnSpPr>
          <p:cNvPr id="15" name="Straight Connector 14"/>
          <p:cNvCxnSpPr>
            <a:stCxn id="6" idx="6"/>
            <a:endCxn id="11" idx="2"/>
          </p:cNvCxnSpPr>
          <p:nvPr/>
        </p:nvCxnSpPr>
        <p:spPr>
          <a:xfrm>
            <a:off x="3082834" y="2436223"/>
            <a:ext cx="1336766" cy="17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4"/>
          </p:cNvCxnSpPr>
          <p:nvPr/>
        </p:nvCxnSpPr>
        <p:spPr>
          <a:xfrm rot="16200000" flipH="1">
            <a:off x="2139043" y="3353888"/>
            <a:ext cx="1267097" cy="45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7"/>
            <a:endCxn id="6" idx="3"/>
          </p:cNvCxnSpPr>
          <p:nvPr/>
        </p:nvCxnSpPr>
        <p:spPr>
          <a:xfrm rot="5400000" flipH="1" flipV="1">
            <a:off x="2026270" y="2589031"/>
            <a:ext cx="423664" cy="552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0" idx="1"/>
          </p:cNvCxnSpPr>
          <p:nvPr/>
        </p:nvCxnSpPr>
        <p:spPr>
          <a:xfrm>
            <a:off x="1867989" y="3592286"/>
            <a:ext cx="563472" cy="464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6"/>
            <a:endCxn id="9" idx="2"/>
          </p:cNvCxnSpPr>
          <p:nvPr/>
        </p:nvCxnSpPr>
        <p:spPr>
          <a:xfrm>
            <a:off x="3000103" y="4273731"/>
            <a:ext cx="1441269" cy="69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1" idx="6"/>
            <a:endCxn id="12" idx="2"/>
          </p:cNvCxnSpPr>
          <p:nvPr/>
        </p:nvCxnSpPr>
        <p:spPr>
          <a:xfrm>
            <a:off x="5085806" y="2453641"/>
            <a:ext cx="896982" cy="47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1" idx="4"/>
            <a:endCxn id="9" idx="0"/>
          </p:cNvCxnSpPr>
          <p:nvPr/>
        </p:nvCxnSpPr>
        <p:spPr>
          <a:xfrm rot="16200000" flipH="1">
            <a:off x="4125687" y="3387634"/>
            <a:ext cx="1275805" cy="21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9" idx="6"/>
            <a:endCxn id="8" idx="2"/>
          </p:cNvCxnSpPr>
          <p:nvPr/>
        </p:nvCxnSpPr>
        <p:spPr>
          <a:xfrm>
            <a:off x="5107578" y="4343401"/>
            <a:ext cx="918753" cy="30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13" idx="3"/>
          </p:cNvCxnSpPr>
          <p:nvPr/>
        </p:nvCxnSpPr>
        <p:spPr>
          <a:xfrm rot="5400000" flipH="1" flipV="1">
            <a:off x="6659353" y="3766337"/>
            <a:ext cx="494859" cy="48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25188" y="4637314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136571" y="1628502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6043749" y="1654628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49086" y="3004457"/>
            <a:ext cx="535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10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425337" y="1759131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8.5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310743" y="4767942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6096000" y="4802777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1793965" y="2499360"/>
            <a:ext cx="452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698171" y="3840479"/>
            <a:ext cx="431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587931" y="4489268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55474" y="4502330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801394" y="3992879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255622" y="2068285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834639" y="3174273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535679" y="2216330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841965" y="3261358"/>
            <a:ext cx="67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hill climbing search from S to G proceeds as shown by arrow as shown bellow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776548" y="2795452"/>
            <a:ext cx="483326" cy="44413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333897" y="2085703"/>
            <a:ext cx="666206" cy="38317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934789" y="2778033"/>
            <a:ext cx="448491" cy="48768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9" name="Straight Connector 8"/>
          <p:cNvCxnSpPr>
            <a:stCxn id="6" idx="3"/>
            <a:endCxn id="5" idx="0"/>
          </p:cNvCxnSpPr>
          <p:nvPr/>
        </p:nvCxnSpPr>
        <p:spPr>
          <a:xfrm rot="5400000">
            <a:off x="2033493" y="2397483"/>
            <a:ext cx="382687" cy="413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6" idx="5"/>
            <a:endCxn id="7" idx="0"/>
          </p:cNvCxnSpPr>
          <p:nvPr/>
        </p:nvCxnSpPr>
        <p:spPr>
          <a:xfrm rot="16200000" flipH="1">
            <a:off x="2848153" y="2467151"/>
            <a:ext cx="365268" cy="256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5816" y="3605349"/>
            <a:ext cx="444137" cy="4833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3540035" y="3709852"/>
            <a:ext cx="483325" cy="4702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15" name="Straight Connector 14"/>
          <p:cNvCxnSpPr>
            <a:stCxn id="7" idx="3"/>
            <a:endCxn id="12" idx="7"/>
          </p:cNvCxnSpPr>
          <p:nvPr/>
        </p:nvCxnSpPr>
        <p:spPr>
          <a:xfrm rot="5400000">
            <a:off x="2676773" y="3352434"/>
            <a:ext cx="481834" cy="165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4"/>
            <a:endCxn id="13" idx="1"/>
          </p:cNvCxnSpPr>
          <p:nvPr/>
        </p:nvCxnSpPr>
        <p:spPr>
          <a:xfrm rot="16200000" flipH="1">
            <a:off x="3128423" y="3296326"/>
            <a:ext cx="513005" cy="451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143793" y="4593772"/>
            <a:ext cx="444137" cy="4833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849187" y="4371703"/>
            <a:ext cx="444137" cy="48332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cxnSp>
        <p:nvCxnSpPr>
          <p:cNvPr id="22" name="Straight Connector 21"/>
          <p:cNvCxnSpPr>
            <a:stCxn id="13" idx="4"/>
            <a:endCxn id="19" idx="1"/>
          </p:cNvCxnSpPr>
          <p:nvPr/>
        </p:nvCxnSpPr>
        <p:spPr>
          <a:xfrm rot="16200000" flipH="1">
            <a:off x="3716779" y="4245033"/>
            <a:ext cx="262369" cy="1325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3"/>
            <a:endCxn id="18" idx="0"/>
          </p:cNvCxnSpPr>
          <p:nvPr/>
        </p:nvCxnSpPr>
        <p:spPr>
          <a:xfrm rot="5400000">
            <a:off x="3247077" y="4230032"/>
            <a:ext cx="482525" cy="244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9" idx="5"/>
            <a:endCxn id="28" idx="0"/>
          </p:cNvCxnSpPr>
          <p:nvPr/>
        </p:nvCxnSpPr>
        <p:spPr>
          <a:xfrm rot="16200000" flipH="1">
            <a:off x="4019674" y="4992856"/>
            <a:ext cx="597649" cy="180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905794" y="5381897"/>
            <a:ext cx="1005840" cy="6139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140926" y="5512526"/>
            <a:ext cx="509452" cy="30044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 rot="16200000" flipH="1">
            <a:off x="3004457" y="2455816"/>
            <a:ext cx="326571" cy="1959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6200000" flipH="1">
            <a:off x="3435531" y="3174274"/>
            <a:ext cx="431074" cy="3265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6200000" flipH="1">
            <a:off x="4029892" y="4056016"/>
            <a:ext cx="352697" cy="235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16200000" flipH="1">
            <a:off x="4140925" y="4911634"/>
            <a:ext cx="692332" cy="1698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23851" y="3252651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8.5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483428" y="2738846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264228" y="4132217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8.5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167051" y="3566160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725782" y="4763588"/>
            <a:ext cx="40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4515394" y="4306388"/>
            <a:ext cx="51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playing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Game playing is an important domain of AI.</a:t>
            </a:r>
          </a:p>
          <a:p>
            <a:r>
              <a:rPr lang="en-US" dirty="0" smtClean="0"/>
              <a:t>Games don’t require much knowledge, it only needs to provide is the rules.</a:t>
            </a:r>
          </a:p>
          <a:p>
            <a:r>
              <a:rPr lang="en-US" dirty="0" smtClean="0"/>
              <a:t>Both players try to win the game.</a:t>
            </a:r>
          </a:p>
          <a:p>
            <a:r>
              <a:rPr lang="en-US" dirty="0" smtClean="0"/>
              <a:t>So both of them try to make the best move possible at each time.</a:t>
            </a:r>
          </a:p>
          <a:p>
            <a:r>
              <a:rPr lang="en-US" dirty="0" smtClean="0"/>
              <a:t>Searching techniques like BFS are not accurate for this as the branching factor is very high as minimum 35, so searching will take a lot of time.</a:t>
            </a:r>
          </a:p>
          <a:p>
            <a:r>
              <a:rPr lang="en-US" dirty="0" smtClean="0"/>
              <a:t>So we need another search procedures that improves searching time.</a:t>
            </a:r>
          </a:p>
          <a:p>
            <a:r>
              <a:rPr lang="en-US" dirty="0" smtClean="0"/>
              <a:t>Games are a form of multi-agent environment and arise questions like what another agent do and how they affect our success?</a:t>
            </a:r>
          </a:p>
          <a:p>
            <a:r>
              <a:rPr lang="en-US" dirty="0" smtClean="0"/>
              <a:t>Competitive multi-agent environment give rise to games.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1373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Adversarial Search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Adversarial search is also known as Minimax search used in calculating the best move in two player games where all the information is available such as chess or tic-tac toe.</a:t>
            </a:r>
          </a:p>
          <a:p>
            <a:r>
              <a:rPr lang="en-US" dirty="0" smtClean="0"/>
              <a:t>It consists of navigating through a tree which captures all the possible moves in the game, where each move is represented in terms of loss and gain for one the players.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67290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Game-adversary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Solution is strategy ( strategy specifies move for every possible opponent reply)</a:t>
            </a:r>
          </a:p>
          <a:p>
            <a:r>
              <a:rPr lang="en-US" dirty="0" smtClean="0"/>
              <a:t>Time limits force an appropriate solutions.</a:t>
            </a:r>
          </a:p>
          <a:p>
            <a:r>
              <a:rPr lang="en-US" dirty="0" smtClean="0"/>
              <a:t>Evaluation function: evaluate “goodness” of game position</a:t>
            </a:r>
          </a:p>
          <a:p>
            <a:r>
              <a:rPr lang="en-US" dirty="0" smtClean="0"/>
              <a:t>Examples: chess, checkers, backgammon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946910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mini-max </a:t>
            </a:r>
            <a:r>
              <a:rPr lang="en-US" dirty="0" err="1" smtClean="0"/>
              <a:t>serach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us assign the following value for the game : 1 for win by x, 0 for draw by x, -1 for loss by x.</a:t>
            </a:r>
          </a:p>
          <a:p>
            <a:r>
              <a:rPr lang="en-US" dirty="0" smtClean="0"/>
              <a:t>Given the values of the terminal nodes (win for x(1), loss for x(-1), draw for x(0)), now the values of the non-terminal nodes are computed as following:</a:t>
            </a:r>
          </a:p>
          <a:p>
            <a:r>
              <a:rPr lang="en-US" dirty="0" smtClean="0"/>
              <a:t>The value of a node where it is the turn of player X to move is the maximum of the values of its successor ( because x tries to maximize its outcome).</a:t>
            </a:r>
          </a:p>
          <a:p>
            <a:r>
              <a:rPr lang="en-US" dirty="0" smtClean="0"/>
              <a:t>The value of a node where it is the turn of player 0 to move is the minimum of the values of its successors ( because 0 tries to minimize the outcome of X).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56919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Consider the following game tree ( drawn from the point of view of the maximizing player)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984552" y="1561824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2899954" y="3000103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125097" y="2923846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850571" y="4071257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4527352" y="4147427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81000" y="5373186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850571" y="5373185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3320142" y="5373184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</a:t>
            </a:r>
            <a:endParaRPr lang="en-US" dirty="0"/>
          </a:p>
        </p:txBody>
      </p:sp>
      <p:cxnSp>
        <p:nvCxnSpPr>
          <p:cNvPr id="13" name="Straight Connector 12"/>
          <p:cNvCxnSpPr>
            <a:endCxn id="4" idx="3"/>
          </p:cNvCxnSpPr>
          <p:nvPr/>
        </p:nvCxnSpPr>
        <p:spPr>
          <a:xfrm flipV="1">
            <a:off x="3481218" y="2018968"/>
            <a:ext cx="1637245" cy="1132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3"/>
          </p:cNvCxnSpPr>
          <p:nvPr/>
        </p:nvCxnSpPr>
        <p:spPr>
          <a:xfrm flipH="1">
            <a:off x="2495006" y="3457247"/>
            <a:ext cx="538859" cy="614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5" idx="5"/>
            <a:endCxn id="8" idx="1"/>
          </p:cNvCxnSpPr>
          <p:nvPr/>
        </p:nvCxnSpPr>
        <p:spPr>
          <a:xfrm>
            <a:off x="3680443" y="3457247"/>
            <a:ext cx="980820" cy="768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9" idx="0"/>
          </p:cNvCxnSpPr>
          <p:nvPr/>
        </p:nvCxnSpPr>
        <p:spPr>
          <a:xfrm flipH="1">
            <a:off x="838200" y="4606834"/>
            <a:ext cx="1342744" cy="766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7" idx="4"/>
          </p:cNvCxnSpPr>
          <p:nvPr/>
        </p:nvCxnSpPr>
        <p:spPr>
          <a:xfrm>
            <a:off x="2307771" y="4606834"/>
            <a:ext cx="63414" cy="76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441250" y="4606834"/>
            <a:ext cx="1085721" cy="918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527352" y="5427612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5996923" y="5373184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cxnSp>
        <p:nvCxnSpPr>
          <p:cNvPr id="28" name="Straight Connector 27"/>
          <p:cNvCxnSpPr>
            <a:stCxn id="8" idx="4"/>
          </p:cNvCxnSpPr>
          <p:nvPr/>
        </p:nvCxnSpPr>
        <p:spPr>
          <a:xfrm flipH="1">
            <a:off x="4789713" y="4683004"/>
            <a:ext cx="194839" cy="744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6" idx="1"/>
          </p:cNvCxnSpPr>
          <p:nvPr/>
        </p:nvCxnSpPr>
        <p:spPr>
          <a:xfrm>
            <a:off x="5113434" y="4606834"/>
            <a:ext cx="1017400" cy="844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4" idx="5"/>
            <a:endCxn id="6" idx="1"/>
          </p:cNvCxnSpPr>
          <p:nvPr/>
        </p:nvCxnSpPr>
        <p:spPr>
          <a:xfrm>
            <a:off x="5765041" y="2018968"/>
            <a:ext cx="2493967" cy="983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559040" y="4157004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9204960" y="4157004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7167795" y="5365002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8290560" y="5365002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cxnSp>
        <p:nvCxnSpPr>
          <p:cNvPr id="38" name="Straight Connector 37"/>
          <p:cNvCxnSpPr>
            <a:stCxn id="33" idx="4"/>
          </p:cNvCxnSpPr>
          <p:nvPr/>
        </p:nvCxnSpPr>
        <p:spPr>
          <a:xfrm flipH="1">
            <a:off x="7624995" y="4692581"/>
            <a:ext cx="391245" cy="759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5"/>
            <a:endCxn id="36" idx="0"/>
          </p:cNvCxnSpPr>
          <p:nvPr/>
        </p:nvCxnSpPr>
        <p:spPr>
          <a:xfrm>
            <a:off x="8339529" y="4614148"/>
            <a:ext cx="408231" cy="750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endCxn id="33" idx="0"/>
          </p:cNvCxnSpPr>
          <p:nvPr/>
        </p:nvCxnSpPr>
        <p:spPr>
          <a:xfrm flipH="1">
            <a:off x="8016240" y="3420207"/>
            <a:ext cx="456199" cy="736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747760" y="3400598"/>
            <a:ext cx="748937" cy="825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300534" y="5181198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</a:t>
            </a:r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10361898" y="5120634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11331708" y="5066211"/>
            <a:ext cx="914400" cy="535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US" dirty="0"/>
          </a:p>
        </p:txBody>
      </p:sp>
      <p:cxnSp>
        <p:nvCxnSpPr>
          <p:cNvPr id="49" name="Straight Connector 48"/>
          <p:cNvCxnSpPr>
            <a:endCxn id="45" idx="0"/>
          </p:cNvCxnSpPr>
          <p:nvPr/>
        </p:nvCxnSpPr>
        <p:spPr>
          <a:xfrm flipH="1">
            <a:off x="9757734" y="4614148"/>
            <a:ext cx="73482" cy="567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34" idx="5"/>
          </p:cNvCxnSpPr>
          <p:nvPr/>
        </p:nvCxnSpPr>
        <p:spPr>
          <a:xfrm>
            <a:off x="9985449" y="4614148"/>
            <a:ext cx="782259" cy="567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9993572" y="4415215"/>
            <a:ext cx="1648372" cy="70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299840" y="1626810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2311020" y="2737004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min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8944035" y="2628617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min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125202" y="5963189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951272" y="5963189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3320143" y="5989310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28053" y="6041557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8325" y="6041557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55875" y="6067678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22034" y="6067678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06362" y="5889148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9434" y="5856886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91806" y="5804644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04109" y="3909978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10196664" y="4000508"/>
            <a:ext cx="71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max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0014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012" y="2022816"/>
            <a:ext cx="8943975" cy="3695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0218" y="3777440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08331" y="3809412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885" y="3774284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695094" y="3589618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5030" y="2675805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9679" y="2659586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902165" y="1996396"/>
            <a:ext cx="38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8200" y="5577840"/>
            <a:ext cx="2727960" cy="3235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Min-max value=7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708331" y="2547257"/>
            <a:ext cx="1611222" cy="613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6931885" y="3442156"/>
            <a:ext cx="387668" cy="36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931885" y="4170036"/>
            <a:ext cx="0" cy="58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2941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Alpha-beta pruning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This method is applied to a standard </a:t>
            </a:r>
            <a:r>
              <a:rPr lang="en-US" dirty="0" err="1" smtClean="0"/>
              <a:t>minmax</a:t>
            </a:r>
            <a:r>
              <a:rPr lang="en-US" dirty="0" smtClean="0"/>
              <a:t> tree, it returns the same more as min max would, but prunes away branches that cannot possibly influence the final decision.</a:t>
            </a:r>
          </a:p>
          <a:p>
            <a:r>
              <a:rPr lang="en-US" dirty="0" smtClean="0"/>
              <a:t>Alpha-beta pruning can be applied to trees of any depth and it is often possible to prune entire sub-tree rather then just leaves.</a:t>
            </a:r>
          </a:p>
          <a:p>
            <a:r>
              <a:rPr lang="en-US" dirty="0" smtClean="0"/>
              <a:t>This is a technique for evaluating nodes of a game tree that eliminates unnecessary evaluations.</a:t>
            </a:r>
          </a:p>
          <a:p>
            <a:r>
              <a:rPr lang="en-US" dirty="0" smtClean="0"/>
              <a:t>It uses two parameter alpha and beta.</a:t>
            </a:r>
          </a:p>
          <a:p>
            <a:r>
              <a:rPr lang="en-US" dirty="0" smtClean="0"/>
              <a:t>Alpha: it is the value of the best( </a:t>
            </a:r>
            <a:r>
              <a:rPr lang="en-US" dirty="0" err="1" smtClean="0"/>
              <a:t>i.e</a:t>
            </a:r>
            <a:r>
              <a:rPr lang="en-US" dirty="0" smtClean="0"/>
              <a:t> highest value) choice we have found so far at any choice along the path </a:t>
            </a:r>
            <a:r>
              <a:rPr lang="en-US" smtClean="0"/>
              <a:t>for  MAX.</a:t>
            </a:r>
            <a:endParaRPr lang="en-US" dirty="0" smtClean="0"/>
          </a:p>
          <a:p>
            <a:r>
              <a:rPr lang="en-US" dirty="0" smtClean="0"/>
              <a:t>Beta: it is the value of the best ( </a:t>
            </a:r>
            <a:r>
              <a:rPr lang="en-US" dirty="0" err="1" smtClean="0"/>
              <a:t>i.e</a:t>
            </a:r>
            <a:r>
              <a:rPr lang="en-US" dirty="0" smtClean="0"/>
              <a:t> lowest value) choice we have found so far at any choice along the path for MIN.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62099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 satisfaction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Consists of three components: V,D,C</a:t>
            </a:r>
          </a:p>
          <a:p>
            <a:r>
              <a:rPr lang="en-US" dirty="0" smtClean="0"/>
              <a:t>V is set of variables: { v1,v2,v3…</a:t>
            </a:r>
            <a:r>
              <a:rPr lang="en-US" dirty="0" err="1" smtClean="0"/>
              <a:t>vn</a:t>
            </a:r>
            <a:r>
              <a:rPr lang="en-US" dirty="0" smtClean="0"/>
              <a:t>}</a:t>
            </a:r>
          </a:p>
          <a:p>
            <a:r>
              <a:rPr lang="en-US" dirty="0" smtClean="0"/>
              <a:t>D is set </a:t>
            </a:r>
            <a:r>
              <a:rPr lang="en-US" smtClean="0"/>
              <a:t>of domain :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2376</Words>
  <Application>Microsoft Office PowerPoint</Application>
  <PresentationFormat>Custom</PresentationFormat>
  <Paragraphs>360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Problem Solving by Searching</vt:lpstr>
      <vt:lpstr>Introduction </vt:lpstr>
      <vt:lpstr>Slide 3</vt:lpstr>
      <vt:lpstr>Slide 4</vt:lpstr>
      <vt:lpstr>State Space Representation</vt:lpstr>
      <vt:lpstr>Slide 6</vt:lpstr>
      <vt:lpstr>Well defined Problems</vt:lpstr>
      <vt:lpstr>Slide 8</vt:lpstr>
      <vt:lpstr>Solving Problems by searching </vt:lpstr>
      <vt:lpstr>FIG: graph representation of map</vt:lpstr>
      <vt:lpstr>Slide 11</vt:lpstr>
      <vt:lpstr>Search techniques / search strategies</vt:lpstr>
      <vt:lpstr>Performance evaluation of search technique</vt:lpstr>
      <vt:lpstr>Uniform Cost Search</vt:lpstr>
      <vt:lpstr>Consider the following graph. Let the starting node be A and the goal node be M.</vt:lpstr>
      <vt:lpstr>Heuristic Function</vt:lpstr>
      <vt:lpstr>Informed or heuristic search</vt:lpstr>
      <vt:lpstr>Greedy best-first search</vt:lpstr>
      <vt:lpstr>example</vt:lpstr>
      <vt:lpstr>Slide 20</vt:lpstr>
      <vt:lpstr>Slide 21</vt:lpstr>
      <vt:lpstr>Slide 22</vt:lpstr>
      <vt:lpstr>A* search </vt:lpstr>
      <vt:lpstr>Slide 24</vt:lpstr>
      <vt:lpstr>Example </vt:lpstr>
      <vt:lpstr>Slide 26</vt:lpstr>
      <vt:lpstr>Slide 27</vt:lpstr>
      <vt:lpstr>Slide 28</vt:lpstr>
      <vt:lpstr>Slide 29</vt:lpstr>
      <vt:lpstr>Hill climbing search</vt:lpstr>
      <vt:lpstr>Slide 31</vt:lpstr>
      <vt:lpstr>The hill climbing search from S to G proceeds as shown by arrow as shown bellow</vt:lpstr>
      <vt:lpstr>Game playing </vt:lpstr>
      <vt:lpstr>Adversarial Search techniques</vt:lpstr>
      <vt:lpstr>Game-adversary</vt:lpstr>
      <vt:lpstr>The mini-max serach</vt:lpstr>
      <vt:lpstr>Consider the following game tree ( drawn from the point of view of the maximizing player)</vt:lpstr>
      <vt:lpstr>Slide 38</vt:lpstr>
      <vt:lpstr>Alpha-beta pruning </vt:lpstr>
      <vt:lpstr>Constraint satisfaction Problem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Lt Sumit Bidari</dc:creator>
  <cp:lastModifiedBy>Acer</cp:lastModifiedBy>
  <cp:revision>102</cp:revision>
  <dcterms:created xsi:type="dcterms:W3CDTF">2025-06-05T06:23:32Z</dcterms:created>
  <dcterms:modified xsi:type="dcterms:W3CDTF">2026-05-25T02:09:48Z</dcterms:modified>
</cp:coreProperties>
</file>