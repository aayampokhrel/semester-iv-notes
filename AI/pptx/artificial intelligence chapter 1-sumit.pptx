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Default Extension="png" ContentType="image/png"/>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8" r:id="rId19"/>
    <p:sldId id="273" r:id="rId20"/>
    <p:sldId id="274" r:id="rId21"/>
    <p:sldId id="275" r:id="rId22"/>
    <p:sldId id="276" r:id="rId23"/>
    <p:sldId id="277" r:id="rId24"/>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15620"/>
    <p:restoredTop sz="94660"/>
  </p:normalViewPr>
  <p:slideViewPr>
    <p:cSldViewPr>
      <p:cViewPr varScale="1">
        <p:scale>
          <a:sx n="68" d="100"/>
          <a:sy n="68" d="100"/>
        </p:scale>
        <p:origin x="-1446" y="-96"/>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37BD14C9-1110-4C88-A295-5E604A43C241}" type="datetimeFigureOut">
              <a:rPr lang="en-US" smtClean="0"/>
              <a:pPr/>
              <a:t>5/29/2025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02E5B6F-BA90-4116-8362-A1A21E60301A}"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37BD14C9-1110-4C88-A295-5E604A43C241}" type="datetimeFigureOut">
              <a:rPr lang="en-US" smtClean="0"/>
              <a:pPr/>
              <a:t>5/29/2025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02E5B6F-BA90-4116-8362-A1A21E60301A}"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37BD14C9-1110-4C88-A295-5E604A43C241}" type="datetimeFigureOut">
              <a:rPr lang="en-US" smtClean="0"/>
              <a:pPr/>
              <a:t>5/29/2025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02E5B6F-BA90-4116-8362-A1A21E60301A}"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37BD14C9-1110-4C88-A295-5E604A43C241}" type="datetimeFigureOut">
              <a:rPr lang="en-US" smtClean="0"/>
              <a:pPr/>
              <a:t>5/29/2025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02E5B6F-BA90-4116-8362-A1A21E60301A}"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37BD14C9-1110-4C88-A295-5E604A43C241}" type="datetimeFigureOut">
              <a:rPr lang="en-US" smtClean="0"/>
              <a:pPr/>
              <a:t>5/29/2025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02E5B6F-BA90-4116-8362-A1A21E60301A}"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37BD14C9-1110-4C88-A295-5E604A43C241}" type="datetimeFigureOut">
              <a:rPr lang="en-US" smtClean="0"/>
              <a:pPr/>
              <a:t>5/29/2025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02E5B6F-BA90-4116-8362-A1A21E60301A}"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7BD14C9-1110-4C88-A295-5E604A43C241}" type="datetimeFigureOut">
              <a:rPr lang="en-US" smtClean="0"/>
              <a:pPr/>
              <a:t>5/29/2025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102E5B6F-BA90-4116-8362-A1A21E60301A}"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37BD14C9-1110-4C88-A295-5E604A43C241}" type="datetimeFigureOut">
              <a:rPr lang="en-US" smtClean="0"/>
              <a:pPr/>
              <a:t>5/29/2025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02E5B6F-BA90-4116-8362-A1A21E60301A}"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37BD14C9-1110-4C88-A295-5E604A43C241}" type="datetimeFigureOut">
              <a:rPr lang="en-US" smtClean="0"/>
              <a:pPr/>
              <a:t>5/29/2025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02E5B6F-BA90-4116-8362-A1A21E60301A}"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37BD14C9-1110-4C88-A295-5E604A43C241}" type="datetimeFigureOut">
              <a:rPr lang="en-US" smtClean="0"/>
              <a:pPr/>
              <a:t>5/29/2025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02E5B6F-BA90-4116-8362-A1A21E60301A}"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37BD14C9-1110-4C88-A295-5E604A43C241}" type="datetimeFigureOut">
              <a:rPr lang="en-US" smtClean="0"/>
              <a:pPr/>
              <a:t>5/29/2025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02E5B6F-BA90-4116-8362-A1A21E60301A}"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7BD14C9-1110-4C88-A295-5E604A43C241}" type="datetimeFigureOut">
              <a:rPr lang="en-US" smtClean="0"/>
              <a:pPr/>
              <a:t>5/29/2025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02E5B6F-BA90-4116-8362-A1A21E60301A}"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Introduction</a:t>
            </a:r>
            <a:endParaRPr lang="en-US" dirty="0"/>
          </a:p>
        </p:txBody>
      </p:sp>
      <p:sp>
        <p:nvSpPr>
          <p:cNvPr id="3" name="Subtitle 2"/>
          <p:cNvSpPr>
            <a:spLocks noGrp="1"/>
          </p:cNvSpPr>
          <p:nvPr>
            <p:ph type="subTitle" idx="1"/>
          </p:nvPr>
        </p:nvSpPr>
        <p:spPr/>
        <p:txBody>
          <a:bodyPr/>
          <a:lstStyle/>
          <a:p>
            <a:r>
              <a:rPr lang="en-US" dirty="0" smtClean="0"/>
              <a:t>Chapter 1</a:t>
            </a:r>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Intelligence</a:t>
            </a:r>
            <a:endParaRPr lang="en-US" dirty="0"/>
          </a:p>
        </p:txBody>
      </p:sp>
      <p:sp>
        <p:nvSpPr>
          <p:cNvPr id="3" name="Content Placeholder 2"/>
          <p:cNvSpPr>
            <a:spLocks noGrp="1"/>
          </p:cNvSpPr>
          <p:nvPr>
            <p:ph idx="1"/>
          </p:nvPr>
        </p:nvSpPr>
        <p:spPr/>
        <p:txBody>
          <a:bodyPr/>
          <a:lstStyle/>
          <a:p>
            <a:r>
              <a:rPr lang="en-US" dirty="0" smtClean="0"/>
              <a:t>Thus, intelligence is:</a:t>
            </a:r>
          </a:p>
          <a:p>
            <a:pPr lvl="1"/>
            <a:r>
              <a:rPr lang="en-US" dirty="0" smtClean="0"/>
              <a:t>the ability to reason </a:t>
            </a:r>
          </a:p>
          <a:p>
            <a:pPr lvl="1"/>
            <a:r>
              <a:rPr lang="en-US" dirty="0" smtClean="0"/>
              <a:t>the ability to understand</a:t>
            </a:r>
          </a:p>
          <a:p>
            <a:pPr lvl="1"/>
            <a:r>
              <a:rPr lang="en-US" dirty="0" smtClean="0"/>
              <a:t>the ability to create </a:t>
            </a:r>
          </a:p>
          <a:p>
            <a:pPr lvl="1"/>
            <a:r>
              <a:rPr lang="en-US" dirty="0" smtClean="0"/>
              <a:t>the ability to Learn from experience</a:t>
            </a:r>
          </a:p>
          <a:p>
            <a:pPr lvl="1"/>
            <a:r>
              <a:rPr lang="en-US" dirty="0" smtClean="0"/>
              <a:t>the ability to plan and execute complex tasks</a:t>
            </a:r>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Artificial Intelligence</a:t>
            </a:r>
            <a:endParaRPr lang="en-US" dirty="0"/>
          </a:p>
        </p:txBody>
      </p:sp>
      <p:sp>
        <p:nvSpPr>
          <p:cNvPr id="3" name="Content Placeholder 2"/>
          <p:cNvSpPr>
            <a:spLocks noGrp="1"/>
          </p:cNvSpPr>
          <p:nvPr>
            <p:ph idx="1"/>
          </p:nvPr>
        </p:nvSpPr>
        <p:spPr/>
        <p:txBody>
          <a:bodyPr>
            <a:normAutofit fontScale="92500" lnSpcReduction="10000"/>
          </a:bodyPr>
          <a:lstStyle/>
          <a:p>
            <a:r>
              <a:rPr lang="en-US" b="1" dirty="0" smtClean="0"/>
              <a:t>Artificial Intelligence (AI)</a:t>
            </a:r>
            <a:r>
              <a:rPr lang="en-US" dirty="0" smtClean="0"/>
              <a:t> refers to the simulation of human intelligence in machines that are programmed to think and learn like humans. </a:t>
            </a:r>
          </a:p>
          <a:p>
            <a:r>
              <a:rPr lang="en-US" dirty="0" smtClean="0"/>
              <a:t>These systems are designed to perform tasks that typically require human intelligence, such as:</a:t>
            </a:r>
          </a:p>
          <a:p>
            <a:pPr lvl="1"/>
            <a:r>
              <a:rPr lang="en-US" dirty="0" smtClean="0"/>
              <a:t>the ability to reason </a:t>
            </a:r>
          </a:p>
          <a:p>
            <a:pPr lvl="1"/>
            <a:r>
              <a:rPr lang="en-US" dirty="0" smtClean="0"/>
              <a:t>the ability to understand</a:t>
            </a:r>
          </a:p>
          <a:p>
            <a:pPr lvl="1"/>
            <a:r>
              <a:rPr lang="en-US" dirty="0" smtClean="0"/>
              <a:t>the ability to create </a:t>
            </a:r>
          </a:p>
          <a:p>
            <a:pPr lvl="1"/>
            <a:r>
              <a:rPr lang="en-US" dirty="0" smtClean="0"/>
              <a:t>the ability to Learn from experience</a:t>
            </a:r>
          </a:p>
          <a:p>
            <a:pPr lvl="1"/>
            <a:r>
              <a:rPr lang="en-US" dirty="0" smtClean="0"/>
              <a:t>the ability to plan and execute complex tasks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AI perspectives</a:t>
            </a:r>
            <a:endParaRPr lang="en-US" dirty="0"/>
          </a:p>
        </p:txBody>
      </p:sp>
      <p:sp>
        <p:nvSpPr>
          <p:cNvPr id="3" name="Content Placeholder 2"/>
          <p:cNvSpPr>
            <a:spLocks noGrp="1"/>
          </p:cNvSpPr>
          <p:nvPr>
            <p:ph idx="1"/>
          </p:nvPr>
        </p:nvSpPr>
        <p:spPr/>
        <p:txBody>
          <a:bodyPr>
            <a:normAutofit fontScale="92500" lnSpcReduction="10000"/>
          </a:bodyPr>
          <a:lstStyle/>
          <a:p>
            <a:r>
              <a:rPr lang="en-US" b="1" u="sng" dirty="0" smtClean="0"/>
              <a:t>Acting humanly ( Turing test):</a:t>
            </a:r>
          </a:p>
          <a:p>
            <a:r>
              <a:rPr lang="en-US" dirty="0" smtClean="0"/>
              <a:t>The test involves an interrogator who interacts with one human and one machine. </a:t>
            </a:r>
          </a:p>
          <a:p>
            <a:r>
              <a:rPr lang="en-US" dirty="0" smtClean="0"/>
              <a:t>Within a given time the interrogator has to find out which of the two the human is, and which one the machine. </a:t>
            </a:r>
          </a:p>
          <a:p>
            <a:r>
              <a:rPr lang="en-US" dirty="0" smtClean="0"/>
              <a:t>The computer passes the test if a human interrogator after posing some written questions, cannot tell whether the written response come from human or not.</a:t>
            </a:r>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Turing test fig</a:t>
            </a:r>
            <a:endParaRPr lang="en-US" dirty="0"/>
          </a:p>
        </p:txBody>
      </p:sp>
      <p:pic>
        <p:nvPicPr>
          <p:cNvPr id="2050" name="Picture 2"/>
          <p:cNvPicPr>
            <a:picLocks noGrp="1" noChangeAspect="1" noChangeArrowheads="1"/>
          </p:cNvPicPr>
          <p:nvPr>
            <p:ph idx="1"/>
          </p:nvPr>
        </p:nvPicPr>
        <p:blipFill>
          <a:blip r:embed="rId2"/>
          <a:srcRect/>
          <a:stretch>
            <a:fillRect/>
          </a:stretch>
        </p:blipFill>
        <p:spPr bwMode="auto">
          <a:xfrm>
            <a:off x="1571604" y="1928802"/>
            <a:ext cx="5857916" cy="2233617"/>
          </a:xfrm>
          <a:prstGeom prst="rect">
            <a:avLst/>
          </a:prstGeom>
          <a:noFill/>
          <a:ln w="9525">
            <a:noFill/>
            <a:miter lim="800000"/>
            <a:headEnd/>
            <a:tailEnd/>
          </a:ln>
          <a:effec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lnSpcReduction="10000"/>
          </a:bodyPr>
          <a:lstStyle/>
          <a:p>
            <a:r>
              <a:rPr lang="en-US" dirty="0" smtClean="0"/>
              <a:t>To pass a Turing test, a computer must have following capabilities:</a:t>
            </a:r>
          </a:p>
          <a:p>
            <a:pPr lvl="1"/>
            <a:r>
              <a:rPr lang="en-US" dirty="0" smtClean="0"/>
              <a:t> Natural Language Processing: Must be able to communicate successfully in English</a:t>
            </a:r>
          </a:p>
          <a:p>
            <a:pPr lvl="1"/>
            <a:r>
              <a:rPr lang="en-US" dirty="0" smtClean="0"/>
              <a:t> Knowledge representation: To store what it knows and hears.</a:t>
            </a:r>
          </a:p>
          <a:p>
            <a:pPr lvl="1"/>
            <a:r>
              <a:rPr lang="en-US" dirty="0" smtClean="0"/>
              <a:t> Automated reasoning: Answer the Questions based on the stored information.</a:t>
            </a:r>
          </a:p>
          <a:p>
            <a:pPr lvl="1"/>
            <a:r>
              <a:rPr lang="en-US" dirty="0" smtClean="0"/>
              <a:t> Machine learning: Must be able to adapt in new circumstances.</a:t>
            </a:r>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lnSpcReduction="10000"/>
          </a:bodyPr>
          <a:lstStyle/>
          <a:p>
            <a:r>
              <a:rPr lang="en-US" b="1" u="sng" dirty="0" smtClean="0"/>
              <a:t>Thinking Humanly:</a:t>
            </a:r>
          </a:p>
          <a:p>
            <a:r>
              <a:rPr lang="en-US" dirty="0" err="1" smtClean="0"/>
              <a:t>Conginitve</a:t>
            </a:r>
            <a:r>
              <a:rPr lang="en-US" dirty="0" smtClean="0"/>
              <a:t> science: how human thinks at given situations.</a:t>
            </a:r>
          </a:p>
          <a:p>
            <a:r>
              <a:rPr lang="en-US" dirty="0" smtClean="0"/>
              <a:t>Uses </a:t>
            </a:r>
            <a:r>
              <a:rPr lang="en-US" dirty="0" err="1" smtClean="0"/>
              <a:t>congnitive</a:t>
            </a:r>
            <a:r>
              <a:rPr lang="en-US" dirty="0" smtClean="0"/>
              <a:t> </a:t>
            </a:r>
            <a:r>
              <a:rPr lang="en-US" dirty="0"/>
              <a:t>M</a:t>
            </a:r>
            <a:r>
              <a:rPr lang="en-US" dirty="0" smtClean="0"/>
              <a:t>odeling Approach: develop a algorithm which says how human brain thinks and then we can develop a machine as human thinks.</a:t>
            </a:r>
          </a:p>
          <a:p>
            <a:r>
              <a:rPr lang="en-US" dirty="0" smtClean="0"/>
              <a:t>But there is no any algorithm which clearly says how machine thinks.</a:t>
            </a:r>
          </a:p>
          <a:p>
            <a:endParaRPr lang="en-US" b="1" dirty="0" smtClean="0"/>
          </a:p>
          <a:p>
            <a:endParaRPr 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smtClean="0"/>
              <a:t>human mind works in two ways:</a:t>
            </a:r>
          </a:p>
          <a:p>
            <a:pPr lvl="1"/>
            <a:r>
              <a:rPr lang="en-US" dirty="0" smtClean="0"/>
              <a:t>Through </a:t>
            </a:r>
            <a:r>
              <a:rPr lang="en-US" dirty="0" err="1" smtClean="0"/>
              <a:t>interospection</a:t>
            </a:r>
            <a:endParaRPr lang="en-US" dirty="0" smtClean="0"/>
          </a:p>
          <a:p>
            <a:pPr lvl="1"/>
            <a:r>
              <a:rPr lang="en-US" dirty="0" smtClean="0"/>
              <a:t>Psychological experiments</a:t>
            </a:r>
          </a:p>
          <a:p>
            <a:pPr lvl="1"/>
            <a:endParaRPr lang="en-US" dirty="0" smtClean="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smtClean="0"/>
              <a:t>Acting rationally </a:t>
            </a:r>
          </a:p>
          <a:p>
            <a:r>
              <a:rPr lang="en-US" dirty="0" smtClean="0"/>
              <a:t>Rationally means rightly.</a:t>
            </a:r>
          </a:p>
          <a:p>
            <a:r>
              <a:rPr lang="en-US" dirty="0" smtClean="0"/>
              <a:t>Doing task rightly and behaving rightly.</a:t>
            </a:r>
          </a:p>
          <a:p>
            <a:r>
              <a:rPr lang="en-US" dirty="0" smtClean="0"/>
              <a:t>It follows rational agent approach.</a:t>
            </a:r>
          </a:p>
          <a:p>
            <a:r>
              <a:rPr lang="en-US" dirty="0" smtClean="0"/>
              <a:t>Rational agent: which acts to achieve best outcome and even in uncertainty best expected output is gained.</a:t>
            </a:r>
            <a:endParaRPr 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u="sng" dirty="0" smtClean="0"/>
              <a:t>Thinking rationally:</a:t>
            </a:r>
          </a:p>
          <a:p>
            <a:r>
              <a:rPr lang="en-US" dirty="0" smtClean="0"/>
              <a:t>The laws of thought approach</a:t>
            </a:r>
          </a:p>
          <a:p>
            <a:r>
              <a:rPr lang="en-US" dirty="0" smtClean="0"/>
              <a:t>Right thinking</a:t>
            </a:r>
          </a:p>
          <a:p>
            <a:r>
              <a:rPr lang="en-US" dirty="0" err="1" smtClean="0"/>
              <a:t>Aristotal</a:t>
            </a:r>
            <a:r>
              <a:rPr lang="en-US" dirty="0" smtClean="0"/>
              <a:t> was one of the first who attempt to codify the right thinking that is irrefutable reasoning process.</a:t>
            </a:r>
          </a:p>
          <a:p>
            <a:r>
              <a:rPr lang="en-US" dirty="0" smtClean="0"/>
              <a:t>Irrefutable: logical method of thinking which cannot lead to disproven.</a:t>
            </a:r>
          </a:p>
          <a:p>
            <a:endParaRPr lang="en-US" dirty="0" smtClean="0"/>
          </a:p>
          <a:p>
            <a:endParaRPr 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lnSpcReduction="10000"/>
          </a:bodyPr>
          <a:lstStyle/>
          <a:p>
            <a:r>
              <a:rPr lang="en-US" dirty="0" smtClean="0"/>
              <a:t>For example: </a:t>
            </a:r>
          </a:p>
          <a:p>
            <a:pPr lvl="1"/>
            <a:r>
              <a:rPr lang="en-US" dirty="0" smtClean="0"/>
              <a:t>Ram is a man</a:t>
            </a:r>
          </a:p>
          <a:p>
            <a:pPr lvl="1"/>
            <a:r>
              <a:rPr lang="en-US" dirty="0" smtClean="0"/>
              <a:t>All men are mortal </a:t>
            </a:r>
          </a:p>
          <a:p>
            <a:pPr lvl="1"/>
            <a:r>
              <a:rPr lang="en-US" dirty="0" smtClean="0"/>
              <a:t>Ram is mortal </a:t>
            </a:r>
          </a:p>
          <a:p>
            <a:r>
              <a:rPr lang="en-US" dirty="0" smtClean="0"/>
              <a:t>These law of thought were supposed to govern the operation of mind: This study initiated the field of logic. </a:t>
            </a:r>
          </a:p>
          <a:p>
            <a:r>
              <a:rPr lang="en-US" dirty="0" smtClean="0"/>
              <a:t>The </a:t>
            </a:r>
            <a:r>
              <a:rPr lang="en-US" dirty="0" err="1" smtClean="0"/>
              <a:t>logicist</a:t>
            </a:r>
            <a:r>
              <a:rPr lang="en-US" dirty="0" smtClean="0"/>
              <a:t> tradition in AI hopes to create intelligent systems using logic programming.</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smtClean="0"/>
              <a:t> However there are two obstacles to this approach. </a:t>
            </a:r>
          </a:p>
          <a:p>
            <a:r>
              <a:rPr lang="en-US" dirty="0" smtClean="0"/>
              <a:t>First, It is not easy to take informal knowledge and state in the formal terms required by logical notation, particularly when knowledge is not 100% certain. </a:t>
            </a:r>
          </a:p>
          <a:p>
            <a:r>
              <a:rPr lang="en-US" dirty="0" smtClean="0"/>
              <a:t>Second, solving problem principally is different from doing it in practice. </a:t>
            </a:r>
          </a:p>
          <a:p>
            <a:endParaRPr 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Foundations of AI</a:t>
            </a:r>
            <a:endParaRPr lang="en-US" dirty="0"/>
          </a:p>
        </p:txBody>
      </p:sp>
      <p:sp>
        <p:nvSpPr>
          <p:cNvPr id="3" name="Content Placeholder 2"/>
          <p:cNvSpPr>
            <a:spLocks noGrp="1"/>
          </p:cNvSpPr>
          <p:nvPr>
            <p:ph idx="1"/>
          </p:nvPr>
        </p:nvSpPr>
        <p:spPr/>
        <p:txBody>
          <a:bodyPr>
            <a:normAutofit fontScale="85000" lnSpcReduction="10000"/>
          </a:bodyPr>
          <a:lstStyle/>
          <a:p>
            <a:r>
              <a:rPr lang="en-US" dirty="0" smtClean="0"/>
              <a:t>Foundations are the disciplines that contributed ideas, viewpoints and techniques to AI. Some of them are as follows:</a:t>
            </a:r>
          </a:p>
          <a:p>
            <a:r>
              <a:rPr lang="en-US" b="1" u="sng" dirty="0" smtClean="0"/>
              <a:t>Philosophy of AI:</a:t>
            </a:r>
            <a:endParaRPr lang="en-US" b="1" u="sng" dirty="0" smtClean="0"/>
          </a:p>
          <a:p>
            <a:r>
              <a:rPr lang="en-US" dirty="0" smtClean="0"/>
              <a:t> it includes logic, method of  reasoning, mind as a physical system, foundations of learning, language and rationality. </a:t>
            </a:r>
          </a:p>
          <a:p>
            <a:r>
              <a:rPr lang="en-US" dirty="0" smtClean="0"/>
              <a:t>It includes following type of questions:</a:t>
            </a:r>
          </a:p>
          <a:p>
            <a:pPr lvl="1"/>
            <a:r>
              <a:rPr lang="en-US" dirty="0" smtClean="0"/>
              <a:t>What is knowledge and how do we know what we know?</a:t>
            </a:r>
            <a:endParaRPr lang="en-US" dirty="0"/>
          </a:p>
          <a:p>
            <a:pPr lvl="1"/>
            <a:r>
              <a:rPr lang="en-US" dirty="0" smtClean="0"/>
              <a:t>What is right thing to do?</a:t>
            </a:r>
            <a:endParaRPr lang="en-US" dirty="0" smtClean="0"/>
          </a:p>
          <a:p>
            <a:pPr lvl="1"/>
            <a:r>
              <a:rPr lang="en-US" dirty="0" smtClean="0"/>
              <a:t>Can formal rules be used to draw valid conclusions?</a:t>
            </a:r>
          </a:p>
          <a:p>
            <a:endParaRPr lang="en-US" dirty="0"/>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92500" lnSpcReduction="20000"/>
          </a:bodyPr>
          <a:lstStyle/>
          <a:p>
            <a:r>
              <a:rPr lang="en-US" dirty="0" err="1" smtClean="0"/>
              <a:t>Eg</a:t>
            </a:r>
            <a:r>
              <a:rPr lang="en-US" dirty="0" smtClean="0"/>
              <a:t>: Rule:</a:t>
            </a:r>
            <a:br>
              <a:rPr lang="en-US" dirty="0" smtClean="0"/>
            </a:br>
            <a:r>
              <a:rPr lang="en-US" dirty="0" smtClean="0"/>
              <a:t>IF a patient has a fever AND a sore throat,</a:t>
            </a:r>
            <a:br>
              <a:rPr lang="en-US" dirty="0" smtClean="0"/>
            </a:br>
            <a:r>
              <a:rPr lang="en-US" dirty="0" smtClean="0"/>
              <a:t>THEN they may have the flu.</a:t>
            </a:r>
          </a:p>
          <a:p>
            <a:r>
              <a:rPr lang="en-US" dirty="0" smtClean="0"/>
              <a:t>Input/Premises:</a:t>
            </a:r>
          </a:p>
          <a:p>
            <a:pPr lvl="1"/>
            <a:r>
              <a:rPr lang="en-US" dirty="0" smtClean="0"/>
              <a:t>The patient has a fever</a:t>
            </a:r>
          </a:p>
          <a:p>
            <a:pPr lvl="1"/>
            <a:r>
              <a:rPr lang="en-US" dirty="0" smtClean="0"/>
              <a:t>The patient has a sore throat</a:t>
            </a:r>
          </a:p>
          <a:p>
            <a:r>
              <a:rPr lang="en-US" dirty="0" smtClean="0"/>
              <a:t>Conclusion:</a:t>
            </a:r>
            <a:br>
              <a:rPr lang="en-US" dirty="0" smtClean="0"/>
            </a:br>
            <a:r>
              <a:rPr lang="en-US" dirty="0" smtClean="0"/>
              <a:t>The patient may have the flu</a:t>
            </a:r>
          </a:p>
          <a:p>
            <a:r>
              <a:rPr lang="en-US" dirty="0" smtClean="0"/>
              <a:t>This is a valid conclusion, drawn using a formal rule</a:t>
            </a:r>
          </a:p>
          <a:p>
            <a:endParaRPr lang="en-US" dirty="0"/>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92500" lnSpcReduction="10000"/>
          </a:bodyPr>
          <a:lstStyle/>
          <a:p>
            <a:r>
              <a:rPr lang="en-US" b="1" u="sng" dirty="0" smtClean="0"/>
              <a:t>Mathematics: </a:t>
            </a:r>
          </a:p>
          <a:p>
            <a:pPr lvl="1"/>
            <a:r>
              <a:rPr lang="en-US" dirty="0" smtClean="0"/>
              <a:t>designing algorithms, training models, or making predictions, AI depends heavily on mathematical principles.</a:t>
            </a:r>
            <a:endParaRPr lang="en-US" dirty="0" smtClean="0"/>
          </a:p>
          <a:p>
            <a:pPr lvl="1"/>
            <a:r>
              <a:rPr lang="en-US" dirty="0" smtClean="0"/>
              <a:t>It </a:t>
            </a:r>
            <a:r>
              <a:rPr lang="en-US" dirty="0" smtClean="0"/>
              <a:t>leads to following type of questions: </a:t>
            </a:r>
          </a:p>
          <a:p>
            <a:pPr lvl="1"/>
            <a:r>
              <a:rPr lang="en-US" dirty="0" smtClean="0"/>
              <a:t>What </a:t>
            </a:r>
            <a:r>
              <a:rPr lang="en-US" dirty="0" smtClean="0"/>
              <a:t>can be computed? </a:t>
            </a:r>
          </a:p>
          <a:p>
            <a:pPr lvl="1"/>
            <a:r>
              <a:rPr lang="en-US" dirty="0" smtClean="0"/>
              <a:t>How do we reason with uncertain </a:t>
            </a:r>
            <a:r>
              <a:rPr lang="en-US" dirty="0" smtClean="0"/>
              <a:t>information:</a:t>
            </a:r>
            <a:r>
              <a:rPr lang="en-US" dirty="0" smtClean="0"/>
              <a:t> which enable AI to model uncertainty, learn from data, and make probabilistic predictions</a:t>
            </a:r>
            <a:r>
              <a:rPr lang="en-US" dirty="0" smtClean="0"/>
              <a:t>.</a:t>
            </a:r>
          </a:p>
          <a:p>
            <a:pPr lvl="1"/>
            <a:r>
              <a:rPr lang="en-US" dirty="0" smtClean="0"/>
              <a:t>What are the formal rules to draw the valid conclusions? </a:t>
            </a:r>
          </a:p>
          <a:p>
            <a:pPr lvl="1">
              <a:buNone/>
            </a:pPr>
            <a:endParaRPr 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77500" lnSpcReduction="20000"/>
          </a:bodyPr>
          <a:lstStyle/>
          <a:p>
            <a:r>
              <a:rPr lang="en-US" b="1" u="sng" dirty="0" smtClean="0"/>
              <a:t>Psychology</a:t>
            </a:r>
            <a:r>
              <a:rPr lang="en-US" dirty="0" smtClean="0"/>
              <a:t>: </a:t>
            </a:r>
            <a:r>
              <a:rPr lang="en-US" dirty="0" smtClean="0"/>
              <a:t>Psychology provides insights into how humans think, learn, perceive, and solve problems—all core inspirations for AI systems.</a:t>
            </a:r>
            <a:endParaRPr lang="en-US" dirty="0" smtClean="0"/>
          </a:p>
          <a:p>
            <a:r>
              <a:rPr lang="en-US" dirty="0" smtClean="0"/>
              <a:t>It leads to following questions:</a:t>
            </a:r>
            <a:endParaRPr lang="en-US" dirty="0"/>
          </a:p>
          <a:p>
            <a:pPr lvl="1"/>
            <a:r>
              <a:rPr lang="en-US" dirty="0" smtClean="0"/>
              <a:t>How humans and animals think and act? </a:t>
            </a:r>
          </a:p>
          <a:p>
            <a:r>
              <a:rPr lang="en-US" b="1" u="sng" dirty="0" smtClean="0"/>
              <a:t>Economics: </a:t>
            </a:r>
          </a:p>
          <a:p>
            <a:r>
              <a:rPr lang="en-US" dirty="0" smtClean="0"/>
              <a:t>Economics provides key theoretical tools and frameworks that help AI systems make decisions, allocate resources, and optimize outcomes—core ideas at the heart of AI</a:t>
            </a:r>
            <a:r>
              <a:rPr lang="en-US" dirty="0" smtClean="0"/>
              <a:t>.</a:t>
            </a:r>
          </a:p>
          <a:p>
            <a:pPr lvl="1"/>
            <a:r>
              <a:rPr lang="en-US" dirty="0" smtClean="0"/>
              <a:t>How </a:t>
            </a:r>
            <a:r>
              <a:rPr lang="en-US" dirty="0" smtClean="0"/>
              <a:t>should we make decisions so as to maximize payoff? </a:t>
            </a:r>
          </a:p>
          <a:p>
            <a:pPr lvl="1"/>
            <a:r>
              <a:rPr lang="en-US" dirty="0" smtClean="0"/>
              <a:t>How should we do this when others may not go along?</a:t>
            </a:r>
          </a:p>
          <a:p>
            <a:pPr lvl="1"/>
            <a:r>
              <a:rPr lang="en-US" dirty="0" smtClean="0"/>
              <a:t>How should we do this when the payoff may be far in future? </a:t>
            </a:r>
            <a:endParaRPr lang="en-US"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idx="1"/>
          </p:nvPr>
        </p:nvSpPr>
        <p:spPr/>
        <p:txBody>
          <a:bodyPr>
            <a:normAutofit fontScale="77500" lnSpcReduction="20000"/>
          </a:bodyPr>
          <a:lstStyle/>
          <a:p>
            <a:r>
              <a:rPr lang="en-US" b="1" u="sng" dirty="0" smtClean="0"/>
              <a:t>Linguistics</a:t>
            </a:r>
            <a:r>
              <a:rPr lang="en-US" dirty="0" smtClean="0"/>
              <a:t>: </a:t>
            </a:r>
          </a:p>
          <a:p>
            <a:pPr lvl="1"/>
            <a:r>
              <a:rPr lang="en-US" dirty="0" smtClean="0"/>
              <a:t>provides the theories, models, and tools that allow AI systems to understand and generate human </a:t>
            </a:r>
            <a:r>
              <a:rPr lang="en-US" dirty="0" smtClean="0"/>
              <a:t>language.</a:t>
            </a:r>
          </a:p>
          <a:p>
            <a:r>
              <a:rPr lang="en-US" dirty="0" smtClean="0"/>
              <a:t>AI uses this </a:t>
            </a:r>
            <a:r>
              <a:rPr lang="en-US" dirty="0" smtClean="0"/>
              <a:t>in: Parsing </a:t>
            </a:r>
            <a:r>
              <a:rPr lang="en-US" dirty="0" smtClean="0"/>
              <a:t>(analyzing sentence </a:t>
            </a:r>
            <a:r>
              <a:rPr lang="en-US" dirty="0" smtClean="0"/>
              <a:t>structure),Grammar checkers , Machine translation</a:t>
            </a:r>
          </a:p>
          <a:p>
            <a:r>
              <a:rPr lang="en-US" dirty="0" smtClean="0"/>
              <a:t>How </a:t>
            </a:r>
            <a:r>
              <a:rPr lang="en-US" dirty="0" smtClean="0"/>
              <a:t>does language relate to thought? </a:t>
            </a:r>
            <a:endParaRPr lang="en-US" dirty="0" smtClean="0"/>
          </a:p>
          <a:p>
            <a:r>
              <a:rPr lang="en-US" dirty="0" smtClean="0"/>
              <a:t>Example</a:t>
            </a:r>
            <a:r>
              <a:rPr lang="en-US" dirty="0" smtClean="0"/>
              <a:t>: Understanding that “The cat chased the dog” is different from “The dog chased the cat.”</a:t>
            </a:r>
            <a:endParaRPr lang="en-US" dirty="0" smtClean="0"/>
          </a:p>
          <a:p>
            <a:r>
              <a:rPr lang="en-US" b="1" u="sng" dirty="0" smtClean="0"/>
              <a:t>Neuroscience: </a:t>
            </a:r>
          </a:p>
          <a:p>
            <a:pPr lvl="1"/>
            <a:r>
              <a:rPr lang="en-US" dirty="0" smtClean="0"/>
              <a:t>Neuroscience, the study of the brain and nervous system, plays a foundational role in AI by inspiring how machines learn, process information, and </a:t>
            </a:r>
            <a:r>
              <a:rPr lang="en-US" dirty="0" smtClean="0"/>
              <a:t>adapt.</a:t>
            </a:r>
          </a:p>
          <a:p>
            <a:pPr lvl="1"/>
            <a:r>
              <a:rPr lang="en-US" dirty="0" smtClean="0"/>
              <a:t>How </a:t>
            </a:r>
            <a:r>
              <a:rPr lang="en-US" dirty="0" smtClean="0"/>
              <a:t>do brains process information</a:t>
            </a:r>
            <a:r>
              <a:rPr lang="en-US" dirty="0" smtClean="0"/>
              <a:t>?</a:t>
            </a:r>
            <a:endParaRPr lang="en-US" dirty="0" smtClean="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b="1" u="sng" dirty="0" smtClean="0"/>
              <a:t> Control theory: </a:t>
            </a:r>
          </a:p>
          <a:p>
            <a:pPr lvl="1"/>
            <a:r>
              <a:rPr lang="en-US" dirty="0" smtClean="0"/>
              <a:t>Control theory is a branch of engineering and mathematics that deals with the behavior of dynamic systems and how to influence them to reach desired outcomes. </a:t>
            </a:r>
            <a:endParaRPr lang="en-US" dirty="0" smtClean="0"/>
          </a:p>
          <a:p>
            <a:pPr lvl="1"/>
            <a:r>
              <a:rPr lang="en-US" dirty="0" smtClean="0"/>
              <a:t>E:gHow can artifacts operate under their own control? </a:t>
            </a:r>
          </a:p>
          <a:p>
            <a:endParaRPr lang="en-US"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HISTORY OF AI</a:t>
            </a:r>
            <a:endParaRPr lang="en-US" dirty="0"/>
          </a:p>
        </p:txBody>
      </p:sp>
      <p:sp>
        <p:nvSpPr>
          <p:cNvPr id="3" name="Content Placeholder 2"/>
          <p:cNvSpPr>
            <a:spLocks noGrp="1"/>
          </p:cNvSpPr>
          <p:nvPr>
            <p:ph idx="1"/>
          </p:nvPr>
        </p:nvSpPr>
        <p:spPr/>
        <p:txBody>
          <a:bodyPr>
            <a:normAutofit fontScale="77500" lnSpcReduction="20000"/>
          </a:bodyPr>
          <a:lstStyle/>
          <a:p>
            <a:r>
              <a:rPr lang="en-US" dirty="0" smtClean="0"/>
              <a:t>Brief history of AI –1943: Warren Mc </a:t>
            </a:r>
            <a:r>
              <a:rPr lang="en-US" dirty="0" err="1" smtClean="0"/>
              <a:t>Culloch</a:t>
            </a:r>
            <a:r>
              <a:rPr lang="en-US" dirty="0" smtClean="0"/>
              <a:t> and Walter Pitts: a model of artificial </a:t>
            </a:r>
            <a:r>
              <a:rPr lang="en-US" dirty="0" err="1" smtClean="0"/>
              <a:t>boolean</a:t>
            </a:r>
            <a:r>
              <a:rPr lang="en-US" dirty="0" smtClean="0"/>
              <a:t> neurons to perform computations. </a:t>
            </a:r>
          </a:p>
          <a:p>
            <a:r>
              <a:rPr lang="en-US" dirty="0" smtClean="0"/>
              <a:t>1950: Alan Turing’s “Computing Machinery and Intelligence” – First complete vision of AI.</a:t>
            </a:r>
          </a:p>
          <a:p>
            <a:r>
              <a:rPr lang="en-US" dirty="0" smtClean="0"/>
              <a:t>The birth of AI (1956): - Dartmouth Workshop bringing together top minds on automata theory, neural nets and the study of intelligence. </a:t>
            </a:r>
          </a:p>
          <a:p>
            <a:r>
              <a:rPr lang="en-US" dirty="0" smtClean="0"/>
              <a:t>Great expectations (1952-1969): –Newell and Simon introduced the General Problem Solver. – Imitation of human problem-solving.</a:t>
            </a:r>
          </a:p>
          <a:p>
            <a:r>
              <a:rPr lang="en-US" dirty="0" smtClean="0"/>
              <a:t>–Marvin </a:t>
            </a:r>
            <a:r>
              <a:rPr lang="en-US" dirty="0" err="1" smtClean="0"/>
              <a:t>Minsky</a:t>
            </a:r>
            <a:r>
              <a:rPr lang="en-US" dirty="0" smtClean="0"/>
              <a:t> (1958 -) – Introduction of </a:t>
            </a:r>
            <a:r>
              <a:rPr lang="en-US" dirty="0" err="1" smtClean="0"/>
              <a:t>microworlds</a:t>
            </a:r>
            <a:r>
              <a:rPr lang="en-US" dirty="0" smtClean="0"/>
              <a:t> that appear to require intelligence to solve: e.g. </a:t>
            </a:r>
            <a:r>
              <a:rPr lang="en-US" dirty="0" err="1" smtClean="0"/>
              <a:t>blocksworld</a:t>
            </a:r>
            <a:r>
              <a:rPr lang="en-US" dirty="0" smtClean="0"/>
              <a:t>.</a:t>
            </a:r>
          </a:p>
          <a:p>
            <a:endParaRPr lang="en-US"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lnSpcReduction="10000"/>
          </a:bodyPr>
          <a:lstStyle/>
          <a:p>
            <a:r>
              <a:rPr lang="en-US" dirty="0" smtClean="0"/>
              <a:t>Collapse in AI research (1966 - 1973): </a:t>
            </a:r>
          </a:p>
          <a:p>
            <a:pPr lvl="1"/>
            <a:r>
              <a:rPr lang="en-US" dirty="0" smtClean="0"/>
              <a:t>Progress was slower than expected.</a:t>
            </a:r>
          </a:p>
          <a:p>
            <a:pPr lvl="1"/>
            <a:r>
              <a:rPr lang="en-US" dirty="0" smtClean="0"/>
              <a:t>Unrealistic predictions.</a:t>
            </a:r>
          </a:p>
          <a:p>
            <a:r>
              <a:rPr lang="en-US" dirty="0" smtClean="0"/>
              <a:t>Collapse in AI research (1966 - 1973)</a:t>
            </a:r>
          </a:p>
          <a:p>
            <a:pPr lvl="1"/>
            <a:r>
              <a:rPr lang="en-US" dirty="0" smtClean="0"/>
              <a:t>Progress was slower than expected.</a:t>
            </a:r>
          </a:p>
          <a:p>
            <a:pPr lvl="1"/>
            <a:r>
              <a:rPr lang="en-US" dirty="0" smtClean="0"/>
              <a:t>Unrealistic predictions.</a:t>
            </a:r>
          </a:p>
          <a:p>
            <a:r>
              <a:rPr lang="en-US" dirty="0" smtClean="0"/>
              <a:t>AI becomes an industry (1980 - present): </a:t>
            </a:r>
          </a:p>
          <a:p>
            <a:pPr lvl="1"/>
            <a:r>
              <a:rPr lang="en-US" dirty="0" smtClean="0"/>
              <a:t> R1 at DEC (McDermott, 1982) </a:t>
            </a:r>
          </a:p>
          <a:p>
            <a:pPr lvl="1"/>
            <a:r>
              <a:rPr lang="en-US" dirty="0" smtClean="0"/>
              <a:t> Fifth generation project in Japan (1981) </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smtClean="0"/>
              <a:t>The emergence of intelligent agents (1995 - present): </a:t>
            </a:r>
          </a:p>
          <a:p>
            <a:pPr lvl="1"/>
            <a:r>
              <a:rPr lang="en-US" dirty="0" smtClean="0"/>
              <a:t>The whole agent problem: “How does an agent act/behave embedded in real environments with continuous sensory inputs</a:t>
            </a:r>
            <a:endParaRPr lang="en-US"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Applications of AI</a:t>
            </a:r>
            <a:endParaRPr lang="en-US" dirty="0"/>
          </a:p>
        </p:txBody>
      </p:sp>
      <p:sp>
        <p:nvSpPr>
          <p:cNvPr id="3" name="Content Placeholder 2"/>
          <p:cNvSpPr>
            <a:spLocks noGrp="1"/>
          </p:cNvSpPr>
          <p:nvPr>
            <p:ph idx="1"/>
          </p:nvPr>
        </p:nvSpPr>
        <p:spPr/>
        <p:txBody>
          <a:bodyPr>
            <a:normAutofit fontScale="77500" lnSpcReduction="20000"/>
          </a:bodyPr>
          <a:lstStyle/>
          <a:p>
            <a:r>
              <a:rPr lang="en-US" dirty="0" smtClean="0"/>
              <a:t>AI in health care: health care industries are applying AI to make better and faster diagnosis than humans.AI can help doctors with diagnosis and can inform patients are worsening so that medical help can reach to the patient before hospitalization.</a:t>
            </a:r>
          </a:p>
          <a:p>
            <a:r>
              <a:rPr lang="en-US" dirty="0" smtClean="0"/>
              <a:t>AI in finance:  AI and finance industries are the best matches for each other. The </a:t>
            </a:r>
            <a:r>
              <a:rPr lang="en-US" dirty="0" err="1" smtClean="0"/>
              <a:t>finacne</a:t>
            </a:r>
            <a:r>
              <a:rPr lang="en-US" dirty="0" smtClean="0"/>
              <a:t> industry is implementing automation, </a:t>
            </a:r>
            <a:r>
              <a:rPr lang="en-US" dirty="0" err="1" smtClean="0"/>
              <a:t>chatbot</a:t>
            </a:r>
            <a:r>
              <a:rPr lang="en-US" dirty="0" smtClean="0"/>
              <a:t>, adaptive intelligence, algorithm </a:t>
            </a:r>
            <a:r>
              <a:rPr lang="en-US" dirty="0" err="1" smtClean="0"/>
              <a:t>traning</a:t>
            </a:r>
            <a:r>
              <a:rPr lang="en-US" dirty="0" smtClean="0"/>
              <a:t> and machine learning into financial process.</a:t>
            </a:r>
          </a:p>
          <a:p>
            <a:r>
              <a:rPr lang="en-US" dirty="0" smtClean="0"/>
              <a:t>AI in Gaming: AI can be used for gaming proposes the AI machine can play strategic games like chess, where the machine needs to think of large numbers of possible places.</a:t>
            </a:r>
          </a:p>
          <a:p>
            <a:endParaRPr lang="en-US"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idx="1"/>
          </p:nvPr>
        </p:nvSpPr>
        <p:spPr/>
        <p:txBody>
          <a:bodyPr>
            <a:normAutofit fontScale="77500" lnSpcReduction="20000"/>
          </a:bodyPr>
          <a:lstStyle/>
          <a:p>
            <a:r>
              <a:rPr lang="en-US" dirty="0" smtClean="0"/>
              <a:t>AI in social medias: Social medias such as face book, twitter and </a:t>
            </a:r>
            <a:r>
              <a:rPr lang="en-US" dirty="0" err="1" smtClean="0"/>
              <a:t>snapchat</a:t>
            </a:r>
            <a:r>
              <a:rPr lang="en-US" dirty="0" smtClean="0"/>
              <a:t> contains billions of user profile which need to be stored and managed in a very efficient way. AI can organize and manage massive amount of data.AI can analyze lots of data to identify the latest trend and requirements of different users.</a:t>
            </a:r>
          </a:p>
          <a:p>
            <a:r>
              <a:rPr lang="en-US" dirty="0" smtClean="0"/>
              <a:t>AI in data security: AI can be used to make data more safe and secure since cyber attacks are rapidly growing in the digital world. </a:t>
            </a:r>
            <a:endParaRPr lang="en-US" dirty="0"/>
          </a:p>
          <a:p>
            <a:r>
              <a:rPr lang="en-US" dirty="0" smtClean="0"/>
              <a:t>AI in education : AI </a:t>
            </a:r>
            <a:r>
              <a:rPr lang="en-US" dirty="0" err="1" smtClean="0"/>
              <a:t>chatbot</a:t>
            </a:r>
            <a:r>
              <a:rPr lang="en-US" dirty="0" smtClean="0"/>
              <a:t> can communicate with students as a teaching assistant. AI in future can work as a personal virtual tutor for students which will be accessible easily at any time and any places.</a:t>
            </a:r>
          </a:p>
          <a:p>
            <a:endParaRPr lang="en-US" dirty="0" smtClean="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488</TotalTime>
  <Words>1334</Words>
  <Application>Microsoft Office PowerPoint</Application>
  <PresentationFormat>On-screen Show (4:3)</PresentationFormat>
  <Paragraphs>117</Paragraphs>
  <Slides>23</Slides>
  <Notes>0</Notes>
  <HiddenSlides>0</HiddenSlides>
  <MMClips>0</MMClips>
  <ScaleCrop>false</ScaleCrop>
  <HeadingPairs>
    <vt:vector size="4" baseType="variant">
      <vt:variant>
        <vt:lpstr>Theme</vt:lpstr>
      </vt:variant>
      <vt:variant>
        <vt:i4>1</vt:i4>
      </vt:variant>
      <vt:variant>
        <vt:lpstr>Slide Titles</vt:lpstr>
      </vt:variant>
      <vt:variant>
        <vt:i4>23</vt:i4>
      </vt:variant>
    </vt:vector>
  </HeadingPairs>
  <TitlesOfParts>
    <vt:vector size="24" baseType="lpstr">
      <vt:lpstr>Office Theme</vt:lpstr>
      <vt:lpstr>Introduction</vt:lpstr>
      <vt:lpstr>Intelligence</vt:lpstr>
      <vt:lpstr>Artificial Intelligence</vt:lpstr>
      <vt:lpstr>AI perspectives</vt:lpstr>
      <vt:lpstr>Turing test fig</vt:lpstr>
      <vt:lpstr>Slide 6</vt:lpstr>
      <vt:lpstr>Slide 7</vt:lpstr>
      <vt:lpstr>Slide 8</vt:lpstr>
      <vt:lpstr>Slide 9</vt:lpstr>
      <vt:lpstr>Slide 10</vt:lpstr>
      <vt:lpstr>Slide 11</vt:lpstr>
      <vt:lpstr>Slide 12</vt:lpstr>
      <vt:lpstr>Foundations of AI</vt:lpstr>
      <vt:lpstr>Slide 14</vt:lpstr>
      <vt:lpstr>Slide 15</vt:lpstr>
      <vt:lpstr>Slide 16</vt:lpstr>
      <vt:lpstr>Slide 17</vt:lpstr>
      <vt:lpstr>Slide 18</vt:lpstr>
      <vt:lpstr>HISTORY OF AI</vt:lpstr>
      <vt:lpstr>Slide 20</vt:lpstr>
      <vt:lpstr>Slide 21</vt:lpstr>
      <vt:lpstr>Applications of AI</vt:lpstr>
      <vt:lpstr>Slide 23</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Acer</dc:creator>
  <cp:lastModifiedBy>Acer</cp:lastModifiedBy>
  <cp:revision>74</cp:revision>
  <dcterms:created xsi:type="dcterms:W3CDTF">2025-05-27T10:54:59Z</dcterms:created>
  <dcterms:modified xsi:type="dcterms:W3CDTF">2025-05-29T13:15:08Z</dcterms:modified>
</cp:coreProperties>
</file>